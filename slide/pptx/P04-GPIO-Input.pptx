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d3a79a2a-c1dd-db08-352b-bd5733c2bfb7}">
          <p14:sldIdLst>
            <p14:sldId id="256"/>
            <p14:sldId id="257"/>
            <p14:sldId id="258"/>
          </p14:sldIdLst>
        </p14:section>
        <p14:section name="Input" id="{914f3d35-3aa7-df41-5bb9-af5d50c0033d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ombol" id="{ea3776e8-ece5-c761-161e-607216233a4b}">
          <p14:sldIdLst>
            <p14:sldId id="265"/>
            <p14:sldId id="266"/>
            <p14:sldId id="267"/>
          </p14:sldIdLst>
        </p14:section>
        <p14:section name="Debounce" id="{c1965398-b1e7-2939-d529-89d829f70d2b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49f7550d-22eb-e7a4-4ff6-d50dd2244848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demo: tekan tombol yang dihitung program tanpa debounce di depan kelas, lalu tanya "kenapa sekali tekan dihitung tiga?". Jawabannya baru dibuka di bagian bouncing.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setiap mahasiswa punya penghitung tekanan yang tidak meloncat (Praktikum 3), minimal di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 ±100 menit (bagian 1–7 modul), praktikum ±150 menit. Pastikan setiap mahasiswa punya 2 tombol, 1 LED, dan 1 resistor 220 Ω, atau siap memakai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P03: pinMode() dan digitalWrite() sudah dikenal. Pertanyaan pancingan: bagaimana ESP32 tahu tombol sedang ditekan?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kebalikan Pertemuan 3: dulu ESP32 memberi tegangan, sekarang ESP32 mengukur tegangan. Tanyakan: kalau dilepas hasilnya 1, kira-kira kenapa?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Datasheet ESP32-WROOM-32E: V_IH ≥ 0,75 × VDD = 2,475 V; V_IL ≤ 0,25 × VDD = 0,825 V. Analogi gelas: ≥ ¾ penuh, ≤ ¼ kosong, setengah = orang berdebat. Batas maksimum input VDD + 0,3 V = 3,6 V: jangan beri 5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 mengambang = antena kecil yang menangkap gangguan. Resistor penarik = pegas pintu: keadaan bawaan saat tombol tidak ditekan. Mengapa bukan kabel? Saat ditekan 3,3 V terhubung ke GND (korsleting). Dengan 10 kΩ arusnya hanya 0,33 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Nilai ±45 kΩ dari datasheet WROOM-32E. Arus pull-up internal saat ditekan ≈ 73 µA. Resistor internal "lemah": untuk kabel panjang pakai eksternal 10 kΩ. GPIO 34–39 tidak punya resistor internal.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sekaligus skematik Praktikum 1. Logika terbalik (aktif-rendah) sangat umum di industri. Sarankan konstanta `const int DITEKAN = LOW;` agar kode mudah dibaca.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Bagikan push button dan minta mahasiswa menebak berapa kontak yang ada di dalamnya sebelum slide berikutnya dibuka.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Wokwi: 1.l–1.r selalu tersambung, 2.l–2.r juga; menekan menyambungkan kontak 1 ke kontak 2. Di breadboard: menyeberangi celah tengah, pakai kaki diagonal. Tips: cek dengan multimeter mode kontinuitas.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nyata pin strapping: tombol BOOT = GPIO 0. Ditahan saat reset → mode unduh. GPIO 12 harus LOW saat boot; pull-up eksternal di sana bisa membuat ESP32 gagal menyala.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Kembali ke demo pembuka: sekarang kita mencari tahu mengapa satu tekanan bisa terhitung berkali-kali.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bola pingpong yang memantul. Program naif menghitung setiap tepi turun, termasuk saat dilepas. Debounce: keadaan baru diterima setelah stabil 50 ms sejak pantulan terakhir.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Ganssle (A Guide to Debouncing): 18 sakelar; 2 sakelar ekstrem, salah satunya memantul 157 ms saat dibuka. 50 ms ≈ 8 kali 6,2 ms tetapi masih terasa cepat bagi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millis() = stopwatch sejak board menyala (unsigned long). Detail dan luapan 49,7 hari dibahas di P05. Debounce perangkat keras: RC 10 kΩ × 100 nF = τ 1 ms + Schmitt trigger (74HC14), cukup disebut sekilas.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menghitung orang masuk kelas: hitung saat pintu BERUBAH terbuka, bukan setiap detik selama terbuka. Tanyakan: kondisi apa untuk "baru dilepas"? (lama LOW, baru HIGH).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Telusuri bersama satu tekanan yang memantul tiga kali: stopwatch diulang tiga kali, lalu 50 ms kemudian keadaanStabil berubah ke LOW dan aksi berjalan sekali.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mencoba Latihan 4 (LED berkedip + penghitung) dan mencatat berapa tekanan yang hilang. Ini jembatan ke P05.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Hasil P1: angka 0 muncul saat DITEKAN. Eksperimen: ganti INPUT_PULLUP → INPUT di board asli dan dekatkan jari ke kabel.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Wokwi menyimulasikan pantulan secara bawaan; atribut "bounce": "0" mematikannya. Diskusikan: program yang lolos di simulator tanpa pantulan belum tentu benar di board asli.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Hasil yang diharapkan: 1, 2, 3, di-reset ke 0, lalu 1. Tantangan opsional: tekan lama ≥ 1 detik (petunjuk di README).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Pull-up menarik pin ke 3,3 V saat dilepas; saat ditekan pin tersambung ke GND sehingga LOW (logika terbalik).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2–3 mahasiswa menjelaskan ulang dengan kata-kata sendiri: mengapa perlu pull-up, mengapa perlu debounce, dan apa beda cek level dengan cek tepi.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Latihan 4 (LED berkedip + penghitung) menjadi bahan pembuka Pertemuan 5 tentang millis() dan interupsi.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04 · GPIO Input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04 · GPIO Input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GPIO Input: Membaca Tombol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Pull-up, pantulan, debounce, dan deteksi tepi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Membaca tombol dengan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r>
              <a:rPr lang="en-US" sz="2000" dirty="0">
                <a:solidFill>
                  <a:schemeClr val="tx1"/>
                </a:solidFill>
              </a:rPr>
              <a:t> dan menjelaskan ambang HIGH/LOW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input </a:t>
            </a:r>
            <a:r>
              <a:rPr lang="en-US" sz="2000" b="1" dirty="0">
                <a:solidFill>
                  <a:schemeClr val="tx1"/>
                </a:solidFill>
              </a:rPr>
              <a:t>mengambang</a:t>
            </a:r>
            <a:r>
              <a:rPr lang="en-US" sz="2000" dirty="0">
                <a:solidFill>
                  <a:schemeClr val="tx1"/>
                </a:solidFill>
              </a:rPr>
              <a:t> dan memilih resistor </a:t>
            </a:r>
            <a:r>
              <a:rPr lang="en-US" sz="2000" i="1" dirty="0">
                <a:solidFill>
                  <a:schemeClr val="tx1"/>
                </a:solidFill>
              </a:rPr>
              <a:t>pull-up</a:t>
            </a:r>
            <a:r>
              <a:rPr lang="en-US" sz="2000" dirty="0">
                <a:solidFill>
                  <a:schemeClr val="tx1"/>
                </a:solidFill>
              </a:rPr>
              <a:t>/</a:t>
            </a:r>
            <a:r>
              <a:rPr lang="en-US" sz="2000" i="1" dirty="0">
                <a:solidFill>
                  <a:schemeClr val="tx1"/>
                </a:solidFill>
              </a:rPr>
              <a:t>pull-down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han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Merangkai </a:t>
            </a:r>
            <a:r>
              <a:rPr lang="en-US" sz="2000" i="1" dirty="0">
                <a:solidFill>
                  <a:schemeClr val="tx1"/>
                </a:solidFill>
              </a:rPr>
              <a:t>push button</a:t>
            </a:r>
            <a:r>
              <a:rPr lang="en-US" sz="2000" dirty="0">
                <a:solidFill>
                  <a:schemeClr val="tx1"/>
                </a:solidFill>
              </a:rPr>
              <a:t> 4 kaki dan memilih pin GPIO yang aman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wav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</a:t>
            </a:r>
            <a:r>
              <a:rPr lang="en-US" sz="2000" b="1" dirty="0">
                <a:solidFill>
                  <a:schemeClr val="tx1"/>
                </a:solidFill>
              </a:rPr>
              <a:t>pantulan</a:t>
            </a:r>
            <a:r>
              <a:rPr lang="en-US" sz="2000" dirty="0">
                <a:solidFill>
                  <a:schemeClr val="tx1"/>
                </a:solidFill>
              </a:rPr>
              <a:t> dan menerapkan </a:t>
            </a:r>
            <a:r>
              <a:rPr lang="en-US" sz="2000" i="1" dirty="0">
                <a:solidFill>
                  <a:schemeClr val="tx1"/>
                </a:solidFill>
              </a:rPr>
              <a:t>debouncing</a:t>
            </a:r>
            <a:r>
              <a:rPr lang="en-US" sz="2000" dirty="0">
                <a:solidFill>
                  <a:schemeClr val="tx1"/>
                </a:solidFill>
              </a:rPr>
              <a:t> dengan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syn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Membuat </a:t>
            </a:r>
            <a:r>
              <a:rPr lang="en-US" sz="2000" i="1" dirty="0">
                <a:solidFill>
                  <a:schemeClr val="tx1"/>
                </a:solidFill>
              </a:rPr>
              <a:t>toggle</a:t>
            </a:r>
            <a:r>
              <a:rPr lang="en-US" sz="2000" dirty="0">
                <a:solidFill>
                  <a:schemeClr val="tx1"/>
                </a:solidFill>
              </a:rPr>
              <a:t> dan penghitung dengan </a:t>
            </a:r>
            <a:r>
              <a:rPr lang="en-US" sz="2000" b="1" dirty="0">
                <a:solidFill>
                  <a:schemeClr val="tx1"/>
                </a:solidFill>
              </a:rPr>
              <a:t>deteksi tepi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digitalRead() dan ambang tegangan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Mengambang, pull-up, dan pull-down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Push button 4 kaki dan pemilihan pin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Pantulan dan debouncing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Deteksi tepi: toggle dan penghitung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 1–3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Membaca Input Digital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"berbicara" (output) ke "mendengar" (input)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digitalRead(): Pin yang Mendengar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272028"/>
          </a:xfrm>
          <a:prstGeom prst="roundRect">
            <a:avLst>
              <a:gd name="adj" fmla="val 2795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7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PIN_TOMBOL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PIN_TOMBOL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PIN_TOMBOL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= dilepas, 0 = ditekan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pinMode(pin, INPUT…)</a:t>
            </a:r>
            <a:r>
              <a:rPr lang="en-US" sz="1700" dirty="0">
                <a:solidFill>
                  <a:schemeClr val="tx1"/>
                </a:solidFill>
              </a:rPr>
              <a:t>: jadikan pin masukan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digitalRead(pin)</a:t>
            </a:r>
            <a:r>
              <a:rPr lang="en-US" sz="1700" dirty="0">
                <a:solidFill>
                  <a:schemeClr val="tx1"/>
                </a:solidFill>
              </a:rPr>
              <a:t>: hasilnya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700" dirty="0">
                <a:solidFill>
                  <a:schemeClr val="tx1"/>
                </a:solidFill>
              </a:rPr>
              <a:t> (1) atau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700" dirty="0">
                <a:solidFill>
                  <a:schemeClr val="tx1"/>
                </a:solidFill>
              </a:rPr>
              <a:t> (0)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Pin input hanya menilai </a:t>
            </a:r>
            <a:r>
              <a:rPr lang="en-US" sz="1700" b="1" dirty="0">
                <a:solidFill>
                  <a:schemeClr val="tx1"/>
                </a:solidFill>
              </a:rPr>
              <a:t>tegangan</a:t>
            </a:r>
            <a:r>
              <a:rPr lang="en-US" sz="1700" dirty="0">
                <a:solidFill>
                  <a:schemeClr val="tx1"/>
                </a:solidFill>
              </a:rPr>
              <a:t> di pin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Arti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1700" dirty="0">
                <a:solidFill>
                  <a:schemeClr val="tx1"/>
                </a:solidFill>
              </a:rPr>
              <a:t> dibahas sebentar lagi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Ambang Tegangan: Kapan HIGH, Kapan LOW?</a:t>
            </a:r>
            <a:endParaRPr lang="en-US" sz="3000" dirty="0"/>
          </a:p>
        </p:txBody>
      </p:sp>
      <p:pic>
        <p:nvPicPr>
          <p:cNvPr id="3" name="gambar" descr="/home/claude/work/slides/img/p04/p04-ambang-logi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10" y="1280160"/>
            <a:ext cx="967247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Mengambang, Pull-up, dan Pull-down</a:t>
            </a:r>
            <a:endParaRPr lang="en-US" sz="3000" dirty="0"/>
          </a:p>
        </p:txBody>
      </p:sp>
      <p:pic>
        <p:nvPicPr>
          <p:cNvPr id="3" name="gambar" descr="/home/claude/work/slides/img/p04/p04-mengambang-pullup-pull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87" y="1280160"/>
            <a:ext cx="9654121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Resistor Internal Lewat pinMode()</a:t>
            </a:r>
            <a:endParaRPr lang="en-US" sz="3000" dirty="0"/>
          </a:p>
        </p:txBody>
      </p:sp>
      <p:graphicFrame>
        <p:nvGraphicFramePr>
          <p:cNvPr id="9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18288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Resistor aktif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Tombol ke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Ditekan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 ada (pasang eksternal)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INPUT_PULLUP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Pull-up ±45 kΩ ke 3,3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GND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INPUT_PULLDOWN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Pull-down ±45 kΩ ke GND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3,3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Logika INPUT_PULLUP: Ditekan = LOW</a:t>
            </a:r>
            <a:endParaRPr lang="en-US" sz="3000" dirty="0"/>
          </a:p>
        </p:txBody>
      </p:sp>
      <p:pic>
        <p:nvPicPr>
          <p:cNvPr id="3" name="gambar" descr="/home/claude/work/slides/img/p04/p04-logika-input-pull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421" y="1280160"/>
            <a:ext cx="984085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Push Button dan Pemilihan Pin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Empat kaki, dua kontak, dan pin yang aman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Struktur Push Button 4 Kaki</a:t>
            </a:r>
            <a:endParaRPr lang="en-US" sz="3000" dirty="0"/>
          </a:p>
        </p:txBody>
      </p:sp>
      <p:pic>
        <p:nvPicPr>
          <p:cNvPr id="3" name="gambar" descr="/home/claude/work/slides/img/p04/p04-struktur-to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1319"/>
            <a:ext cx="11094415" cy="39897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Pin Mana untuk Tombol?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Aman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GPIO 4, 13, 14, 16–19, 21–23, 25–27, 32, 33. Kursus: </a:t>
            </a:r>
            <a:r>
              <a:rPr lang="en-US" sz="1500" b="1" dirty="0">
                <a:solidFill>
                  <a:schemeClr val="tx1"/>
                </a:solidFill>
              </a:rPr>
              <a:t>4</a:t>
            </a:r>
            <a:r>
              <a:rPr lang="en-US" sz="1500" dirty="0">
                <a:solidFill>
                  <a:schemeClr val="tx1"/>
                </a:solidFill>
              </a:rPr>
              <a:t> dan </a:t>
            </a:r>
            <a:r>
              <a:rPr lang="en-US" sz="1500" b="1" dirty="0">
                <a:solidFill>
                  <a:schemeClr val="tx1"/>
                </a:solidFill>
              </a:rPr>
              <a:t>13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war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Input saja: 34–39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Tanpa pull-up/down internal. Wajib resistor eksternal.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pow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138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Strapping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0, 2, 5, 12, 15 dibaca saat </a:t>
            </a:r>
            <a:r>
              <a:rPr lang="en-US" sz="1500" i="1" dirty="0">
                <a:solidFill>
                  <a:schemeClr val="tx1"/>
                </a:solidFill>
              </a:rPr>
              <a:t>boot</a:t>
            </a:r>
            <a:r>
              <a:rPr lang="en-US" sz="1500" dirty="0">
                <a:solidFill>
                  <a:schemeClr val="tx1"/>
                </a:solidFill>
              </a:rPr>
              <a:t>. Sebaiknya hindari.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2138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Jangan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6–11 dipakai </a:t>
            </a:r>
            <a:r>
              <a:rPr lang="en-US" sz="1500" i="1" dirty="0">
                <a:solidFill>
                  <a:schemeClr val="tx1"/>
                </a:solidFill>
              </a:rPr>
              <a:t>flash</a:t>
            </a:r>
            <a:r>
              <a:rPr lang="en-US" sz="1500" dirty="0">
                <a:solidFill>
                  <a:schemeClr val="tx1"/>
                </a:solidFill>
              </a:rPr>
              <a:t>; 1 dan 3 dipakai Serial USB.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Pantulan, Debouncing, dan Tepi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Satu tekanan seharusnya satu hitungan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Pantulan (Bouncing) dan Jendela Debounce</a:t>
            </a:r>
            <a:endParaRPr lang="en-US" sz="3000" dirty="0"/>
          </a:p>
        </p:txBody>
      </p:sp>
      <p:pic>
        <p:nvPicPr>
          <p:cNvPr id="3" name="gambar" descr="/home/claude/work/slides/img/p04/p04-sinyal-memant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149" y="1280160"/>
            <a:ext cx="958139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Seberapa Lama Kontak Memantul?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879346"/>
            <a:ext cx="2533574" cy="2820416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53666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±1 ms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88106"/>
            <a:ext cx="2167814" cy="112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10–100 kali terpisah-sambung (Horowitz &amp; Hill, via Wokwi Docs)</a:t>
            </a:r>
            <a:endParaRPr lang="en-US" sz="1600" dirty="0"/>
          </a:p>
        </p:txBody>
      </p:sp>
      <p:sp>
        <p:nvSpPr>
          <p:cNvPr id="6" name="kartu"/>
          <p:cNvSpPr/>
          <p:nvPr/>
        </p:nvSpPr>
        <p:spPr>
          <a:xfrm>
            <a:off x="3402254" y="1879346"/>
            <a:ext cx="2533574" cy="2820416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5134" y="2153666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1,6 ms</a:t>
            </a:r>
            <a:endParaRPr lang="en-US" sz="4900" dirty="0"/>
          </a:p>
        </p:txBody>
      </p:sp>
      <p:sp>
        <p:nvSpPr>
          <p:cNvPr id="8" name="Text 6"/>
          <p:cNvSpPr txBox="1"/>
          <p:nvPr/>
        </p:nvSpPr>
        <p:spPr>
          <a:xfrm>
            <a:off x="3585134" y="3388106"/>
            <a:ext cx="2167814" cy="112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rata-rata 16 sakelar yang diukur Ganssle</a:t>
            </a:r>
            <a:endParaRPr lang="en-US" sz="1600" dirty="0"/>
          </a:p>
        </p:txBody>
      </p:sp>
      <p:sp>
        <p:nvSpPr>
          <p:cNvPr id="9" name="kartu"/>
          <p:cNvSpPr/>
          <p:nvPr/>
        </p:nvSpPr>
        <p:spPr>
          <a:xfrm>
            <a:off x="6255868" y="1879346"/>
            <a:ext cx="2533574" cy="2820416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8748" y="2153666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6,2 ms</a:t>
            </a:r>
            <a:endParaRPr lang="en-US" sz="4900" dirty="0"/>
          </a:p>
        </p:txBody>
      </p:sp>
      <p:sp>
        <p:nvSpPr>
          <p:cNvPr id="11" name="Text 9"/>
          <p:cNvSpPr txBox="1"/>
          <p:nvPr/>
        </p:nvSpPr>
        <p:spPr>
          <a:xfrm>
            <a:off x="6438748" y="3388106"/>
            <a:ext cx="2167814" cy="112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pantulan terlama, di luar 2 sakelar ekstrem</a:t>
            </a:r>
            <a:endParaRPr lang="en-US" sz="1600" dirty="0"/>
          </a:p>
        </p:txBody>
      </p:sp>
      <p:sp>
        <p:nvSpPr>
          <p:cNvPr id="12" name="kartu"/>
          <p:cNvSpPr/>
          <p:nvPr/>
        </p:nvSpPr>
        <p:spPr>
          <a:xfrm>
            <a:off x="9109481" y="1879346"/>
            <a:ext cx="2533574" cy="2820416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2361" y="2153666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50 ms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9292361" y="3388106"/>
            <a:ext cx="2167814" cy="112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jendela debounce pada contoh resmi Arduino</a:t>
            </a:r>
            <a:endParaRPr lang="en-US" sz="1600" dirty="0"/>
          </a:p>
        </p:txBody>
      </p:sp>
      <p:sp>
        <p:nvSpPr>
          <p:cNvPr id="15" name="daftar-poin"/>
          <p:cNvSpPr txBox="1"/>
          <p:nvPr/>
        </p:nvSpPr>
        <p:spPr>
          <a:xfrm>
            <a:off x="548640" y="4974082"/>
            <a:ext cx="11094415" cy="119811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Pantulan berlangsung dalam </a:t>
            </a:r>
            <a:r>
              <a:rPr lang="en-US" sz="1800" b="1" dirty="0">
                <a:solidFill>
                  <a:schemeClr val="tx1"/>
                </a:solidFill>
              </a:rPr>
              <a:t>orde milidetik</a:t>
            </a:r>
            <a:r>
              <a:rPr lang="en-US" sz="1800" dirty="0">
                <a:solidFill>
                  <a:schemeClr val="tx1"/>
                </a:solidFill>
              </a:rPr>
              <a:t>, sedangkan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800" dirty="0">
                <a:solidFill>
                  <a:schemeClr val="tx1"/>
                </a:solidFill>
              </a:rPr>
              <a:t> berputar jauh lebih cepat.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Debounce Berbasis millis()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653028"/>
          </a:xfrm>
          <a:prstGeom prst="roundRect">
            <a:avLst>
              <a:gd name="adj" fmla="val 2503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kode/02-toggle-debounce/src/main.cpp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bacaan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PIN_TOMBOL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bacaan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bacaanTerakhir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waktuBerubah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ulang stopwatch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waktuBerubah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bacaan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keadaanStabil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keadaanStabil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keadaanStabil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gantiLed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bacaanTerakhir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Setiap pantulan </a:t>
            </a:r>
            <a:r>
              <a:rPr lang="en-US" sz="1700" b="1" dirty="0">
                <a:solidFill>
                  <a:schemeClr val="tx1"/>
                </a:solidFill>
              </a:rPr>
              <a:t>mengulang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stopwatch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Keadaan baru diterima setelah stabil &gt; 50 ms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Tepi turun (HIGH → LOW) = baru ditekan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700" dirty="0">
                <a:solidFill>
                  <a:schemeClr val="tx1"/>
                </a:solidFill>
              </a:rPr>
              <a:t>: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700" dirty="0">
                <a:solidFill>
                  <a:schemeClr val="tx1"/>
                </a:solidFill>
              </a:rPr>
              <a:t> tetap responsif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Level vs Tepi: Sekali per Tekanan</a:t>
            </a:r>
            <a:endParaRPr lang="en-US" sz="3000" dirty="0"/>
          </a:p>
        </p:txBody>
      </p:sp>
      <p:pic>
        <p:nvPicPr>
          <p:cNvPr id="3" name="gambar" descr="/home/claude/work/slides/img/p04/p04-deteksi-te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315" y="1280160"/>
            <a:ext cx="9167066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 Alir Debounce + Deteksi Tepi</a:t>
            </a:r>
            <a:endParaRPr lang="en-US" sz="3000" dirty="0"/>
          </a:p>
        </p:txBody>
      </p:sp>
      <p:pic>
        <p:nvPicPr>
          <p:cNvPr id="3" name="gambar" descr="/home/claude/work/slides/img/p04/p04-alur-debou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505" y="1280160"/>
            <a:ext cx="629668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delay() Membuat Tombol Tuli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Selama </a:t>
            </a:r>
            <a:r>
              <a:rPr lang="en-US" sz="24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r>
              <a:rPr lang="en-US" sz="2400" dirty="0">
                <a:solidFill>
                  <a:schemeClr val="tx1"/>
                </a:solidFill>
              </a:rPr>
              <a:t> tidak dijalankan: tekanan singkat bisa </a:t>
            </a:r>
            <a:r>
              <a:rPr lang="en-US" sz="2400" b="1" dirty="0">
                <a:solidFill>
                  <a:schemeClr val="tx1"/>
                </a:solidFill>
              </a:rPr>
              <a:t>terlewat</a:t>
            </a:r>
            <a:r>
              <a:rPr lang="en-US" sz="2400" dirty="0">
                <a:solidFill>
                  <a:schemeClr val="tx1"/>
                </a:solidFill>
              </a:rPr>
              <a:t> dan reaksi </a:t>
            </a:r>
            <a:r>
              <a:rPr lang="en-US" sz="2400" b="1" dirty="0">
                <a:solidFill>
                  <a:schemeClr val="tx1"/>
                </a:solidFill>
              </a:rPr>
              <a:t>terlambat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LED berkedip dengan 2 × </a:t>
            </a:r>
            <a:r>
              <a:rPr lang="en-US" sz="19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delay(500)</a:t>
            </a:r>
            <a:r>
              <a:rPr lang="en-US" sz="1900" dirty="0">
                <a:solidFill>
                  <a:schemeClr val="tx1"/>
                </a:solidFill>
              </a:rPr>
              <a:t> → tombol dicek ±1 kali per detik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Tekanan 150 ms di tengah </a:t>
            </a:r>
            <a:r>
              <a:rPr lang="en-US" sz="19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900" dirty="0">
                <a:solidFill>
                  <a:schemeClr val="tx1"/>
                </a:solidFill>
              </a:rPr>
              <a:t> tidak pernah terlihat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Obatnya di Pertemuan 5: </a:t>
            </a:r>
            <a:r>
              <a:rPr lang="en-US" sz="19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r>
              <a:rPr lang="en-US" sz="1900" dirty="0">
                <a:solidFill>
                  <a:schemeClr val="tx1"/>
                </a:solidFill>
              </a:rPr>
              <a:t> tanpa memblokir dan interupsi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1 &amp; 2: Tombol GPIO 4, LED GPIO 23</a:t>
            </a:r>
            <a:endParaRPr lang="en-US" sz="3000" dirty="0"/>
          </a:p>
        </p:txBody>
      </p:sp>
      <p:pic>
        <p:nvPicPr>
          <p:cNvPr id="3" name="gambar" descr="/home/claude/repo/pertemuan-04-gpio-input/gambar/p04-wiring-01-tombol-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5481" y="1280160"/>
            <a:ext cx="6460733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59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Tombol ke GND dengan INPUT_PULLUP; LED + 220 Ω. Praktikum 1: LED menyala selama ditekan dan Serial mencetak nilai digitalRead.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komponen: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Toggle Tanpa vs Dengan Debounce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bu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64718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Langkah 1 — Tanpa Debounce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PAKAI_DEBOUNCE = false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Satu tekanan → hitungan meloncat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Pantulan saat dilepas ikut terhitung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Jumlah genap → LED tampak diam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6471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Langkah 2 — Dengan Debounce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PAKAI_DEBOUNCE = true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Stabil &gt; 50 ms baru dipercaya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Satu tekanan = satu hitungan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Eksperimen: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"bounce": "0"</a:t>
            </a:r>
            <a:r>
              <a:rPr lang="en-US" sz="1800" dirty="0">
                <a:solidFill>
                  <a:schemeClr val="tx1"/>
                </a:solidFill>
              </a:rPr>
              <a:t> di Wokwi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3: Penghitung Tekanan</a:t>
            </a:r>
            <a:endParaRPr lang="en-US" sz="3000" dirty="0"/>
          </a:p>
        </p:txBody>
      </p:sp>
      <p:pic>
        <p:nvPicPr>
          <p:cNvPr id="3" name="gambar" descr="/home/claude/repo/pertemuan-04-gpio-input/gambar/p04-wiring-03-penghit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682" y="1280160"/>
            <a:ext cx="9198332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59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HITUNG di GPIO 4, RESET di GPIO 13 (deret pin kiri). Data tiap tombol disimpan dalam larik; fungsi baruDitekan(i) bernilai true sekali per tekanan.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komponen: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Tombol di GPIO 4 ke GND dengan </a:t>
            </a: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2200" b="1" dirty="0">
                <a:solidFill>
                  <a:schemeClr val="tx1"/>
                </a:solidFill>
              </a:rPr>
              <a:t>. Saat tombol </a:t>
            </a:r>
            <a:r>
              <a:rPr lang="en-US" sz="2200" b="1" dirty="0">
                <a:solidFill>
                  <a:schemeClr val="tx1"/>
                </a:solidFill>
              </a:rPr>
              <a:t>ditekan</a:t>
            </a:r>
            <a:r>
              <a:rPr lang="en-US" sz="2200" b="1" dirty="0">
                <a:solidFill>
                  <a:schemeClr val="tx1"/>
                </a:solidFill>
              </a:rPr>
              <a:t>, </a:t>
            </a: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digitalRead(4)</a:t>
            </a:r>
            <a:r>
              <a:rPr lang="en-US" sz="2200" b="1" dirty="0">
                <a:solidFill>
                  <a:schemeClr val="tx1"/>
                </a:solidFill>
              </a:rPr>
              <a:t> bernilai …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HIGH (1)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LOW (0)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Berubah-ubah acak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Sama dengan keadaan LED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HIGH dijamin ≥ 2,475 V, LOW ≤ 0,825 V (VDD 3,3 V)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Pin mengambang = acak → pakai </a:t>
            </a:r>
            <a:r>
              <a:rPr lang="en-US" sz="2000" b="1" dirty="0">
                <a:solidFill>
                  <a:schemeClr val="bg1"/>
                </a:solidFill>
              </a:rPr>
              <a:t>pull-up</a:t>
            </a:r>
            <a:r>
              <a:rPr lang="en-US" sz="2000" dirty="0">
                <a:solidFill>
                  <a:schemeClr val="bg1"/>
                </a:solidFill>
              </a:rPr>
              <a:t>/</a:t>
            </a:r>
            <a:r>
              <a:rPr lang="en-US" sz="2000" b="1" dirty="0">
                <a:solidFill>
                  <a:schemeClr val="bg1"/>
                </a:solidFill>
              </a:rPr>
              <a:t>pull-down</a:t>
            </a:r>
            <a:r>
              <a:rPr lang="en-US" sz="2000" dirty="0">
                <a:solidFill>
                  <a:schemeClr val="bg1"/>
                </a:solidFill>
              </a:rPr>
              <a:t> (10 kΩ atau internal ±45 kΩ)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46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2000" dirty="0">
                <a:solidFill>
                  <a:schemeClr val="bg1"/>
                </a:solidFill>
              </a:rPr>
              <a:t> + tombol ke GND → </a:t>
            </a:r>
            <a:r>
              <a:rPr lang="en-US" sz="2000" b="1" dirty="0">
                <a:solidFill>
                  <a:schemeClr val="bg1"/>
                </a:solidFill>
              </a:rPr>
              <a:t>ditekan = LOW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079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60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Push button: 2 kontak, pasang menyeberangi celah, kaki diagonal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223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0749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Pantulan orde ms → </a:t>
            </a:r>
            <a:r>
              <a:rPr lang="en-US" sz="2000" b="1" dirty="0">
                <a:solidFill>
                  <a:schemeClr val="bg1"/>
                </a:solidFill>
              </a:rPr>
              <a:t>debounce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r>
              <a:rPr lang="en-US" sz="2000" dirty="0">
                <a:solidFill>
                  <a:schemeClr val="bg1"/>
                </a:solidFill>
              </a:rPr>
              <a:t> 50 ms + </a:t>
            </a:r>
            <a:r>
              <a:rPr lang="en-US" sz="2000" b="1" dirty="0">
                <a:solidFill>
                  <a:schemeClr val="bg1"/>
                </a:solidFill>
              </a:rPr>
              <a:t>deteksi tepi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5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Selesaikan Praktikum 3 + tantangan tekan lama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Kerjakan Latihan 4 (uji delay) dan catat hasilnya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5: Waktu dan Interupsi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Bawa rangkaian dua tombol + LED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4: GPIO Input: Membaca Tombol</dc:title>
  <dc:subject>Sistem Tertanam — Pertemuan 4</dc:subject>
  <dc:creator>Anton Prafanto</dc:creator>
  <cp:lastModifiedBy>Anton Prafanto</cp:lastModifiedBy>
  <cp:revision>1</cp:revision>
  <dcterms:created xsi:type="dcterms:W3CDTF">2026-10-16T06:11:23Z</dcterms:created>
  <dcterms:modified xsi:type="dcterms:W3CDTF">2026-10-16T06:11:23Z</dcterms:modified>
</cp:coreProperties>
</file>