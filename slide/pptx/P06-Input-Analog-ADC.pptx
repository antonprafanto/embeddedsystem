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56c96281-82ee-b790-ca48-dfb58f9c130e}">
          <p14:sldIdLst>
            <p14:sldId id="256"/>
            <p14:sldId id="257"/>
            <p14:sldId id="258"/>
          </p14:sldIdLst>
        </p14:section>
        <p14:section name="Konsep" id="{494416b4-346e-7505-0530-9024b7fa7f44}">
          <p14:sldIdLst>
            <p14:sldId id="259"/>
            <p14:sldId id="260"/>
            <p14:sldId id="261"/>
            <p14:sldId id="262"/>
          </p14:sldIdLst>
        </p14:section>
        <p14:section name="ESP32" id="{2030b328-8767-f873-49b3-65822a56e631}">
          <p14:sldIdLst>
            <p14:sldId id="263"/>
            <p14:sldId id="264"/>
            <p14:sldId id="265"/>
            <p14:sldId id="266"/>
            <p14:sldId id="267"/>
          </p14:sldIdLst>
        </p14:section>
        <p14:section name="Rangkaian" id="{0ee46b5e-8d88-e96d-beb7-88f52eb0b744}">
          <p14:sldIdLst>
            <p14:sldId id="268"/>
            <p14:sldId id="269"/>
            <p14:sldId id="270"/>
            <p14:sldId id="271"/>
          </p14:sldIdLst>
        </p14:section>
        <p14:section name="Sensor" id="{aec879a8-4095-d1b5-e1f4-98c3157500b9}">
          <p14:sldIdLst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Penutup" id="{61f29851-a13e-7795-e83b-5100cc0e184c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pertanyaan: tombol hanya punya dua keadaan, lalu bagaimana ESP32 tahu "seberapa terang" atau "seberapa panas"? Kumpulkan beberapa jawaban sebelum masuk materi.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akhir sesi: semua mahasiswa minimal menjalankan Praktikum 1 dan 2 di Wokwi, dan memahami mengapa sensor analog dipasang di ADC1.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Teori ±100 menit, sisanya praktikum. Tekankan bahwa semua praktikum bisa dikerjakan penuh di Wokwi.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Hubungkan dengan Pertemuan 04: digitalRead() hanya HIGH/LOW.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keran (analog) vs sakelar (digital). Tanyakan: suhu, cahaya, posisi kenop termasuk yang mana? Jelaskan bahwa CPU hanya mengolah angka, jadi perlu ADC.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penggaris: garis terkecil 1 mm, panjang dibulatkan ke garis terdekat. Gambar memakai 3 bit agar terlihat; ESP32 12 bit = 4.096 tingkat. Tahukah kamu: ADC SAR bekerja seperti tebak angka 12 pertanyaan ya/tidak.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Bandingkan langkah 0,81 mV dengan galat ±60 mV: resolusi (kerapatan garis) berbeda dengan akurasi (kelurusan penggaris). INL hingga ±12 LSB menurut Tabel 4-3.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ini paling sering menjadi sumber masalah di proyek akhir: salah pin (ADC2 + Wi-Fi) dan tegangan berlebih.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ADC2 dipakai driver Wi-Fi, jadi pembacaan ADC2 bisa gagal saat Wi-Fi aktif. Biasakan sensor analog di ADC1: pot 34, LDR 35, NTC 32. GPIO 34/35/36/39 input saja, tanpa pull-up internal (tidak masalah untuk sensor analog).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timbangan 1 kg untuk menimbang 3 kg: timbang sepertiganya lalu kalikan 3. Bawaan 11 dB: 150–3.100 mV, paling akurat 150–2.450 mV. Di bawah ±150 mV terbaca 0; mulai ±3,1 V mentok di 4.095.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Tegangan acuan tiap cip 1.000–1.200 mV, jadi nilai mentah berbeda antar-cip. Di Arduino-ESP32 3.3, bila data kalibrasi tidak ada, analogReadMilliVolts() mengembalikan 0 (mungkin terlihat di Wokwi). Di Wokwi yang benar justru kolom hitung.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Ceritakan kasus umum: modul sensor diberi catu 5 V sehingga keluarannya &gt; 3,3 V. Minta mahasiswa memeriksa kabel catu sebelum menyalakan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Pembagi tegangan adalah kunci untuk memahami potensiometer, LDR, NTC, dan pengukur baterai sekaligus.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tangga dengan bordes di tengah. Contoh: 10k/10k → 1,65 V; pot 30% → 0,99 V; baterai 9 V dengan 33k/10k → 2,09 V (aman, di rentang akurat). Mengapa bukan 20k/10k? 9 V → 3,0 V, terlalu dekat 3,3 V. Wajib GND bersama.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Kuis lisan: map(3000, 0, 4095, 0, 100) = ? Jawab: 73 (73,26 dipotong).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timbangan badan yang angkanya goyang. Di Wokwi tidak ada derau. Datasheet mengukur ADC dengan kapasitor 100 nF di pin input. Makin besar N makin halus, tetapi makin lambat.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Keduanya resistor yang nilainya berubah, dibaca lewat pembagi tegangan.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Wokwi untuk Uno memakai 2000 = 10.000 ÷ 5. Untuk ESP32, pakai bentuk rasio. Saat sangat terang mentah = 0 → lux tak hingga, program menjaganya.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termostat: nyala di atas 30 °C, padam di bawah 28 °C. Praktikum 2: nyala &lt; 50 lux, padam &gt; 100 lux. Jarak ambang harus lebih lebar daripada derau. Ide yang sama: Schmitt trigger.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madu: dingin kental, hangat encer. NTC di sisi bawah → suhu naik, OUT turun. Data: 0 °C ≈ 3.156, 24 °C ≈ 2.093, 50 °C ≈ 1.081.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Rumus Wokwi Uno: 1/(1023./a − 1) = a/(1023 − a). Ganti 1023 dengan 4095. Cek: 24 °C → 2.093 → 24,0 °C. Peringatkan arah pembagi: bila NTC di atas, rasionya (4095 − mentah)/mentah.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 Wokwi, klik sensor saat simulasi berjalan untuk mengubah nilainya. Di board asli: cabut USB saat merangkai, catu sensor dari 3V3.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Jawaban: B. 80 lux ada di zona histeresis (50–100 lux), jadi keadaan dipertahankan.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2–3 mahasiswa menyebutkan satu hal baru yang paling berguna untuk proyek akhir mereka.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Potensiometer akan dipakai lagi untuk mengatur kecerahan LED dengan PWM.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548640" y="5715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Sistem Tertanam (Embedded Systems) · S1 Teknik Elektro</a:t>
            </a:r>
            <a:endParaRPr lang="en-US" sz="1200" dirty="0"/>
          </a:p>
        </p:txBody>
      </p:sp>
      <p:sp>
        <p:nvSpPr>
          <p:cNvPr id="7" name="Text 1"/>
          <p:cNvSpPr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Dosen Pengampu: Anton Prafanto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0"/>
            <a:ext cx="39620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Pertemuan 06 · Input Analog: ADC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FAF"/>
                </a:solidFill>
              </a:rPr>
              <a:t>Pertemuan 06 · Input Analog: ADC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</a:rPr>
              <a:t>PERTEMUAN 06</a:t>
            </a:r>
            <a:endParaRPr lang="en-US" sz="1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Input Analog: ADC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Membaca kenop, cahaya, dan suhu dengan ESP32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Tujuan Pembelajaran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4996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wav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41348"/>
            <a:ext cx="283464" cy="283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Membedakan sinyal </a:t>
            </a:r>
            <a:r>
              <a:rPr lang="en-US" sz="2000" b="1" dirty="0">
                <a:solidFill>
                  <a:schemeClr val="tx1"/>
                </a:solidFill>
              </a:rPr>
              <a:t>analog</a:t>
            </a:r>
            <a:r>
              <a:rPr lang="en-US" sz="2000" dirty="0">
                <a:solidFill>
                  <a:schemeClr val="tx1"/>
                </a:solidFill>
              </a:rPr>
              <a:t> dan </a:t>
            </a:r>
            <a:r>
              <a:rPr lang="en-US" sz="2000" b="1" dirty="0">
                <a:solidFill>
                  <a:schemeClr val="tx1"/>
                </a:solidFill>
              </a:rPr>
              <a:t>digital</a:t>
            </a:r>
            <a:r>
              <a:rPr lang="en-US" sz="2000" dirty="0">
                <a:solidFill>
                  <a:schemeClr val="tx1"/>
                </a:solidFill>
              </a:rPr>
              <a:t>; menjelaskan resolusi dan kuantisasi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4140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rul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5557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2402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Memilih pin </a:t>
            </a:r>
            <a:r>
              <a:rPr lang="en-US" sz="2000" b="1" dirty="0">
                <a:solidFill>
                  <a:schemeClr val="tx1"/>
                </a:solidFill>
              </a:rPr>
              <a:t>ADC1/ADC2</a:t>
            </a:r>
            <a:r>
              <a:rPr lang="en-US" sz="2000" dirty="0">
                <a:solidFill>
                  <a:schemeClr val="tx1"/>
                </a:solidFill>
              </a:rPr>
              <a:t> serta mengatur resolusi dan atenuasi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3284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hi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470148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1546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Menghitung </a:t>
            </a:r>
            <a:r>
              <a:rPr lang="en-US" sz="2000" b="1" dirty="0">
                <a:solidFill>
                  <a:schemeClr val="tx1"/>
                </a:solidFill>
              </a:rPr>
              <a:t>pembagi tegangan</a:t>
            </a:r>
            <a:r>
              <a:rPr lang="en-US" sz="2000" dirty="0">
                <a:solidFill>
                  <a:schemeClr val="tx1"/>
                </a:solidFill>
              </a:rPr>
              <a:t>, termasuk untuk tegangan &gt; 3,3 V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42428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slider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384548"/>
            <a:ext cx="283464" cy="28346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0690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Mengubah nilai mentah menjadi volt, lux, dan °C; meredam derau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51572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therm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5298948"/>
            <a:ext cx="283464" cy="28346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25880" y="49834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Membuat keputusan stabil dengan </a:t>
            </a:r>
            <a:r>
              <a:rPr lang="en-US" sz="2000" b="1" dirty="0">
                <a:solidFill>
                  <a:schemeClr val="tx1"/>
                </a:solidFill>
              </a:rPr>
              <a:t>histeresis</a:t>
            </a:r>
            <a:r>
              <a:rPr lang="en-US" sz="2000" dirty="0">
                <a:solidFill>
                  <a:schemeClr val="tx1"/>
                </a:solidFill>
              </a:rPr>
              <a:t> dua ambang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Peta Materi Hari Ini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Analog vs digital</a:t>
            </a:r>
            <a:endParaRPr lang="en-US" sz="1900" dirty="0"/>
          </a:p>
        </p:txBody>
      </p:sp>
      <p:sp>
        <p:nvSpPr>
          <p:cNvPr id="6" name="kartu"/>
          <p:cNvSpPr/>
          <p:nvPr/>
        </p:nvSpPr>
        <p:spPr>
          <a:xfrm>
            <a:off x="548640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ADC: penggaris untuk tegangan</a:t>
            </a:r>
            <a:endParaRPr lang="en-US" sz="1900" dirty="0"/>
          </a:p>
        </p:txBody>
      </p:sp>
      <p:sp>
        <p:nvSpPr>
          <p:cNvPr id="9" name="kartu"/>
          <p:cNvSpPr/>
          <p:nvPr/>
        </p:nvSpPr>
        <p:spPr>
          <a:xfrm>
            <a:off x="548640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ADC di ESP32: ADC1/ADC2, atenuasi, kalibrasi</a:t>
            </a:r>
            <a:endParaRPr lang="en-US" sz="1900" dirty="0"/>
          </a:p>
        </p:txBody>
      </p:sp>
      <p:sp>
        <p:nvSpPr>
          <p:cNvPr id="12" name="kartu"/>
          <p:cNvSpPr/>
          <p:nvPr/>
        </p:nvSpPr>
        <p:spPr>
          <a:xfrm>
            <a:off x="6278728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1608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193128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Pembagi tegangan, map() vs float, rata-rata</a:t>
            </a:r>
            <a:endParaRPr lang="en-US" sz="1900" dirty="0"/>
          </a:p>
        </p:txBody>
      </p:sp>
      <p:sp>
        <p:nvSpPr>
          <p:cNvPr id="15" name="kartu"/>
          <p:cNvSpPr/>
          <p:nvPr/>
        </p:nvSpPr>
        <p:spPr>
          <a:xfrm>
            <a:off x="6278728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193128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LDR + histeresis, NTC + persamaan Beta</a:t>
            </a:r>
            <a:endParaRPr lang="en-US" sz="1900" dirty="0"/>
          </a:p>
        </p:txBody>
      </p:sp>
      <p:sp>
        <p:nvSpPr>
          <p:cNvPr id="18" name="kartu"/>
          <p:cNvSpPr/>
          <p:nvPr/>
        </p:nvSpPr>
        <p:spPr>
          <a:xfrm>
            <a:off x="6278728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61608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193128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Praktikum: voltmeter, lampu otomatis, termometer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Dari Analog ke Angka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Keran air, sakelar, dan penggaris tegangan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Analog vs Digital</a:t>
            </a:r>
            <a:endParaRPr lang="en-US" sz="3000" dirty="0"/>
          </a:p>
        </p:txBody>
      </p:sp>
      <p:pic>
        <p:nvPicPr>
          <p:cNvPr id="3" name="gambar" descr="/home/claude/work/slides/img/p06/p06-analog-vs-digi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9335" y="1280160"/>
            <a:ext cx="8653025" cy="4617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71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Ikon: Font Awesome Free (CC BY 4.0)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Sampling dan Kuantisasi</a:t>
            </a:r>
            <a:endParaRPr lang="en-US" sz="3000" dirty="0"/>
          </a:p>
        </p:txBody>
      </p:sp>
      <p:pic>
        <p:nvPicPr>
          <p:cNvPr id="3" name="gambar" descr="/home/claude/work/slides/img/p06/p06-sampling-kuantisa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702" y="1280160"/>
            <a:ext cx="9404291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ADC ESP32 dalam Angka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2003298"/>
            <a:ext cx="2533574" cy="2572512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277618"/>
            <a:ext cx="2167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chemeClr val="accent1"/>
                </a:solidFill>
              </a:rPr>
              <a:t>12 bit</a:t>
            </a:r>
            <a:endParaRPr lang="en-US" sz="4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512058"/>
            <a:ext cx="2167814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4.096 tingkat, nilai 0–4.095</a:t>
            </a:r>
            <a:endParaRPr lang="en-US" sz="1600" dirty="0"/>
          </a:p>
        </p:txBody>
      </p:sp>
      <p:sp>
        <p:nvSpPr>
          <p:cNvPr id="6" name="kartu"/>
          <p:cNvSpPr/>
          <p:nvPr/>
        </p:nvSpPr>
        <p:spPr>
          <a:xfrm>
            <a:off x="3402254" y="2003298"/>
            <a:ext cx="2533574" cy="2572512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85134" y="2277618"/>
            <a:ext cx="2167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chemeClr val="accent1"/>
                </a:solidFill>
              </a:rPr>
              <a:t>0,81 mV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3585134" y="3512058"/>
            <a:ext cx="2167814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ukuran langkah pada rentang 3,3 V</a:t>
            </a:r>
            <a:endParaRPr lang="en-US" sz="1600" dirty="0"/>
          </a:p>
        </p:txBody>
      </p:sp>
      <p:sp>
        <p:nvSpPr>
          <p:cNvPr id="9" name="kartu"/>
          <p:cNvSpPr/>
          <p:nvPr/>
        </p:nvSpPr>
        <p:spPr>
          <a:xfrm>
            <a:off x="6255868" y="2003298"/>
            <a:ext cx="2533574" cy="2572512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38748" y="2277618"/>
            <a:ext cx="2167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chemeClr val="accent1"/>
                </a:solidFill>
              </a:rPr>
              <a:t>18 kanal</a:t>
            </a:r>
            <a:endParaRPr lang="en-US" sz="3700" dirty="0"/>
          </a:p>
        </p:txBody>
      </p:sp>
      <p:sp>
        <p:nvSpPr>
          <p:cNvPr id="11" name="Text 9"/>
          <p:cNvSpPr txBox="1"/>
          <p:nvPr/>
        </p:nvSpPr>
        <p:spPr>
          <a:xfrm>
            <a:off x="6438748" y="3512058"/>
            <a:ext cx="2167814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ADC1: 8 kanal · ADC2: 10 kanal</a:t>
            </a:r>
            <a:endParaRPr lang="en-US" sz="1600" dirty="0"/>
          </a:p>
        </p:txBody>
      </p:sp>
      <p:sp>
        <p:nvSpPr>
          <p:cNvPr id="12" name="kartu"/>
          <p:cNvSpPr/>
          <p:nvPr/>
        </p:nvSpPr>
        <p:spPr>
          <a:xfrm>
            <a:off x="9109481" y="2003298"/>
            <a:ext cx="2533574" cy="2572512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92361" y="2277618"/>
            <a:ext cx="2167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chemeClr val="accent1"/>
                </a:solidFill>
              </a:rPr>
              <a:t>±60 mV</a:t>
            </a:r>
            <a:endParaRPr lang="en-US" sz="4900" dirty="0"/>
          </a:p>
        </p:txBody>
      </p:sp>
      <p:sp>
        <p:nvSpPr>
          <p:cNvPr id="14" name="Text 12"/>
          <p:cNvSpPr txBox="1"/>
          <p:nvPr/>
        </p:nvSpPr>
        <p:spPr>
          <a:xfrm>
            <a:off x="9292361" y="3512058"/>
            <a:ext cx="2167814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galat total pada 11 dB (setelah kalibrasi)</a:t>
            </a:r>
            <a:endParaRPr lang="en-US" sz="1600" dirty="0"/>
          </a:p>
        </p:txBody>
      </p:sp>
      <p:sp>
        <p:nvSpPr>
          <p:cNvPr id="15" name="daftar-poin"/>
          <p:cNvSpPr txBox="1"/>
          <p:nvPr/>
        </p:nvSpPr>
        <p:spPr>
          <a:xfrm>
            <a:off x="548640" y="4850130"/>
            <a:ext cx="11094415" cy="132207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Sumber: </a:t>
            </a:r>
            <a:r>
              <a:rPr lang="en-US" sz="1800" i="1" dirty="0">
                <a:solidFill>
                  <a:schemeClr val="tx1"/>
                </a:solidFill>
              </a:rPr>
              <a:t>ESP32 Series Datasheet</a:t>
            </a:r>
            <a:r>
              <a:rPr lang="en-US" sz="1800" dirty="0">
                <a:solidFill>
                  <a:schemeClr val="tx1"/>
                </a:solidFill>
              </a:rPr>
              <a:t>, Bagian 4.9.1. Resolusi tinggi </a:t>
            </a:r>
            <a:r>
              <a:rPr lang="en-US" sz="1800" b="1" dirty="0">
                <a:solidFill>
                  <a:schemeClr val="tx1"/>
                </a:solidFill>
              </a:rPr>
              <a:t>belum tentu</a:t>
            </a:r>
            <a:r>
              <a:rPr lang="en-US" sz="1800" dirty="0">
                <a:solidFill>
                  <a:schemeClr val="tx1"/>
                </a:solidFill>
              </a:rPr>
              <a:t> akurat.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ADC di ESP32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Pin, atenuasi, dan kalibrasi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Peta Pin ADC1 dan ADC2</a:t>
            </a:r>
            <a:endParaRPr lang="en-US" sz="3000" dirty="0"/>
          </a:p>
        </p:txBody>
      </p:sp>
      <p:pic>
        <p:nvPicPr>
          <p:cNvPr id="3" name="gambar" descr="/home/claude/work/slides/img/p06/p06-peta-adc-esp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2409" y="1280160"/>
            <a:ext cx="7226877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Atenuasi Menentukan Rentang Ukur</a:t>
            </a:r>
            <a:endParaRPr lang="en-US" sz="3000" dirty="0"/>
          </a:p>
        </p:txBody>
      </p:sp>
      <p:pic>
        <p:nvPicPr>
          <p:cNvPr id="3" name="gambar" descr="/home/claude/work/slides/img/p06/p06-rentang-atenua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15" y="1280160"/>
            <a:ext cx="10236864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analogRead() vs analogReadMilliVolts()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2139696"/>
            <a:ext cx="5364328" cy="2944368"/>
          </a:xfrm>
          <a:prstGeom prst="roundRect">
            <a:avLst>
              <a:gd name="adj" fmla="val 3727"/>
            </a:avLst>
          </a:prstGeom>
          <a:solidFill>
            <a:srgbClr val="F3F5F4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236829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rul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510028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2368296"/>
            <a:ext cx="408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analogRead()</a:t>
            </a:r>
            <a:endParaRPr lang="en-US" sz="22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099816"/>
            <a:ext cx="4815688" cy="1847088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Nilai </a:t>
            </a:r>
            <a:r>
              <a:rPr lang="en-US" sz="1800" b="1" dirty="0">
                <a:solidFill>
                  <a:schemeClr val="tx1"/>
                </a:solidFill>
              </a:rPr>
              <a:t>mentah</a:t>
            </a:r>
            <a:r>
              <a:rPr lang="en-US" sz="1800" dirty="0">
                <a:solidFill>
                  <a:schemeClr val="tx1"/>
                </a:solidFill>
              </a:rPr>
              <a:t> 0–4.095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Belum dikoreksi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Cukup untuk membandingkan dan ambang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Di Wokwi: ideal, lurus sempurna</a:t>
            </a:r>
            <a:endParaRPr lang="en-US" sz="1800" dirty="0"/>
          </a:p>
        </p:txBody>
      </p:sp>
      <p:sp>
        <p:nvSpPr>
          <p:cNvPr id="8" name="kartu"/>
          <p:cNvSpPr/>
          <p:nvPr/>
        </p:nvSpPr>
        <p:spPr>
          <a:xfrm>
            <a:off x="6278728" y="2139696"/>
            <a:ext cx="5364328" cy="2944368"/>
          </a:xfrm>
          <a:prstGeom prst="roundRect">
            <a:avLst>
              <a:gd name="adj" fmla="val 3727"/>
            </a:avLst>
          </a:prstGeom>
          <a:solidFill>
            <a:srgbClr val="EEF5F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6553048" y="236829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tachomet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780" y="251002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84568" y="2368296"/>
            <a:ext cx="408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analogReadMilliVolts()</a:t>
            </a:r>
            <a:endParaRPr lang="en-US" sz="2200" dirty="0"/>
          </a:p>
        </p:txBody>
      </p:sp>
      <p:sp>
        <p:nvSpPr>
          <p:cNvPr id="12" name="daftar-poin"/>
          <p:cNvSpPr txBox="1"/>
          <p:nvPr/>
        </p:nvSpPr>
        <p:spPr>
          <a:xfrm>
            <a:off x="6553048" y="3099816"/>
            <a:ext cx="4815688" cy="1847088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Tegangan dalam </a:t>
            </a:r>
            <a:r>
              <a:rPr lang="en-US" sz="1800" b="1" dirty="0">
                <a:solidFill>
                  <a:schemeClr val="tx1"/>
                </a:solidFill>
              </a:rPr>
              <a:t>milivolt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Dikoreksi data kalibrasi </a:t>
            </a:r>
            <a:r>
              <a:rPr lang="en-US" sz="1800" b="1" dirty="0">
                <a:solidFill>
                  <a:schemeClr val="tx1"/>
                </a:solidFill>
              </a:rPr>
              <a:t>eFuse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Untuk nilai tegangan sebenarnya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Di board asli: bandingkan dengan multimeter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Batas Keras: 3,3 V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600200"/>
            <a:ext cx="11094415" cy="1828800"/>
          </a:xfrm>
          <a:prstGeom prst="roundRect">
            <a:avLst>
              <a:gd name="adj" fmla="val 6000"/>
            </a:avLst>
          </a:prstGeom>
          <a:solidFill>
            <a:srgbClr val="FBEDEB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914400" y="2057400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war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86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1600200"/>
            <a:ext cx="92656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Jangan pernah memberi tegangan </a:t>
            </a:r>
            <a:r>
              <a:rPr lang="en-US" sz="2400" b="1" dirty="0">
                <a:solidFill>
                  <a:schemeClr val="tx1"/>
                </a:solidFill>
              </a:rPr>
              <a:t>&gt; 3,3 V</a:t>
            </a:r>
            <a:r>
              <a:rPr lang="en-US" sz="2400" dirty="0">
                <a:solidFill>
                  <a:schemeClr val="tx1"/>
                </a:solidFill>
              </a:rPr>
              <a:t> (atau negatif) ke pin ADC. Atenuasi hanya mengatur rentang ukur, </a:t>
            </a:r>
            <a:r>
              <a:rPr lang="en-US" sz="2400" b="1" dirty="0">
                <a:solidFill>
                  <a:schemeClr val="tx1"/>
                </a:solidFill>
              </a:rPr>
              <a:t>bukan pelindung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</p:txBody>
      </p:sp>
      <p:sp>
        <p:nvSpPr>
          <p:cNvPr id="7" name="daftar-poin"/>
          <p:cNvSpPr txBox="1"/>
          <p:nvPr/>
        </p:nvSpPr>
        <p:spPr>
          <a:xfrm>
            <a:off x="548640" y="3749040"/>
            <a:ext cx="11094415" cy="2423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Catu sensor dari </a:t>
            </a:r>
            <a:r>
              <a:rPr lang="en-US" sz="1900" b="1" dirty="0">
                <a:solidFill>
                  <a:schemeClr val="tx1"/>
                </a:solidFill>
              </a:rPr>
              <a:t>3V3</a:t>
            </a:r>
            <a:r>
              <a:rPr lang="en-US" sz="1900" dirty="0">
                <a:solidFill>
                  <a:schemeClr val="tx1"/>
                </a:solidFill>
              </a:rPr>
              <a:t>, bukan VIN (±5 V dari USB)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Tegangan lebih tinggi? Turunkan dengan </a:t>
            </a:r>
            <a:r>
              <a:rPr lang="en-US" sz="1900" b="1" dirty="0">
                <a:solidFill>
                  <a:schemeClr val="tx1"/>
                </a:solidFill>
              </a:rPr>
              <a:t>pembagi tegangan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Sensor analog selalu ke pin </a:t>
            </a:r>
            <a:r>
              <a:rPr lang="en-US" sz="1900" b="1" dirty="0">
                <a:solidFill>
                  <a:schemeClr val="tx1"/>
                </a:solidFill>
              </a:rPr>
              <a:t>ADC1</a:t>
            </a:r>
            <a:r>
              <a:rPr lang="en-US" sz="1900" dirty="0">
                <a:solidFill>
                  <a:schemeClr val="tx1"/>
                </a:solidFill>
              </a:rPr>
              <a:t> (GPIO 32–39)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Pembagi Tegangan dan Konversi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Dari nilai mentah ke volt, lux, dan °C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Pembagi Tegangan</a:t>
            </a:r>
            <a:endParaRPr lang="en-US" sz="3000" dirty="0"/>
          </a:p>
        </p:txBody>
      </p:sp>
      <p:pic>
        <p:nvPicPr>
          <p:cNvPr id="3" name="gambar" descr="/home/claude/work/slides/img/p06/p06-pembagi-tegang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5993" y="1280160"/>
            <a:ext cx="8299709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map() vs float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3653028"/>
          </a:xfrm>
          <a:prstGeom prst="roundRect">
            <a:avLst>
              <a:gd name="adj" fmla="val 2503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contoh konversi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mentah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mentah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4095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3300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1611  (pecahan 0,72 dibuang)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mentah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4095.0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1.6117 V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salah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mentah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4095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0.0 !  (2000 / 4095 = 0 pada int)</a:t>
            </a:r>
            <a:endParaRPr lang="en-US" sz="18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r>
              <a:rPr lang="en-US" sz="1700" dirty="0">
                <a:solidFill>
                  <a:schemeClr val="tx1"/>
                </a:solidFill>
              </a:rPr>
              <a:t> → bilangan </a:t>
            </a:r>
            <a:r>
              <a:rPr lang="en-US" sz="1700" b="1" dirty="0">
                <a:solidFill>
                  <a:schemeClr val="tx1"/>
                </a:solidFill>
              </a:rPr>
              <a:t>bulat</a:t>
            </a:r>
            <a:r>
              <a:rPr lang="en-US" sz="1700" dirty="0">
                <a:solidFill>
                  <a:schemeClr val="tx1"/>
                </a:solidFill>
              </a:rPr>
              <a:t>, pecahan dibuang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Besaran berpecahan → hitung dengan </a:t>
            </a:r>
            <a:r>
              <a:rPr lang="en-US" sz="1700" b="1" dirty="0">
                <a:solidFill>
                  <a:schemeClr val="tx1"/>
                </a:solidFill>
              </a:rPr>
              <a:t>float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Awas pembagian </a:t>
            </a:r>
            <a:r>
              <a:rPr lang="en-US" sz="1700" b="1" dirty="0">
                <a:solidFill>
                  <a:schemeClr val="tx1"/>
                </a:solidFill>
              </a:rPr>
              <a:t>int ÷ int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r>
              <a:rPr lang="en-US" sz="1700" dirty="0">
                <a:solidFill>
                  <a:schemeClr val="tx1"/>
                </a:solidFill>
              </a:rPr>
              <a:t> tidak membatasi hasil → pakai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constrain()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Derau dan Rata-Rata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2795778"/>
          </a:xfrm>
          <a:prstGeom prst="roundRect">
            <a:avLst>
              <a:gd name="adj" fmla="val 3271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bacaRataRata()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222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bacaRataRata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Sumber derau: riak catu daya, Wi-Fi, kabel panjang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Perangkat keras: kapasitor </a:t>
            </a:r>
            <a:r>
              <a:rPr lang="en-US" sz="1700" b="1" dirty="0">
                <a:solidFill>
                  <a:schemeClr val="tx1"/>
                </a:solidFill>
              </a:rPr>
              <a:t>100 nF</a:t>
            </a:r>
            <a:r>
              <a:rPr lang="en-US" sz="1700" dirty="0">
                <a:solidFill>
                  <a:schemeClr val="tx1"/>
                </a:solidFill>
              </a:rPr>
              <a:t> pin ADC–GND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Rata-rata 16 sampel → derau acak ±1/4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Alternatif: </a:t>
            </a:r>
            <a:r>
              <a:rPr lang="en-US" sz="1700" b="1" dirty="0">
                <a:solidFill>
                  <a:schemeClr val="tx1"/>
                </a:solidFill>
              </a:rPr>
              <a:t>rata-rata bergerak</a:t>
            </a:r>
            <a:r>
              <a:rPr lang="en-US" sz="1700" dirty="0">
                <a:solidFill>
                  <a:schemeClr val="tx1"/>
                </a:solidFill>
              </a:rPr>
              <a:t> (larik N terakhir)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04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Sensor Analog: LDR dan NTC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Histeresis dan persamaan Beta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LDR: Hambatan Turun saat Terang</a:t>
            </a:r>
            <a:endParaRPr lang="en-US" sz="3000" dirty="0"/>
          </a:p>
        </p:txBody>
      </p:sp>
      <p:sp>
        <p:nvSpPr>
          <p:cNvPr id="3" name="daftar-poin"/>
          <p:cNvSpPr txBox="1"/>
          <p:nvPr/>
        </p:nvSpPr>
        <p:spPr>
          <a:xfrm>
            <a:off x="548640" y="1325880"/>
            <a:ext cx="4626727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Modul Wokwi: LDR + 10 kΩ, </a:t>
            </a:r>
            <a:r>
              <a:rPr lang="en-US" sz="2000" b="1" dirty="0">
                <a:solidFill>
                  <a:schemeClr val="tx1"/>
                </a:solidFill>
              </a:rPr>
              <a:t>AO turun</a:t>
            </a:r>
            <a:r>
              <a:rPr lang="en-US" sz="2000" dirty="0">
                <a:solidFill>
                  <a:schemeClr val="tx1"/>
                </a:solidFill>
              </a:rPr>
              <a:t> saat terang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10000 * mentah / (4095 - mentah)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lux = 10 * pow(RL10 / R, 1 / GAMMA)</a:t>
            </a:r>
            <a:r>
              <a:rPr lang="en-US" sz="2000" dirty="0">
                <a:solidFill>
                  <a:schemeClr val="tx1"/>
                </a:solidFill>
              </a:rPr>
              <a:t>, RL10 = 50 kΩ, γ = 0,7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Contoh: 500 lux ≈ 1.001 · 50 lux ≈ 2.532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Di board asli, lux hanya perkiraan → kalibrasi ambang</a:t>
            </a:r>
            <a:endParaRPr lang="en-US" sz="2000" dirty="0"/>
          </a:p>
        </p:txBody>
      </p:sp>
      <p:pic>
        <p:nvPicPr>
          <p:cNvPr id="4" name="gambar" descr="/home/claude/repo/pertemuan-06-adc/gambar/p06-rangkaian-l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1127" y="2410156"/>
            <a:ext cx="6101928" cy="235772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41127" y="4813604"/>
            <a:ext cx="6101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Gambar komponen: @wokwi/elements (MIT)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Histeresis: Dua Ambang</a:t>
            </a:r>
            <a:endParaRPr lang="en-US" sz="3000" dirty="0"/>
          </a:p>
        </p:txBody>
      </p:sp>
      <p:pic>
        <p:nvPicPr>
          <p:cNvPr id="3" name="gambar" descr="/home/claude/work/slides/img/p06/p06-hister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7173" y="1280160"/>
            <a:ext cx="8437349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NTC 10 kΩ di Dalam Pembagi</a:t>
            </a:r>
            <a:endParaRPr lang="en-US" sz="3000" dirty="0"/>
          </a:p>
        </p:txBody>
      </p:sp>
      <p:pic>
        <p:nvPicPr>
          <p:cNvPr id="3" name="gambar" descr="/home/claude/work/slides/img/p06/p06-kurva-nt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221" y="1280160"/>
            <a:ext cx="7803254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Rumus NTC Versi 12 Bit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2326005"/>
            <a:ext cx="2567864" cy="257175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nomor"/>
          <p:cNvSpPr/>
          <p:nvPr/>
        </p:nvSpPr>
        <p:spPr>
          <a:xfrm>
            <a:off x="777240" y="2554605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55460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40405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Pembagi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926205"/>
            <a:ext cx="2110664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OUT = Vcc × R_NTC ÷ (R0 + R_NTC), NTC di sisi bawah</a:t>
            </a:r>
            <a:endParaRPr lang="en-US" sz="1500" dirty="0"/>
          </a:p>
        </p:txBody>
      </p:sp>
      <p:sp>
        <p:nvSpPr>
          <p:cNvPr id="8" name="kartu"/>
          <p:cNvSpPr/>
          <p:nvPr/>
        </p:nvSpPr>
        <p:spPr>
          <a:xfrm>
            <a:off x="3390824" y="2326005"/>
            <a:ext cx="2567864" cy="257175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nomor"/>
          <p:cNvSpPr/>
          <p:nvPr/>
        </p:nvSpPr>
        <p:spPr>
          <a:xfrm>
            <a:off x="3619424" y="2554605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9424" y="255460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19424" y="3240405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ADC ideal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19424" y="3926205"/>
            <a:ext cx="2110664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mentah ÷ 4095 = OUT ÷ Vcc</a:t>
            </a:r>
            <a:endParaRPr lang="en-US" sz="1500" dirty="0"/>
          </a:p>
        </p:txBody>
      </p:sp>
      <p:sp>
        <p:nvSpPr>
          <p:cNvPr id="13" name="kartu"/>
          <p:cNvSpPr/>
          <p:nvPr/>
        </p:nvSpPr>
        <p:spPr>
          <a:xfrm>
            <a:off x="6233008" y="2326005"/>
            <a:ext cx="2567864" cy="257175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nomor"/>
          <p:cNvSpPr/>
          <p:nvPr/>
        </p:nvSpPr>
        <p:spPr>
          <a:xfrm>
            <a:off x="6461608" y="2554605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1608" y="255460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61608" y="3240405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Rasio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3926205"/>
            <a:ext cx="2110664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R_NTC ÷ R0 = mentah ÷ (4095 − mentah)</a:t>
            </a:r>
            <a:endParaRPr lang="en-US" sz="1500" dirty="0"/>
          </a:p>
        </p:txBody>
      </p:sp>
      <p:sp>
        <p:nvSpPr>
          <p:cNvPr id="18" name="kartu"/>
          <p:cNvSpPr/>
          <p:nvPr/>
        </p:nvSpPr>
        <p:spPr>
          <a:xfrm>
            <a:off x="9075191" y="2326005"/>
            <a:ext cx="2567864" cy="257175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nomor"/>
          <p:cNvSpPr/>
          <p:nvPr/>
        </p:nvSpPr>
        <p:spPr>
          <a:xfrm>
            <a:off x="9303791" y="2554605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03791" y="255460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303791" y="3240405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Beta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03791" y="3926205"/>
            <a:ext cx="2110664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1/T = 1/298,15 + ln(rasio) ÷ β; °C = T − 273,15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Tiga Praktikum Hari Ini</a:t>
            </a:r>
            <a:endParaRPr lang="en-US" sz="3000" dirty="0"/>
          </a:p>
        </p:txBody>
      </p:sp>
      <p:graphicFrame>
        <p:nvGraphicFramePr>
          <p:cNvPr id="23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Praktikum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Komponen dan pin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Konsep kunci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 Voltmeter mini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Potensiometer → GPIO 34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mentah vs mV vs hitung, map()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 Lampu otomatis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LDR AO → GPIO 35, LED → GPIO 23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lux, histeresis 50/100 lux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3. Termometer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NTC OUT → GPIO 32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rata-rata 16 sampel, persamaan Beta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Kuis Cepat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54305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Lampu sedang NYALA (nyala &lt; 50 lux, padam &gt; 100 lux), lalu cahaya naik ke 80 lux. Apa yang terjadi?</a:t>
            </a:r>
            <a:endParaRPr lang="en-US" sz="2200" dirty="0"/>
          </a:p>
        </p:txBody>
      </p:sp>
      <p:sp>
        <p:nvSpPr>
          <p:cNvPr id="6" name="kartu"/>
          <p:cNvSpPr/>
          <p:nvPr/>
        </p:nvSpPr>
        <p:spPr>
          <a:xfrm>
            <a:off x="548640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Lampu padam</a:t>
            </a:r>
            <a:endParaRPr lang="en-US" sz="1800" dirty="0"/>
          </a:p>
        </p:txBody>
      </p:sp>
      <p:sp>
        <p:nvSpPr>
          <p:cNvPr id="9" name="kartu"/>
          <p:cNvSpPr/>
          <p:nvPr/>
        </p:nvSpPr>
        <p:spPr>
          <a:xfrm>
            <a:off x="6233008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15888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B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010248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Lampu tetap menyala</a:t>
            </a:r>
            <a:endParaRPr lang="en-US" sz="1800" dirty="0"/>
          </a:p>
        </p:txBody>
      </p:sp>
      <p:sp>
        <p:nvSpPr>
          <p:cNvPr id="12" name="kartu"/>
          <p:cNvSpPr/>
          <p:nvPr/>
        </p:nvSpPr>
        <p:spPr>
          <a:xfrm>
            <a:off x="548640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C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Lampu berkedip</a:t>
            </a:r>
            <a:endParaRPr lang="en-US" sz="1800" dirty="0"/>
          </a:p>
        </p:txBody>
      </p:sp>
      <p:sp>
        <p:nvSpPr>
          <p:cNvPr id="15" name="kartu"/>
          <p:cNvSpPr/>
          <p:nvPr/>
        </p:nvSpPr>
        <p:spPr>
          <a:xfrm>
            <a:off x="6233008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15888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010248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ESP32 di-reset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Rangkuman</a:t>
            </a:r>
            <a:endParaRPr lang="en-US" sz="3200" dirty="0"/>
          </a:p>
        </p:txBody>
      </p:sp>
      <p:sp>
        <p:nvSpPr>
          <p:cNvPr id="3" name="pad"/>
          <p:cNvSpPr/>
          <p:nvPr/>
        </p:nvSpPr>
        <p:spPr>
          <a:xfrm>
            <a:off x="548640" y="158496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0383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1732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ADC 12 bit: 0–4.095, langkah ±0,8 mV; resolusi ≠ akurasi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4963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20980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Sensor analog di </a:t>
            </a:r>
            <a:r>
              <a:rPr lang="en-US" sz="2000" b="1" dirty="0">
                <a:solidFill>
                  <a:schemeClr val="bg1"/>
                </a:solidFill>
              </a:rPr>
              <a:t>ADC1</a:t>
            </a:r>
            <a:r>
              <a:rPr lang="en-US" sz="2000" dirty="0">
                <a:solidFill>
                  <a:schemeClr val="bg1"/>
                </a:solidFill>
              </a:rPr>
              <a:t>; atenuasi 11 dB; maksimal </a:t>
            </a:r>
            <a:r>
              <a:rPr lang="en-US" sz="2000" b="1" dirty="0">
                <a:solidFill>
                  <a:schemeClr val="bg1"/>
                </a:solidFill>
              </a:rPr>
              <a:t>3,3 V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1699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28879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300228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analogReadMilliVolts()</a:t>
            </a:r>
            <a:r>
              <a:rPr lang="en-US" sz="2000" dirty="0">
                <a:solidFill>
                  <a:schemeClr val="bg1"/>
                </a:solidFill>
              </a:rPr>
              <a:t> + multimeter untuk board asli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396240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08127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379476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Pembagi tegangan: Vout = Vin × R2 ÷ (R1 + R2)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873752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458724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Rata-rata meredam derau; </a:t>
            </a:r>
            <a:r>
              <a:rPr lang="en-US" sz="2000" b="1" dirty="0">
                <a:solidFill>
                  <a:schemeClr val="bg1"/>
                </a:solidFill>
              </a:rPr>
              <a:t>histeresis</a:t>
            </a:r>
            <a:r>
              <a:rPr lang="en-US" sz="2000" dirty="0">
                <a:solidFill>
                  <a:schemeClr val="bg1"/>
                </a:solidFill>
              </a:rPr>
              <a:t> mencegah kedip</a:t>
            </a:r>
            <a:endParaRPr lang="en-US" sz="2000" dirty="0"/>
          </a:p>
        </p:txBody>
      </p:sp>
      <p:sp>
        <p:nvSpPr>
          <p:cNvPr id="18" name="pad"/>
          <p:cNvSpPr/>
          <p:nvPr/>
        </p:nvSpPr>
        <p:spPr>
          <a:xfrm>
            <a:off x="548640" y="554736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9" name="ikon-chec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666232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280160" y="537972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NTC: persamaan Beta, arah pembagi harus cocok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Sebelum Pertemuan 07</a:t>
            </a:r>
            <a:endParaRPr lang="en-US" sz="3200" dirty="0"/>
          </a:p>
        </p:txBody>
      </p:sp>
      <p:sp>
        <p:nvSpPr>
          <p:cNvPr id="3" name="kartu"/>
          <p:cNvSpPr/>
          <p:nvPr/>
        </p:nvSpPr>
        <p:spPr>
          <a:xfrm>
            <a:off x="548640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task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Tugas</a:t>
            </a:r>
            <a:endParaRPr lang="en-US" sz="21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Kerjakan latihan voltmeter baterai dan termostat kipas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Bandingkan analogReadMilliVolts() dengan multimeter</a:t>
            </a:r>
            <a:endParaRPr lang="en-US" sz="1600" dirty="0"/>
          </a:p>
        </p:txBody>
      </p:sp>
      <p:sp>
        <p:nvSpPr>
          <p:cNvPr id="8" name="kartu"/>
          <p:cNvSpPr/>
          <p:nvPr/>
        </p:nvSpPr>
        <p:spPr>
          <a:xfrm>
            <a:off x="4353458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4627778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boo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798" y="19431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27778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Persiapan</a:t>
            </a:r>
            <a:endParaRPr lang="en-US" sz="2100" dirty="0"/>
          </a:p>
        </p:txBody>
      </p:sp>
      <p:sp>
        <p:nvSpPr>
          <p:cNvPr id="12" name="daftar-poin"/>
          <p:cNvSpPr txBox="1"/>
          <p:nvPr/>
        </p:nvSpPr>
        <p:spPr>
          <a:xfrm>
            <a:off x="4627778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modul Pertemuan 07: PWM dan Mengendalikan Beban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Simpan rangkaian potensiometer untuk dipakai lagi</a:t>
            </a:r>
            <a:endParaRPr lang="en-US" sz="1600" dirty="0"/>
          </a:p>
        </p:txBody>
      </p:sp>
      <p:sp>
        <p:nvSpPr>
          <p:cNvPr id="13" name="kartu"/>
          <p:cNvSpPr/>
          <p:nvPr/>
        </p:nvSpPr>
        <p:spPr>
          <a:xfrm>
            <a:off x="8158277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432597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comment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17" y="19431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32597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Butuh Bantuan?</a:t>
            </a:r>
            <a:endParaRPr lang="en-US" sz="2100" dirty="0"/>
          </a:p>
        </p:txBody>
      </p:sp>
      <p:sp>
        <p:nvSpPr>
          <p:cNvPr id="17" name="daftar-poin"/>
          <p:cNvSpPr txBox="1"/>
          <p:nvPr/>
        </p:nvSpPr>
        <p:spPr>
          <a:xfrm>
            <a:off x="8432597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panduan/06-mengatasi-masalah.md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Tanyakan di forum kelas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tem Tertanam PCB">
  <a:themeElements>
    <a:clrScheme name="Sistem Tertanam PCB">
      <a:dk1>
        <a:srgbClr val="13261D"/>
      </a:dk1>
      <a:lt1>
        <a:srgbClr val="FFFFFF"/>
      </a:lt1>
      <a:dk2>
        <a:srgbClr val="0F3D2C"/>
      </a:dk2>
      <a:lt2>
        <a:srgbClr val="EEF5F1"/>
      </a:lt2>
      <a:accent1>
        <a:srgbClr val="1F6F50"/>
      </a:accent1>
      <a:accent2>
        <a:srgbClr val="C27C2C"/>
      </a:accent2>
      <a:accent3>
        <a:srgbClr val="1F6FD1"/>
      </a:accent3>
      <a:accent4>
        <a:srgbClr val="C0392B"/>
      </a:accent4>
      <a:accent5>
        <a:srgbClr val="5F6F67"/>
      </a:accent5>
      <a:accent6>
        <a:srgbClr val="D9A441"/>
      </a:accent6>
      <a:hlink>
        <a:srgbClr val="1F6FD1"/>
      </a:hlink>
      <a:folHlink>
        <a:srgbClr val="7B3FBF"/>
      </a:folHlink>
    </a:clrScheme>
    <a:fontScheme name="Sistem Tertanam PC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Sistem Tertanam (Embedded Systems)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6: Input Analog: ADC</dc:title>
  <dc:subject>Sistem Tertanam — Pertemuan 6</dc:subject>
  <dc:creator>Anton Prafanto</dc:creator>
  <cp:lastModifiedBy>Anton Prafanto</cp:lastModifiedBy>
  <cp:revision>1</cp:revision>
  <dcterms:created xsi:type="dcterms:W3CDTF">2026-10-16T13:00:47Z</dcterms:created>
  <dcterms:modified xsi:type="dcterms:W3CDTF">2026-10-16T13:00:47Z</dcterms:modified>
</cp:coreProperties>
</file>