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9419ae87-5ef2-94bf-d5e7-848872b39e48}">
          <p14:sldIdLst>
            <p14:sldId id="256"/>
            <p14:sldId id="257"/>
            <p14:sldId id="258"/>
          </p14:sldIdLst>
        </p14:section>
        <p14:section name="Perancangan" id="{64a30e57-b244-b73c-328e-e3affc14b639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Perangkat Lunak" id="{ae8ebe5d-20d0-bb6b-03eb-f54a7ee79c5d}">
          <p14:sldIdLst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Praktikum" id="{cacc04ec-30bb-b9ea-5496-8b6c66d593c8}">
          <p14:sldIdLst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Penutup" id="{b0ebd975-f038-a3f6-faf7-be49ee91ebbd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dengan pertanyaan: komponen apa saja yang sudah kalian kuasai sejak P3? Tulis di papan, lalu tanyakan: kalau semuanya digabung dalam satu proyek, kira-kira apa yang bisa salah?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bahwa pertemuan ini adalah jembatan ke proyek akhir. Semua dokumen yang dibuat hari ini (kebutuhan, pin, daya, arsitektur) langsung dipakai kelompok mereka.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Praktikum 1 dan 2 memakai rangkaian yang sama, jadi mahasiswa cukup merakit sekali.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membangun rumah: denah, hitungan daya PLN, lalu bangun ruang demi ruang. Masalah integrasi jarang muncul di dalam komponen yang sudah teruji, melainkan di sambungan antarbagian: rebutan pin, saling menunggu, catu kurang. Panah merah: ketemu masalah di langkah 6, kembali ke langkah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 = fungsional (melakukan apa), N = nonfungsional (seberapa baik). Pancing: apakah "alarm harus cepat" bisa diuji? Tidak; "≤ 3 detik" bisa. N2 adalah alasan arsitektur tugas terpisah nanti.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Pola input → proses → output dari P1, ditambah catu daya dan jalur komunikasi. Minta mahasiswa menunjuk mana input, proses, output, dan komunikasi.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Hijau = dipakai. GPIO 25–27 termasuk ADC2 tetapi dipakai digital, jadi aman. Potensiometer di GPIO 34 (ADC1). GPIO 18 dan 23 juga pin VSPI bawaan: pindahkan bila menambah kartu SD.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Hitungan I2C (UM10204): Rmin = (3,3 − 0,4) / 3 mA ≈ 967 Ω. Tiga modul 4,7 kΩ paralel = 1,57 kΩ (aman); lima modul = 0,94 kΩ (terlalu kuat). Gejala konflik ADC2 baru muncul setelah Wi-Fi menyala, jadi uji ulang input analog setelah Wi-Fi aktif.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Angka ESP32 dari datasheet WROOM-32E: menerima ±112 mA, memancar puncak 379 mA, catu ≥ 0,5 A. Nilai bertanda ± adalah perkiraan. Total biasa ±161 mA, puncak ±479 mA → adaptor 5 V 1 A. Contoh umur baterai: power bank 5.000 mAh ≈ 3.700 mAh pada 5 V → ±23 jam pada 161 mA (ideal).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dapur restoran: modul = meja kerja, loop() = kepala dapur, tugas jaringan = pelayan. Dua kotak surat (antrean 1 slot) menghubungkan inti 1 dan inti 0. Aturan: satu perangkat keras, satu pemilik, sehingga tidak perlu mutex.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Komentar di slide dipersingkat dari kode asli. loop() terlama puluhan ms itu wajar: kirim 1.024 bita layar OLED lewat I2C 400 kHz ≈ 23 ms. Demo: tambahkan delay(3000) dan tunjukkan angka melonjak ke ±3.000 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Histeresis: batas naik dan turun berbeda (BAHAYA dilepas di bawah ambang − 0,5 °C) agar status tidak berkedip saat suhu bergoyang 29,9–30,0 °C. FSM jaringan: gagal → tunggu 4, 8, 16, 30 s (exponential backoff).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Bandingkan dengan P13: jeda antarpercobaan sudah ada, tetapi satu panggilan connect() tetap memblokir (DNS, TCP, menunggu CONNACK; batas bawaan PubSubClient 15 s). Untuk alarm itu melanggar N2. Slide menyederhanakan kode asli (pengecekan nullptr dihilangkan).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bang vs bertahap. Setiap tahap: tambah satu bagian → uji → git commit. Bila tahap baru gagal, tersangkanya hanya bagian yang baru; bila buntu, git restore kembali ke commit terakhir yang lulus. Perintah: git init, git add ., git commit -m, git log --oneline, git restore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Strategi diagnosis: membelah dua (matikan separuh modul, uji lagi). Pesan brownout dan stack overflow adalah pesan bawaan ESP-IDF. Perintah status di Praktikum 2 menampilkan loop() terlama dan sisa stack tugas jaringan.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Uji I2C memeriksa dulu SDA/SCL harus HIGH saat diam. Uji potensio mendeteksi pin mengambang (nilai melompat &gt; 1.500 dalam 20 ms sebanyak 5 kali). Program uji boleh memakai delay() karena memang berurutan; program proyek tidak boleh.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Wokwi: 13 berkas tambahan (7 .h + 6 .cpp) dibuat lewat ▾ → New file. Uji skenario: 28,5 °C kuning, 30,5 °C merah + bip, 29,0 °C kuning lagi (histeresis). Ambang disimpan ke NVS saat keluar dari halaman 3; ketik restart untuk membuktikan.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Langganan kuliah-st/&lt;NIM&gt;/stasiun/#. Status online/offline memakai retain + pesan wasiat (LWT), sama seperti P13. Perubahan alarm dikirim segera. Uji N2: ganti broker dengan alamat salah → rc=-2 dengan jeda 4, 8, 16, 30 s, alarm tetap jalan.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Ketentuan, contoh ide, templat proposal, dan rubrik ada di proyek-akhir/README.md. Tips: bagi peran bukan bagi pemahaman; tentukan versi minimum; beli komponen lebih awal; integrasi tiap pekan, bukan semalam sebelum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Jawaban: B. GPIO 34 = ADC1. GPIO 26 dan 12 adalah ADC2 (gagal saat Wi-Fi aktif; GPIO 12 juga pin strapping), GPIO 1 dipakai Serial USB.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daftar periksa konsultasi kemajuan di bagian 8 modul. Ingatkan: semua anggota harus bisa menjelaskan seluruh sistem saat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DUL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ools/kit/slides/assets/pcb-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17320"/>
            <a:ext cx="65836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1920240"/>
            <a:ext cx="64008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931920"/>
            <a:ext cx="62179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6D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0"/>
          <p:cNvSpPr/>
          <p:nvPr/>
        </p:nvSpPr>
        <p:spPr>
          <a:xfrm>
            <a:off x="548640" y="5715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DA"/>
                </a:solidFill>
              </a:rPr>
              <a:t>Sistem Tertanam (Embedded Systems) · S1 Teknik Elektro</a:t>
            </a:r>
            <a:endParaRPr lang="en-US" sz="1200" dirty="0"/>
          </a:p>
        </p:txBody>
      </p:sp>
      <p:sp>
        <p:nvSpPr>
          <p:cNvPr id="7" name="Text 1"/>
          <p:cNvSpPr/>
          <p:nvPr/>
        </p:nvSpPr>
        <p:spPr>
          <a:xfrm>
            <a:off x="548640" y="6035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DA"/>
                </a:solidFill>
              </a:rPr>
              <a:t>Dosen Pengampu: Anton Prafanto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GIAN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ools/kit/slides/assets/pcb-ar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0"/>
            <a:ext cx="396209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6D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Pertemuan 15 · Integrasi Sistem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FAF"/>
                </a:solidFill>
              </a:rPr>
              <a:t>Pertemuan 15 · Integrasi Sistem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417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2"/>
                </a:solidFill>
              </a:rPr>
              <a:t>PERTEMUAN 15</a:t>
            </a:r>
            <a:endParaRPr lang="en-US" sz="18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192024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Integrasi Sistem dan Persiapan Proyek Akhir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39319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Dari komponen yang terpisah menjadi satu sistem yang andal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Tujuan Pembelajaran</a:t>
            </a:r>
            <a:endParaRPr lang="en-US" sz="3000" dirty="0"/>
          </a:p>
        </p:txBody>
      </p:sp>
      <p:sp>
        <p:nvSpPr>
          <p:cNvPr id="3" name="pad"/>
          <p:cNvSpPr/>
          <p:nvPr/>
        </p:nvSpPr>
        <p:spPr>
          <a:xfrm>
            <a:off x="548640" y="14996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lis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641348"/>
            <a:ext cx="283464" cy="2834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3258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Menurunkan </a:t>
            </a:r>
            <a:r>
              <a:rPr lang="en-US" sz="2000" b="1" dirty="0">
                <a:solidFill>
                  <a:schemeClr val="tx1"/>
                </a:solidFill>
              </a:rPr>
              <a:t>kebutuhan</a:t>
            </a:r>
            <a:r>
              <a:rPr lang="en-US" sz="2000" dirty="0">
                <a:solidFill>
                  <a:schemeClr val="tx1"/>
                </a:solidFill>
              </a:rPr>
              <a:t> menjadi diagram blok, tabel pin, dan anggaran daya</a:t>
            </a:r>
            <a:endParaRPr lang="en-US" sz="2000" dirty="0"/>
          </a:p>
        </p:txBody>
      </p:sp>
      <p:sp>
        <p:nvSpPr>
          <p:cNvPr id="6" name="pad"/>
          <p:cNvSpPr/>
          <p:nvPr/>
        </p:nvSpPr>
        <p:spPr>
          <a:xfrm>
            <a:off x="548640" y="24140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7" name="ikon-ch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55574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2402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Memilih pin </a:t>
            </a:r>
            <a:r>
              <a:rPr lang="en-US" sz="2000" b="1" dirty="0">
                <a:solidFill>
                  <a:schemeClr val="tx1"/>
                </a:solidFill>
              </a:rPr>
              <a:t>bebas konflik</a:t>
            </a:r>
            <a:r>
              <a:rPr lang="en-US" sz="2000" dirty="0">
                <a:solidFill>
                  <a:schemeClr val="tx1"/>
                </a:solidFill>
              </a:rPr>
              <a:t>: ADC2, </a:t>
            </a:r>
            <a:r>
              <a:rPr lang="en-US" sz="2000" i="1" dirty="0">
                <a:solidFill>
                  <a:schemeClr val="tx1"/>
                </a:solidFill>
              </a:rPr>
              <a:t>strapping</a:t>
            </a:r>
            <a:r>
              <a:rPr lang="en-US" sz="2000" dirty="0">
                <a:solidFill>
                  <a:schemeClr val="tx1"/>
                </a:solidFill>
              </a:rPr>
              <a:t>, I2C, SPI</a:t>
            </a:r>
            <a:endParaRPr lang="en-US" sz="2000" dirty="0"/>
          </a:p>
        </p:txBody>
      </p:sp>
      <p:sp>
        <p:nvSpPr>
          <p:cNvPr id="9" name="pad"/>
          <p:cNvSpPr/>
          <p:nvPr/>
        </p:nvSpPr>
        <p:spPr>
          <a:xfrm>
            <a:off x="548640" y="33284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sitemap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470148"/>
            <a:ext cx="283464" cy="28346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1546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Menyusun </a:t>
            </a:r>
            <a:r>
              <a:rPr lang="en-US" sz="2000" i="1" dirty="0">
                <a:solidFill>
                  <a:schemeClr val="tx1"/>
                </a:solidFill>
              </a:rPr>
              <a:t>firmware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b="1" dirty="0">
                <a:solidFill>
                  <a:schemeClr val="tx1"/>
                </a:solidFill>
              </a:rPr>
              <a:t>modular</a:t>
            </a:r>
            <a:r>
              <a:rPr lang="en-US" sz="2000" dirty="0">
                <a:solidFill>
                  <a:schemeClr val="tx1"/>
                </a:solidFill>
              </a:rPr>
              <a:t> dengan FSM dan tugas FreeRTOS</a:t>
            </a:r>
            <a:endParaRPr lang="en-US" sz="2000" dirty="0"/>
          </a:p>
        </p:txBody>
      </p:sp>
      <p:sp>
        <p:nvSpPr>
          <p:cNvPr id="12" name="pad"/>
          <p:cNvSpPr/>
          <p:nvPr/>
        </p:nvSpPr>
        <p:spPr>
          <a:xfrm>
            <a:off x="548640" y="42428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3" name="ikon-laye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384548"/>
            <a:ext cx="283464" cy="28346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40690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Mengintegrasikan </a:t>
            </a:r>
            <a:r>
              <a:rPr lang="en-US" sz="2000" b="1" dirty="0">
                <a:solidFill>
                  <a:schemeClr val="tx1"/>
                </a:solidFill>
              </a:rPr>
              <a:t>bertahap</a:t>
            </a:r>
            <a:r>
              <a:rPr lang="en-US" sz="2000" dirty="0">
                <a:solidFill>
                  <a:schemeClr val="tx1"/>
                </a:solidFill>
              </a:rPr>
              <a:t>: uji lalu </a:t>
            </a:r>
            <a:r>
              <a:rPr lang="en-US" sz="2000" i="1" dirty="0">
                <a:solidFill>
                  <a:schemeClr val="tx1"/>
                </a:solidFill>
              </a:rPr>
              <a:t>commit</a:t>
            </a:r>
            <a:r>
              <a:rPr lang="en-US" sz="2000" dirty="0">
                <a:solidFill>
                  <a:schemeClr val="tx1"/>
                </a:solidFill>
              </a:rPr>
              <a:t> setiap tahap</a:t>
            </a:r>
            <a:endParaRPr lang="en-US" sz="2000" dirty="0"/>
          </a:p>
        </p:txBody>
      </p:sp>
      <p:sp>
        <p:nvSpPr>
          <p:cNvPr id="15" name="pad"/>
          <p:cNvSpPr/>
          <p:nvPr/>
        </p:nvSpPr>
        <p:spPr>
          <a:xfrm>
            <a:off x="548640" y="51572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6" name="ikon-bug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5298948"/>
            <a:ext cx="283464" cy="28346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25880" y="49834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Mendiagnosis masalah integrasi dan menyiapkan </a:t>
            </a:r>
            <a:r>
              <a:rPr lang="en-US" sz="2000" b="1" dirty="0">
                <a:solidFill>
                  <a:schemeClr val="tx1"/>
                </a:solidFill>
              </a:rPr>
              <a:t>proyek akhir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Peta Materi Hari Ini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132588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32588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Tujuh langkah perancangan</a:t>
            </a:r>
            <a:endParaRPr lang="en-US" sz="1900" dirty="0"/>
          </a:p>
        </p:txBody>
      </p:sp>
      <p:sp>
        <p:nvSpPr>
          <p:cNvPr id="6" name="kartu"/>
          <p:cNvSpPr/>
          <p:nvPr/>
        </p:nvSpPr>
        <p:spPr>
          <a:xfrm>
            <a:off x="548640" y="219456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9456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Kebutuhan &amp; diagram blok</a:t>
            </a:r>
            <a:endParaRPr lang="en-US" sz="1900" dirty="0"/>
          </a:p>
        </p:txBody>
      </p:sp>
      <p:sp>
        <p:nvSpPr>
          <p:cNvPr id="9" name="kartu"/>
          <p:cNvSpPr/>
          <p:nvPr/>
        </p:nvSpPr>
        <p:spPr>
          <a:xfrm>
            <a:off x="548640" y="306324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06324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Alokasi pin &amp; anggaran daya</a:t>
            </a:r>
            <a:endParaRPr lang="en-US" sz="1900" dirty="0"/>
          </a:p>
        </p:txBody>
      </p:sp>
      <p:sp>
        <p:nvSpPr>
          <p:cNvPr id="12" name="kartu"/>
          <p:cNvSpPr/>
          <p:nvPr/>
        </p:nvSpPr>
        <p:spPr>
          <a:xfrm>
            <a:off x="6278728" y="132588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1608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193128" y="132588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Arsitektur: modul, FSM, tugas</a:t>
            </a:r>
            <a:endParaRPr lang="en-US" sz="1900" dirty="0"/>
          </a:p>
        </p:txBody>
      </p:sp>
      <p:sp>
        <p:nvSpPr>
          <p:cNvPr id="15" name="kartu"/>
          <p:cNvSpPr/>
          <p:nvPr/>
        </p:nvSpPr>
        <p:spPr>
          <a:xfrm>
            <a:off x="6278728" y="219456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7193128" y="219456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Integrasi bertahap &amp; masalah umum</a:t>
            </a:r>
            <a:endParaRPr lang="en-US" sz="1900" dirty="0"/>
          </a:p>
        </p:txBody>
      </p:sp>
      <p:sp>
        <p:nvSpPr>
          <p:cNvPr id="18" name="kartu"/>
          <p:cNvSpPr/>
          <p:nvPr/>
        </p:nvSpPr>
        <p:spPr>
          <a:xfrm>
            <a:off x="6278728" y="306324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61608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06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193128" y="306324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Praktikum &amp; persiapan proyek akhir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Merancang Sistem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Kebutuhan, diagram blok, pin, dan daya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Dari Ide ke Sistem: Tujuh Langkah</a:t>
            </a:r>
            <a:endParaRPr lang="en-US" sz="3000" dirty="0"/>
          </a:p>
        </p:txBody>
      </p:sp>
      <p:pic>
        <p:nvPicPr>
          <p:cNvPr id="3" name="gambar" descr="/home/claude/work/slides/img/p15/p15-proses-perancang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5970" y="1280160"/>
            <a:ext cx="8959755" cy="4617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710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Ikon: Font Awesome Free (CC BY 4.0)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Kebutuhan yang Bisa Diuji</a:t>
            </a:r>
            <a:endParaRPr lang="en-US" sz="3000" dirty="0"/>
          </a:p>
        </p:txBody>
      </p:sp>
      <p:graphicFrame>
        <p:nvGraphicFramePr>
          <p:cNvPr id="7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76072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Kode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Kebutuhan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Cara menguji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F1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Baca suhu &amp; kelembapan tiap 2,5 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Baris [DATA] tiap 2,5 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F3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Alarm hijau / kuning / merah + bip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Ubah suhu DHT22 di Wokwi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F4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Ambang diatur potensio dan tersimpan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Ubah ambang, lalu restart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F5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Kirim MQTT tiap 10 s &amp; segera saat berubah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Pantau di MQTTX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N1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Alarm bereaksi ≤ 3 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Bacaan 2,5 s, keputusan langsung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N2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Wi-Fi putus tidak menghentikan alarm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Pakai alamat broker yang salah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Diagram Blok Stasiun Monitor Mini</a:t>
            </a:r>
            <a:endParaRPr lang="en-US" sz="3000" dirty="0"/>
          </a:p>
        </p:txBody>
      </p:sp>
      <p:pic>
        <p:nvPicPr>
          <p:cNvPr id="3" name="gambar" descr="/home/claude/work/slides/img/p15/p15-diagram-blok-stasi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2883" y="1280160"/>
            <a:ext cx="8245929" cy="4617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710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Ikon: Font Awesome Free (CC BY 4.0)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Alokasi Pin Tanpa Konflik</a:t>
            </a:r>
            <a:endParaRPr lang="en-US" sz="3000" dirty="0"/>
          </a:p>
        </p:txBody>
      </p:sp>
      <p:pic>
        <p:nvPicPr>
          <p:cNvPr id="3" name="gambar" descr="/home/claude/work/slides/img/p15/p15-alokasi-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9116" y="1280160"/>
            <a:ext cx="7213464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Empat Jebakan Saat Memilih Pin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1325880"/>
            <a:ext cx="5387188" cy="2156460"/>
          </a:xfrm>
          <a:prstGeom prst="roundRect">
            <a:avLst>
              <a:gd name="adj" fmla="val 508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wif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373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28600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ADC2 vs Wi-Fi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43200"/>
            <a:ext cx="4838548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analogRead()</a:t>
            </a:r>
            <a:r>
              <a:rPr lang="en-US" sz="1500" dirty="0">
                <a:solidFill>
                  <a:schemeClr val="tx1"/>
                </a:solidFill>
              </a:rPr>
              <a:t> di ADC2 gagal saat Wi-Fi aktif → analog di GPIO 32–39.</a:t>
            </a:r>
            <a:endParaRPr lang="en-US" sz="1500" dirty="0"/>
          </a:p>
        </p:txBody>
      </p:sp>
      <p:sp>
        <p:nvSpPr>
          <p:cNvPr id="8" name="kartu"/>
          <p:cNvSpPr/>
          <p:nvPr/>
        </p:nvSpPr>
        <p:spPr>
          <a:xfrm>
            <a:off x="6255868" y="1325880"/>
            <a:ext cx="5387188" cy="2156460"/>
          </a:xfrm>
          <a:prstGeom prst="roundRect">
            <a:avLst>
              <a:gd name="adj" fmla="val 5088"/>
            </a:avLst>
          </a:prstGeom>
          <a:solidFill>
            <a:srgbClr val="FBEDEB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6530188" y="160020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powe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48" y="17373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530188" y="228600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Pin strapping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6530188" y="2743200"/>
            <a:ext cx="4838548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GPIO 0, 2, 5, 12, 15 dibaca saat boot. GPIO 12 harus LOW.</a:t>
            </a:r>
            <a:endParaRPr lang="en-US" sz="1500" dirty="0"/>
          </a:p>
        </p:txBody>
      </p:sp>
      <p:sp>
        <p:nvSpPr>
          <p:cNvPr id="13" name="kartu"/>
          <p:cNvSpPr/>
          <p:nvPr/>
        </p:nvSpPr>
        <p:spPr>
          <a:xfrm>
            <a:off x="548640" y="3802380"/>
            <a:ext cx="5387188" cy="2156460"/>
          </a:xfrm>
          <a:prstGeom prst="roundRect">
            <a:avLst>
              <a:gd name="adj" fmla="val 508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pad"/>
          <p:cNvSpPr/>
          <p:nvPr/>
        </p:nvSpPr>
        <p:spPr>
          <a:xfrm>
            <a:off x="822960" y="407670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5" name="ikon-sitemap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2138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2960" y="476250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I2C bersama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5219700"/>
            <a:ext cx="4838548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Alamat harus unik; pull-up paralel total ≥ ±967 Ω.</a:t>
            </a:r>
            <a:endParaRPr lang="en-US" sz="1500" dirty="0"/>
          </a:p>
        </p:txBody>
      </p:sp>
      <p:sp>
        <p:nvSpPr>
          <p:cNvPr id="18" name="kartu"/>
          <p:cNvSpPr/>
          <p:nvPr/>
        </p:nvSpPr>
        <p:spPr>
          <a:xfrm>
            <a:off x="6255868" y="3802380"/>
            <a:ext cx="5387188" cy="2156460"/>
          </a:xfrm>
          <a:prstGeom prst="roundRect">
            <a:avLst>
              <a:gd name="adj" fmla="val 508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pad"/>
          <p:cNvSpPr/>
          <p:nvPr/>
        </p:nvSpPr>
        <p:spPr>
          <a:xfrm>
            <a:off x="6530188" y="407670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20" name="ikon-plu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348" y="42138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530188" y="476250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Pin SPI bawaan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6530188" y="5219700"/>
            <a:ext cx="4838548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GPIO 18, 19, 23, 5 = VSPI. Pindahkan bila menambah modul SPI.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Anggaran Daya: Biasa vs Puncak</a:t>
            </a:r>
            <a:endParaRPr lang="en-US" sz="3000" dirty="0"/>
          </a:p>
        </p:txBody>
      </p:sp>
      <p:pic>
        <p:nvPicPr>
          <p:cNvPr id="3" name="gambar" descr="/home/claude/work/slides/img/p15/p15-anggaran-day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727" y="1280160"/>
            <a:ext cx="10510242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Arsitektur dan Integrasi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Modul, FSM, tugas, lalu gabungkan bertahap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Arsitektur: Modul dan Aliran Data</a:t>
            </a:r>
            <a:endParaRPr lang="en-US" sz="3000" dirty="0"/>
          </a:p>
        </p:txBody>
      </p:sp>
      <p:pic>
        <p:nvPicPr>
          <p:cNvPr id="3" name="gambar" descr="/home/claude/work/slides/img/p15/p15-arsitektur-perangkat-luna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9757" y="1280160"/>
            <a:ext cx="7412182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loop() Tanpa delay()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3478403"/>
          </a:xfrm>
          <a:prstGeom prst="roundRect">
            <a:avLst>
              <a:gd name="adj" fmla="val 2629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kode/02-stasiun-monitor-mini/src/main.cpp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291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mulai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tanganiTombol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3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tombol → halaman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tanganiSensor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3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DHT22 tiap 2,5 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tanganiAmbang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3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potensio (hal. 3)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alarmJalankanKeluaran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LED + buzzer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ledJaringan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3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LED biru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segarkanLayar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3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OLED tiap 250 ms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kedipDetak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r>
              <a:rPr lang="en-US" sz="13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LED detak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layaniPerintahSerial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3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status/restart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durasi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mulai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durasi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loopTerlamaUs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loopTerlamaUs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durasi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Tiap modul selesai dalam hitungan milidetik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Tidak ada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delay()</a:t>
            </a:r>
            <a:r>
              <a:rPr lang="en-US" sz="1700" dirty="0">
                <a:solidFill>
                  <a:schemeClr val="tx1"/>
                </a:solidFill>
              </a:rPr>
              <a:t> di jalur utama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Ukur </a:t>
            </a:r>
            <a:r>
              <a:rPr lang="en-US" sz="1700" b="1" dirty="0">
                <a:solidFill>
                  <a:schemeClr val="tx1"/>
                </a:solidFill>
              </a:rPr>
              <a:t>loop() terlama</a:t>
            </a:r>
            <a:r>
              <a:rPr lang="en-US" sz="1700" dirty="0">
                <a:solidFill>
                  <a:schemeClr val="tx1"/>
                </a:solidFill>
              </a:rPr>
              <a:t> untuk mendeteksi kode memblokir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Ketik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r>
              <a:rPr lang="en-US" sz="1700" dirty="0">
                <a:solidFill>
                  <a:schemeClr val="tx1"/>
                </a:solidFill>
              </a:rPr>
              <a:t> di Serial Monitor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Dua FSM yang Berjalan Bersamaan</a:t>
            </a:r>
            <a:endParaRPr lang="en-US" sz="3000" dirty="0"/>
          </a:p>
        </p:txBody>
      </p:sp>
      <p:pic>
        <p:nvPicPr>
          <p:cNvPr id="3" name="gambar" descr="/home/claude/work/slides/img/p15/p15-fsm-alarm-jaring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4080" y="1280160"/>
            <a:ext cx="8323535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Jaringan di Tugas Sendiri + Kotak Surat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3462528"/>
          </a:xfrm>
          <a:prstGeom prst="roundRect">
            <a:avLst>
              <a:gd name="adj" fmla="val 2641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kode/02-stasiun-monitor-mini/src/jaringan.cpp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loop() → tugas jaringan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kotakData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xQueueCreate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sizeof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PaketData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xTaskCreatePinnedToCore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tugasJaringan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0A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"Jaringan"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</a:t>
            </a:r>
            <a:r>
              <a:rPr lang="en-US" sz="12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8192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nullptr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tugas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jaringanKirim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PaketData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paket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xQueueOverwrite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kotakData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paket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tak menunggu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InfoJaringan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jaringanInfo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InfoJaringan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KeadaanJaringan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2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WIFI_MULAI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0A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"-"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xQueuePeek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kotakInfo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intip saja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mqtt.connect()</a:t>
            </a:r>
            <a:r>
              <a:rPr lang="en-US" sz="1700" dirty="0">
                <a:solidFill>
                  <a:schemeClr val="tx1"/>
                </a:solidFill>
              </a:rPr>
              <a:t> bisa menunggu beberapa detik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Tugas terpisah di inti 0 →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loop()</a:t>
            </a:r>
            <a:r>
              <a:rPr lang="en-US" sz="1700" dirty="0">
                <a:solidFill>
                  <a:schemeClr val="tx1"/>
                </a:solidFill>
              </a:rPr>
              <a:t> tetap jalan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Antrean 1 slot = kotak surat: selalu data terbaru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Satu perangkat keras, satu pemilik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Integrasi Bertahap + Commit per Tahap</a:t>
            </a:r>
            <a:endParaRPr lang="en-US" sz="3000" dirty="0"/>
          </a:p>
        </p:txBody>
      </p:sp>
      <p:pic>
        <p:nvPicPr>
          <p:cNvPr id="3" name="gambar" descr="/home/claude/work/slides/img/p15/p15-integrasi-bertah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381" y="1280160"/>
            <a:ext cx="9028933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Masalah Integrasi yang Sering Muncul</a:t>
            </a:r>
            <a:endParaRPr lang="en-US" sz="3000" dirty="0"/>
          </a:p>
        </p:txBody>
      </p:sp>
      <p:graphicFrame>
        <p:nvGraphicFramePr>
          <p:cNvPr id="18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48056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Masalah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Gejala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Perbaikan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Konflik pin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analogRead() kacau setelah Wi-Fi nyala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Pindah ke ADC1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Kode memblokir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Tombol telat, LED detak tak teratur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millis(), FSM, tugas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Library bentrok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multiple definition; timer sama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Kunci versi, pisahkan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Catu kurang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Reset acak, Brownout detector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Kabel bagus, 5 V 1 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GND tidak bersama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Bacaan ngawur, servo bergetar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Satukan semua GND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Kabel longgar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Nilai berubah saat disentuh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Jalankan program uji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Praktikum dan Proyek Akhir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Uji kit, jalankan stasiun monitor, siapkan konsultasi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Praktikum 1: Uji Kit Sebelum Merakit</a:t>
            </a:r>
            <a:endParaRPr lang="en-US" sz="3000" dirty="0"/>
          </a:p>
        </p:txBody>
      </p:sp>
      <p:sp>
        <p:nvSpPr>
          <p:cNvPr id="3" name="daftar-poin"/>
          <p:cNvSpPr txBox="1"/>
          <p:nvPr/>
        </p:nvSpPr>
        <p:spPr>
          <a:xfrm>
            <a:off x="548640" y="1325880"/>
            <a:ext cx="540333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Enam uji: LED, buzzer, tombol, potensio, I2C, DHT22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LULUS</a:t>
            </a:r>
            <a:r>
              <a:rPr lang="en-US" sz="2000" dirty="0">
                <a:solidFill>
                  <a:schemeClr val="tx1"/>
                </a:solidFill>
              </a:rPr>
              <a:t> = terbukti jalan; </a:t>
            </a:r>
            <a:r>
              <a:rPr lang="en-US" sz="2000" b="1" dirty="0">
                <a:solidFill>
                  <a:schemeClr val="tx1"/>
                </a:solidFill>
              </a:rPr>
              <a:t>GAGAL</a:t>
            </a:r>
            <a:r>
              <a:rPr lang="en-US" sz="2000" dirty="0">
                <a:solidFill>
                  <a:schemeClr val="tx1"/>
                </a:solidFill>
              </a:rPr>
              <a:t> = ada petunjuk perbaikan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PERIKSA</a:t>
            </a:r>
            <a:r>
              <a:rPr lang="en-US" sz="2000" dirty="0">
                <a:solidFill>
                  <a:schemeClr val="tx1"/>
                </a:solidFill>
              </a:rPr>
              <a:t> = butuh mata/telingamu</a:t>
            </a:r>
            <a:endParaRPr lang="en-US" sz="2000" dirty="0"/>
          </a:p>
          <a:p>
            <a:pPr lvl="1" marL="558800" indent="-2794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Rangkaian sama dengan Praktikum 2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Tujuan: masalah kabel tidak tertukar dengan masalah kode</a:t>
            </a:r>
            <a:endParaRPr lang="en-US" sz="2000" dirty="0"/>
          </a:p>
        </p:txBody>
      </p:sp>
      <p:pic>
        <p:nvPicPr>
          <p:cNvPr id="4" name="gambar" descr="/home/claude/repo/pertemuan-15-integrasi-sistem/gambar/p15-wiring-stasiun-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4845" y="1325880"/>
            <a:ext cx="5211100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17736" y="5897880"/>
            <a:ext cx="53253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Gambar komponen: @wokwi/elements (MIT)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Praktikum 2: Tiga Halaman OLED</a:t>
            </a:r>
            <a:endParaRPr lang="en-US" sz="3000" dirty="0"/>
          </a:p>
        </p:txBody>
      </p:sp>
      <p:pic>
        <p:nvPicPr>
          <p:cNvPr id="3" name="gambar" descr="/home/claude/work/slides/img/p15/p15-halaman-o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255" y="1280160"/>
            <a:ext cx="10141185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33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Ganti NIM di konfigurasi.h → ▶ → ubah suhu DHT22 → amati LED, bip, dan halaman.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Praktikum 2: Data Masuk di MQTTX</a:t>
            </a:r>
            <a:endParaRPr lang="en-US" sz="3000" dirty="0"/>
          </a:p>
        </p:txBody>
      </p:sp>
      <p:pic>
        <p:nvPicPr>
          <p:cNvPr id="3" name="gambar" descr="/home/claude/work/slides/img/p15/p15-mqttx-ilustra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6599" y="1280160"/>
            <a:ext cx="9678496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Jadwal Proyek Akhir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2442210"/>
            <a:ext cx="3515258" cy="2339340"/>
          </a:xfrm>
          <a:prstGeom prst="roundRect">
            <a:avLst>
              <a:gd name="adj" fmla="val 469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nomor"/>
          <p:cNvSpPr/>
          <p:nvPr/>
        </p:nvSpPr>
        <p:spPr>
          <a:xfrm>
            <a:off x="777240" y="2670810"/>
            <a:ext cx="548640" cy="54864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67081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5661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P14 · Proposal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042410"/>
            <a:ext cx="3058058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Kebutuhan, diagram blok, komponen, pembagian tugas.</a:t>
            </a:r>
            <a:endParaRPr lang="en-US" sz="1500" dirty="0"/>
          </a:p>
        </p:txBody>
      </p:sp>
      <p:sp>
        <p:nvSpPr>
          <p:cNvPr id="8" name="kartu"/>
          <p:cNvSpPr/>
          <p:nvPr/>
        </p:nvSpPr>
        <p:spPr>
          <a:xfrm>
            <a:off x="4338218" y="2442210"/>
            <a:ext cx="3515258" cy="2339340"/>
          </a:xfrm>
          <a:prstGeom prst="roundRect">
            <a:avLst>
              <a:gd name="adj" fmla="val 469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nomor"/>
          <p:cNvSpPr/>
          <p:nvPr/>
        </p:nvSpPr>
        <p:spPr>
          <a:xfrm>
            <a:off x="4566818" y="2670810"/>
            <a:ext cx="548640" cy="54864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6818" y="267081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335661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P15 · Kemajuan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4042410"/>
            <a:ext cx="3058058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Tabel pin, anggaran daya, tahap 1–3 jalan, repo Git.</a:t>
            </a:r>
            <a:endParaRPr lang="en-US" sz="1500" dirty="0"/>
          </a:p>
        </p:txBody>
      </p:sp>
      <p:sp>
        <p:nvSpPr>
          <p:cNvPr id="13" name="kartu"/>
          <p:cNvSpPr/>
          <p:nvPr/>
        </p:nvSpPr>
        <p:spPr>
          <a:xfrm>
            <a:off x="8127797" y="2442210"/>
            <a:ext cx="3515258" cy="2339340"/>
          </a:xfrm>
          <a:prstGeom prst="roundRect">
            <a:avLst>
              <a:gd name="adj" fmla="val 469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nomor"/>
          <p:cNvSpPr/>
          <p:nvPr/>
        </p:nvSpPr>
        <p:spPr>
          <a:xfrm>
            <a:off x="8356397" y="2670810"/>
            <a:ext cx="548640" cy="54864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6397" y="267081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356397" y="335661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P16 · Demo (UAS)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56397" y="4042410"/>
            <a:ext cx="3058058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Alat berjalan, slide, laporan, video demo.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Kuis Cepat</a:t>
            </a:r>
            <a:endParaRPr lang="en-US" sz="3000" dirty="0"/>
          </a:p>
        </p:txBody>
      </p:sp>
      <p:sp>
        <p:nvSpPr>
          <p:cNvPr id="3" name="pad"/>
          <p:cNvSpPr/>
          <p:nvPr/>
        </p:nvSpPr>
        <p:spPr>
          <a:xfrm>
            <a:off x="548640" y="1371600"/>
            <a:ext cx="685800" cy="685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ques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543050"/>
            <a:ext cx="342900" cy="342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Pada proyek ber-Wi-Fi, potensiometer sebaiknya dipasang di …</a:t>
            </a:r>
            <a:endParaRPr lang="en-US" sz="2200" dirty="0"/>
          </a:p>
        </p:txBody>
      </p:sp>
      <p:sp>
        <p:nvSpPr>
          <p:cNvPr id="6" name="kartu"/>
          <p:cNvSpPr/>
          <p:nvPr/>
        </p:nvSpPr>
        <p:spPr>
          <a:xfrm>
            <a:off x="548640" y="251460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51460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A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51460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GPIO 26</a:t>
            </a:r>
            <a:endParaRPr lang="en-US" sz="1800" dirty="0"/>
          </a:p>
        </p:txBody>
      </p:sp>
      <p:sp>
        <p:nvSpPr>
          <p:cNvPr id="9" name="kartu"/>
          <p:cNvSpPr/>
          <p:nvPr/>
        </p:nvSpPr>
        <p:spPr>
          <a:xfrm>
            <a:off x="6233008" y="251460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15888" y="251460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B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010248" y="251460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GPIO 34</a:t>
            </a:r>
            <a:endParaRPr lang="en-US" sz="1800" dirty="0"/>
          </a:p>
        </p:txBody>
      </p:sp>
      <p:sp>
        <p:nvSpPr>
          <p:cNvPr id="12" name="kartu"/>
          <p:cNvSpPr/>
          <p:nvPr/>
        </p:nvSpPr>
        <p:spPr>
          <a:xfrm>
            <a:off x="548640" y="393192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9319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C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93192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GPIO 12</a:t>
            </a:r>
            <a:endParaRPr lang="en-US" sz="1800" dirty="0"/>
          </a:p>
        </p:txBody>
      </p:sp>
      <p:sp>
        <p:nvSpPr>
          <p:cNvPr id="15" name="kartu"/>
          <p:cNvSpPr/>
          <p:nvPr/>
        </p:nvSpPr>
        <p:spPr>
          <a:xfrm>
            <a:off x="6233008" y="393192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15888" y="39319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D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010248" y="393192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GPIO 1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Rangkuman</a:t>
            </a:r>
            <a:endParaRPr lang="en-US" sz="3200" dirty="0"/>
          </a:p>
        </p:txBody>
      </p:sp>
      <p:sp>
        <p:nvSpPr>
          <p:cNvPr id="3" name="pad"/>
          <p:cNvSpPr/>
          <p:nvPr/>
        </p:nvSpPr>
        <p:spPr>
          <a:xfrm>
            <a:off x="548640" y="158496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03832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1732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Integrasi = menggabungkan bagian teruji; masalah muncul di </a:t>
            </a:r>
            <a:r>
              <a:rPr lang="en-US" sz="2000" b="1" dirty="0">
                <a:solidFill>
                  <a:schemeClr val="bg1"/>
                </a:solidFill>
              </a:rPr>
              <a:t>sambungan</a:t>
            </a:r>
            <a:endParaRPr lang="en-US" sz="2000" dirty="0"/>
          </a:p>
        </p:txBody>
      </p:sp>
      <p:sp>
        <p:nvSpPr>
          <p:cNvPr id="6" name="pad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7" name="ikon-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49631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220980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Kebutuhan → diagram blok → </a:t>
            </a:r>
            <a:r>
              <a:rPr lang="en-US" sz="2000" b="1" dirty="0">
                <a:solidFill>
                  <a:schemeClr val="bg1"/>
                </a:solidFill>
              </a:rPr>
              <a:t>pin</a:t>
            </a:r>
            <a:r>
              <a:rPr lang="en-US" sz="2000" dirty="0">
                <a:solidFill>
                  <a:schemeClr val="bg1"/>
                </a:solidFill>
              </a:rPr>
              <a:t> → </a:t>
            </a:r>
            <a:r>
              <a:rPr lang="en-US" sz="2000" b="1" dirty="0">
                <a:solidFill>
                  <a:schemeClr val="bg1"/>
                </a:solidFill>
              </a:rPr>
              <a:t>daya</a:t>
            </a:r>
            <a:r>
              <a:rPr lang="en-US" sz="2000" dirty="0">
                <a:solidFill>
                  <a:schemeClr val="bg1"/>
                </a:solidFill>
              </a:rPr>
              <a:t> → arsitektur → integrasi → dokumentasi</a:t>
            </a:r>
            <a:endParaRPr lang="en-US" sz="2000" dirty="0"/>
          </a:p>
        </p:txBody>
      </p:sp>
      <p:sp>
        <p:nvSpPr>
          <p:cNvPr id="9" name="pad"/>
          <p:cNvSpPr/>
          <p:nvPr/>
        </p:nvSpPr>
        <p:spPr>
          <a:xfrm>
            <a:off x="548640" y="31699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28879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300228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Analog di </a:t>
            </a:r>
            <a:r>
              <a:rPr lang="en-US" sz="2000" b="1" dirty="0">
                <a:solidFill>
                  <a:schemeClr val="bg1"/>
                </a:solidFill>
              </a:rPr>
              <a:t>ADC1</a:t>
            </a:r>
            <a:r>
              <a:rPr lang="en-US" sz="2000" dirty="0">
                <a:solidFill>
                  <a:schemeClr val="bg1"/>
                </a:solidFill>
              </a:rPr>
              <a:t>, jauhi </a:t>
            </a:r>
            <a:r>
              <a:rPr lang="en-US" sz="2000" i="1" dirty="0">
                <a:solidFill>
                  <a:schemeClr val="bg1"/>
                </a:solidFill>
              </a:rPr>
              <a:t>strapping</a:t>
            </a:r>
            <a:r>
              <a:rPr lang="en-US" sz="2000" dirty="0">
                <a:solidFill>
                  <a:schemeClr val="bg1"/>
                </a:solidFill>
              </a:rPr>
              <a:t>, alamat I2C unik</a:t>
            </a:r>
            <a:endParaRPr lang="en-US" sz="2000" dirty="0"/>
          </a:p>
        </p:txBody>
      </p:sp>
      <p:sp>
        <p:nvSpPr>
          <p:cNvPr id="12" name="pad"/>
          <p:cNvSpPr/>
          <p:nvPr/>
        </p:nvSpPr>
        <p:spPr>
          <a:xfrm>
            <a:off x="548640" y="396240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3" name="ikon-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081272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0160" y="379476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Catu dengan cadangan: puncak ±479 mA → </a:t>
            </a:r>
            <a:r>
              <a:rPr lang="en-US" sz="2000" b="1" dirty="0">
                <a:solidFill>
                  <a:schemeClr val="bg1"/>
                </a:solidFill>
              </a:rPr>
              <a:t>5 V 1 A</a:t>
            </a:r>
            <a:endParaRPr lang="en-US" sz="2000" dirty="0"/>
          </a:p>
        </p:txBody>
      </p:sp>
      <p:sp>
        <p:nvSpPr>
          <p:cNvPr id="15" name="pad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6" name="ikon-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873752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80160" y="458724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loop()</a:t>
            </a:r>
            <a:r>
              <a:rPr lang="en-US" sz="2000" dirty="0">
                <a:solidFill>
                  <a:schemeClr val="bg1"/>
                </a:solidFill>
              </a:rPr>
              <a:t> tanpa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delay()</a:t>
            </a:r>
            <a:r>
              <a:rPr lang="en-US" sz="2000" dirty="0">
                <a:solidFill>
                  <a:schemeClr val="bg1"/>
                </a:solidFill>
              </a:rPr>
              <a:t>, FSM + histeresis, jaringan di </a:t>
            </a:r>
            <a:r>
              <a:rPr lang="en-US" sz="2000" b="1" dirty="0">
                <a:solidFill>
                  <a:schemeClr val="bg1"/>
                </a:solidFill>
              </a:rPr>
              <a:t>tugas terpisah</a:t>
            </a:r>
            <a:endParaRPr lang="en-US" sz="2000" dirty="0"/>
          </a:p>
        </p:txBody>
      </p:sp>
      <p:sp>
        <p:nvSpPr>
          <p:cNvPr id="18" name="pad"/>
          <p:cNvSpPr/>
          <p:nvPr/>
        </p:nvSpPr>
        <p:spPr>
          <a:xfrm>
            <a:off x="548640" y="554736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9" name="ikon-check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5666232"/>
            <a:ext cx="219456" cy="21945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280160" y="537972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Satu bagian per tahap: </a:t>
            </a:r>
            <a:r>
              <a:rPr lang="en-US" sz="2000" b="1" dirty="0">
                <a:solidFill>
                  <a:schemeClr val="bg1"/>
                </a:solidFill>
              </a:rPr>
              <a:t>uji → commit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Sebelum Pertemuan 16</a:t>
            </a:r>
            <a:endParaRPr lang="en-US" sz="3200" dirty="0"/>
          </a:p>
        </p:txBody>
      </p:sp>
      <p:sp>
        <p:nvSpPr>
          <p:cNvPr id="3" name="kartu"/>
          <p:cNvSpPr/>
          <p:nvPr/>
        </p:nvSpPr>
        <p:spPr>
          <a:xfrm>
            <a:off x="548640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task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431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Bawa saat konsultasi</a:t>
            </a:r>
            <a:endParaRPr lang="en-US" sz="2100" dirty="0"/>
          </a:p>
        </p:txBody>
      </p:sp>
      <p:sp>
        <p:nvSpPr>
          <p:cNvPr id="7" name="daftar-poin"/>
          <p:cNvSpPr txBox="1"/>
          <p:nvPr/>
        </p:nvSpPr>
        <p:spPr>
          <a:xfrm>
            <a:off x="822960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Tabel pin &amp; anggaran daya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Tahap 1–3 integrasi berjalan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Repo Git + README singkat</a:t>
            </a:r>
            <a:endParaRPr lang="en-US" sz="1600" dirty="0"/>
          </a:p>
        </p:txBody>
      </p:sp>
      <p:sp>
        <p:nvSpPr>
          <p:cNvPr id="8" name="kartu"/>
          <p:cNvSpPr/>
          <p:nvPr/>
        </p:nvSpPr>
        <p:spPr>
          <a:xfrm>
            <a:off x="4353458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4627778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flas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798" y="19431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27778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Tugas</a:t>
            </a:r>
            <a:endParaRPr lang="en-US" sz="2100" dirty="0"/>
          </a:p>
        </p:txBody>
      </p:sp>
      <p:sp>
        <p:nvSpPr>
          <p:cNvPr id="12" name="daftar-poin"/>
          <p:cNvSpPr txBox="1"/>
          <p:nvPr/>
        </p:nvSpPr>
        <p:spPr>
          <a:xfrm>
            <a:off x="4627778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Jalankan Praktikum 1 dan 2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Tantangan: bisukan alarm</a:t>
            </a:r>
            <a:endParaRPr lang="en-US" sz="1600" dirty="0"/>
          </a:p>
        </p:txBody>
      </p:sp>
      <p:sp>
        <p:nvSpPr>
          <p:cNvPr id="13" name="kartu"/>
          <p:cNvSpPr/>
          <p:nvPr/>
        </p:nvSpPr>
        <p:spPr>
          <a:xfrm>
            <a:off x="8158277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14" name="pad"/>
          <p:cNvSpPr/>
          <p:nvPr/>
        </p:nvSpPr>
        <p:spPr>
          <a:xfrm>
            <a:off x="8432597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5" name="ikon-boo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617" y="19431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32597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Persiapan UAS</a:t>
            </a:r>
            <a:endParaRPr lang="en-US" sz="2100" dirty="0"/>
          </a:p>
        </p:txBody>
      </p:sp>
      <p:sp>
        <p:nvSpPr>
          <p:cNvPr id="17" name="daftar-poin"/>
          <p:cNvSpPr txBox="1"/>
          <p:nvPr/>
        </p:nvSpPr>
        <p:spPr>
          <a:xfrm>
            <a:off x="8432597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Baca ketentuan proyek akhir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Latih demo dan presentasi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stem Tertanam PCB">
  <a:themeElements>
    <a:clrScheme name="Sistem Tertanam PCB">
      <a:dk1>
        <a:srgbClr val="13261D"/>
      </a:dk1>
      <a:lt1>
        <a:srgbClr val="FFFFFF"/>
      </a:lt1>
      <a:dk2>
        <a:srgbClr val="0F3D2C"/>
      </a:dk2>
      <a:lt2>
        <a:srgbClr val="EEF5F1"/>
      </a:lt2>
      <a:accent1>
        <a:srgbClr val="1F6F50"/>
      </a:accent1>
      <a:accent2>
        <a:srgbClr val="C27C2C"/>
      </a:accent2>
      <a:accent3>
        <a:srgbClr val="1F6FD1"/>
      </a:accent3>
      <a:accent4>
        <a:srgbClr val="C0392B"/>
      </a:accent4>
      <a:accent5>
        <a:srgbClr val="5F6F67"/>
      </a:accent5>
      <a:accent6>
        <a:srgbClr val="D9A441"/>
      </a:accent6>
      <a:hlink>
        <a:srgbClr val="1F6FD1"/>
      </a:hlink>
      <a:folHlink>
        <a:srgbClr val="7B3FBF"/>
      </a:folHlink>
    </a:clrScheme>
    <a:fontScheme name="Sistem Tertanam PCB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Sistem Tertanam (Embedded Systems)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15: Integrasi Sistem dan Persiapan Proyek Akhir</dc:title>
  <dc:subject>Sistem Tertanam — Pertemuan 15</dc:subject>
  <dc:creator>Anton Prafanto</dc:creator>
  <cp:lastModifiedBy>Anton Prafanto</cp:lastModifiedBy>
  <cp:revision>1</cp:revision>
  <dcterms:created xsi:type="dcterms:W3CDTF">2026-10-16T11:52:04Z</dcterms:created>
  <dcterms:modified xsi:type="dcterms:W3CDTF">2026-10-16T11:52:04Z</dcterms:modified>
</cp:coreProperties>
</file>