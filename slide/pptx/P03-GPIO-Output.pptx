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26fd6ebc-9065-e34c-75c4-f8e2d41070b4}">
          <p14:sldIdLst>
            <p14:sldId id="256"/>
            <p14:sldId id="257"/>
            <p14:sldId id="258"/>
          </p14:sldIdLst>
        </p14:section>
        <p14:section name="Konsep" id="{7a111de9-671e-3605-8652-0a51ee6ea954}">
          <p14:sldIdLst>
            <p14:sldId id="259"/>
            <p14:sldId id="260"/>
            <p14:sldId id="261"/>
          </p14:sldIdLst>
        </p14:section>
        <p14:section name="LED" id="{b071e485-c671-8c2c-a88f-e2208ad90dcf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angkaian" id="{df987b3a-4d1b-40cc-730c-33ae55c64b92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Penutup" id="{e6fbe666-503a-2a28-3753-760543d6c5f8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kalau LED langsung ditancapkan ke pin 3,3 V tanpa resistor, apa yang terjadi? Kumpulkan tebakan, jawabannya muncul di bagian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setiap mahasiswa minimal menjalankan Praktikum 1 dan 2 (Wokwi atau board), Praktikum 3 boleh dilanjutkan di rumah.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1–3 sekitar 50 menit teori, bagian 4 dan praktikum sisanya.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dari datasheet ESP32-WROOM-32E: V_OH ≥ 0,8 × VDD = 2,64 V, V_OL ≤ 0,1 × VDD = 0,33 V. Batas maksimum mutlak catu cip 3,6 V. Tekankan perbedaan dengan Arduino Uno (5 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Arduino-ESP32 3.x, digitalWrite() hanya bekerja bila pin sudah didaftarkan sebagai GPIO lewat pinMode(); kalau tidak, perintah diabaikan (dicek di esp32-hal-gpio.c).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Bagikan LED, minta mahasiswa menunjuk anoda dan sisi rata. Analogi: pintu putar satu arah di stasiun.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datasheet Kingbright seri WP7113. LED biru hampir tidak menyisakan tegangan untuk resistor di 3,3 V, jadi praktikum memakai merah/kuning/hijau.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selang air: tegangan = tekanan, arus = aliran, resistor = bagian selang yang dipersempit. Datasheet WROOM-32E: I_OH tipikal 40 mA, I_OL tipikal 28 mA pada driver maksimum; itu kemampuan, bukan target desain.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 bantu: 100 Ω → 13 mA (terlalu besar), 150 Ω → 8,7 mA, 220 Ω → 5,9 mA, 330 Ω → 3,9 mA, 1 kΩ → 1,3 mA. Daya P = I²R jauh di bawah resistor ¼ W (250 mW).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Tegangan 3,3 V terbagi: ±2,0 V di LED, ±1,3 V di resistor. Arus sama di seluruh rangkaian seri: ±5,9 mA. Program Praktikum 1 menghitung angka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cepat: bagikan resistor 220 Ω dan 10 kΩ, minta mahasiswa membaca gelangnya. Ingatkan 220 kΩ = merah-merah-kuning. Merah sampai ungu mengikuti urutan pelangi.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Kesalahan paling umum: kedua kaki LED di kolom yang sama. DevKit V1 hampir menutupi lebar breadboard; hadapkan sisi pin yang dipakai ke baris yang tersisa, atau pakai dua breadboard.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Active-high: LED menyala saat HIGH (pin source). Active-low: LED menyala saat LOW (pin sink). LED bawaan GPIO 2 di DevKit V1 bersifat active-high. Pertanyaan pancingan: pada active-low, mengapa HIGH memadamkan LED? (kedua ujung 3,3 V, tidak ada beda tegangan).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Tambahan: hati-hati pin strapping 0, 2, 5, 12, 15; GPIO 1 dan 3 dipakai Serial. Rangkai saat USB dicabut.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loker bernomor. Opsional: kotak "Intip di balik layar" di modul, digitalWrite() → gpio_set_level() → register GPIO_OUT_W1TS_REG / W1TC_REG.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kode dan diagram.json ada di folder kode/. Tanpa board: Wokwi. Dengan board: rangkai dulu saat USB dicabut. Praktikum 3 tidak perlu membongkar rangkaian Praktikum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Urutan Indonesia: merah → hijau → kuning → merah. Durasi dipersingkat (6/5/2 s). Kelemahan delay(): program tidak bisa membaca tombol selama menunggu; dibahas di Pertemuan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LED diletakkan di kiri board mengikuti urutan pin D32, D33, D25, D26, D27, D14 agar kabel rapi. Serial Monitor menampilkan pola dengan # = menyala, berguna bagi yang hanya memakai Wokwi.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B. (3,3 − 2,0) / 0,010 = 130 Ω, lalu pilih nilai standar yang sama atau lebih besar, misalnya 220 Ω (arus ±5,9 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Ulas jawaban kuis di modul (6 soal) bila waktu masih 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03 · GPIO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03 · GPIO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03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GPIO Output: Mengendalikan LED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Dari satu LED sampai lampu lalu lintas dan LED berjalan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i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</a:t>
            </a:r>
            <a:r>
              <a:rPr lang="en-US" sz="2000" b="1" dirty="0">
                <a:solidFill>
                  <a:schemeClr val="tx1"/>
                </a:solidFill>
              </a:rPr>
              <a:t>GPIO</a:t>
            </a:r>
            <a:r>
              <a:rPr lang="en-US" sz="2000" dirty="0">
                <a:solidFill>
                  <a:schemeClr val="tx1"/>
                </a:solidFill>
              </a:rPr>
              <a:t> dan level logika HIGH ≈ 3,3 V / LOW = 0 V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Mengenali kaki LED dan menghitung </a:t>
            </a:r>
            <a:r>
              <a:rPr lang="en-US" sz="2000" b="1" dirty="0">
                <a:solidFill>
                  <a:schemeClr val="tx1"/>
                </a:solidFill>
              </a:rPr>
              <a:t>resistor</a:t>
            </a:r>
            <a:r>
              <a:rPr lang="en-US" sz="2000" dirty="0">
                <a:solidFill>
                  <a:schemeClr val="tx1"/>
                </a:solidFill>
              </a:rPr>
              <a:t> pembatas arus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rul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Membaca kode warna resistor dan merangkai di </a:t>
            </a:r>
            <a:r>
              <a:rPr lang="en-US" sz="2000" i="1" dirty="0">
                <a:solidFill>
                  <a:schemeClr val="tx1"/>
                </a:solidFill>
              </a:rPr>
              <a:t>breadboard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plu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Membedakan rangkaian </a:t>
            </a:r>
            <a:r>
              <a:rPr lang="en-US" sz="2000" b="1" dirty="0">
                <a:solidFill>
                  <a:schemeClr val="tx1"/>
                </a:solidFill>
              </a:rPr>
              <a:t>active-high</a:t>
            </a:r>
            <a:r>
              <a:rPr lang="en-US" sz="2000" dirty="0">
                <a:solidFill>
                  <a:schemeClr val="tx1"/>
                </a:solidFill>
              </a:rPr>
              <a:t> dan </a:t>
            </a:r>
            <a:r>
              <a:rPr lang="en-US" sz="2000" b="1" dirty="0">
                <a:solidFill>
                  <a:schemeClr val="tx1"/>
                </a:solidFill>
              </a:rPr>
              <a:t>active-low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od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Mengendalikan banyak LED dengan </a:t>
            </a:r>
            <a:r>
              <a:rPr lang="en-US" sz="2000" b="1" dirty="0">
                <a:solidFill>
                  <a:schemeClr val="tx1"/>
                </a:solidFill>
              </a:rPr>
              <a:t>larik + for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GPIO dan logika digital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LED dan tegangan maju (Vf)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Menghitung resistor dan kode warna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Breadboard, active-high/low, keselamatan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Larik + perulangan untuk banyak LED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Praktikum: LED, lampu lalu lintas, LED berjalan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GPIO dan Logika Digital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Saklar yang ditekan oleh program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HIGH ≈ 3,3 V, LOW = 0 V</a:t>
            </a:r>
            <a:endParaRPr lang="en-US" sz="3000" dirty="0"/>
          </a:p>
        </p:txBody>
      </p:sp>
      <p:pic>
        <p:nvPicPr>
          <p:cNvPr id="3" name="gambar" descr="/home/claude/work/slides/img/p03/p03-level-logi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627" y="1280160"/>
            <a:ext cx="9798441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ESP32 memakai logika 3,3 V; tegangan 5 V dapat merusak pin.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pinMode() dan digitalWrite()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4224528"/>
          </a:xfrm>
          <a:prstGeom prst="roundRect">
            <a:avLst>
              <a:gd name="adj" fmla="val 2165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sekali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3,3 V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V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pinMode(pin, OUTPUT)</a:t>
            </a:r>
            <a:r>
              <a:rPr lang="en-US" sz="1700" dirty="0">
                <a:solidFill>
                  <a:schemeClr val="tx1"/>
                </a:solidFill>
              </a:rPr>
              <a:t>: siapkan pin sebagai keluaran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digitalWrite(pin, HIGH/LOW)</a:t>
            </a:r>
            <a:r>
              <a:rPr lang="en-US" sz="1700" dirty="0">
                <a:solidFill>
                  <a:schemeClr val="tx1"/>
                </a:solidFill>
              </a:rPr>
              <a:t>: tulis 3,3 V atau 0 V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Lupa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pinMode()</a:t>
            </a:r>
            <a:r>
              <a:rPr lang="en-US" sz="1700" dirty="0">
                <a:solidFill>
                  <a:schemeClr val="tx1"/>
                </a:solidFill>
              </a:rPr>
              <a:t> → LED tidak menyala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HIGH: pin </a:t>
            </a:r>
            <a:r>
              <a:rPr lang="en-US" sz="1700" b="1" dirty="0">
                <a:solidFill>
                  <a:schemeClr val="tx1"/>
                </a:solidFill>
              </a:rPr>
              <a:t>sumber</a:t>
            </a:r>
            <a:r>
              <a:rPr lang="en-US" sz="1700" dirty="0">
                <a:solidFill>
                  <a:schemeClr val="tx1"/>
                </a:solidFill>
              </a:rPr>
              <a:t> arus; LOW: pin </a:t>
            </a:r>
            <a:r>
              <a:rPr lang="en-US" sz="1700" b="1" dirty="0">
                <a:solidFill>
                  <a:schemeClr val="tx1"/>
                </a:solidFill>
              </a:rPr>
              <a:t>penyerap</a:t>
            </a:r>
            <a:r>
              <a:rPr lang="en-US" sz="1700" dirty="0">
                <a:solidFill>
                  <a:schemeClr val="tx1"/>
                </a:solidFill>
              </a:rPr>
              <a:t> arus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LED dan Resistor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Mengapa LED tidak boleh langsung ke pin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Anatomi dan Polaritas LED</a:t>
            </a:r>
            <a:endParaRPr lang="en-US" sz="3000" dirty="0"/>
          </a:p>
        </p:txBody>
      </p:sp>
      <p:pic>
        <p:nvPicPr>
          <p:cNvPr id="3" name="gambar" descr="/home/claude/work/slides/img/p03/p03-anatomi-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743" y="1280160"/>
            <a:ext cx="991021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Tegangan Maju (Vf) LED 5 mm</a:t>
            </a:r>
            <a:endParaRPr lang="en-US" sz="3000" dirty="0"/>
          </a:p>
        </p:txBody>
      </p:sp>
      <p:graphicFrame>
        <p:nvGraphicFramePr>
          <p:cNvPr id="10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94560"/>
                <a:gridCol w="219456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Warna (tipe Kingbright)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Vf tipikal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Vf maks.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Diukur pada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Merah (WP7113ID)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1,9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2,3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Kuning (WP7113YD)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1,95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2,4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Hijau (WP7113GD)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2,0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2,4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 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Biru (WP7113QBC/D)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3,3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4,0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 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Mengapa LED Wajib Pakai Resistor?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60020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war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600200"/>
            <a:ext cx="9265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LED </a:t>
            </a:r>
            <a:r>
              <a:rPr lang="en-US" sz="2400" b="1" dirty="0">
                <a:solidFill>
                  <a:schemeClr val="tx1"/>
                </a:solidFill>
              </a:rPr>
              <a:t>tidak membatasi arusnya sendiri</a:t>
            </a:r>
            <a:r>
              <a:rPr lang="en-US" sz="2400" dirty="0">
                <a:solidFill>
                  <a:schemeClr val="tx1"/>
                </a:solidFill>
              </a:rPr>
              <a:t>. Tanpa resistor, arus hanya dibatasi hambatan kecil di dalam pin.</a:t>
            </a:r>
            <a:endParaRPr lang="en-US" sz="2400" dirty="0"/>
          </a:p>
        </p:txBody>
      </p:sp>
      <p:sp>
        <p:nvSpPr>
          <p:cNvPr id="7" name="daftar-poin"/>
          <p:cNvSpPr txBox="1"/>
          <p:nvPr/>
        </p:nvSpPr>
        <p:spPr>
          <a:xfrm>
            <a:off x="548640" y="3749040"/>
            <a:ext cx="11094415" cy="2423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Sedikit di atas Vf, arus LED naik sangat cepat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Akibatnya LED cepat rusak dan pin ESP32 ikut terbebani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Praktik aman: </a:t>
            </a:r>
            <a:r>
              <a:rPr lang="en-US" sz="1900" b="1" dirty="0">
                <a:solidFill>
                  <a:schemeClr val="tx1"/>
                </a:solidFill>
              </a:rPr>
              <a:t>≤ 10–12 mA per pin</a:t>
            </a:r>
            <a:r>
              <a:rPr lang="en-US" sz="1900" dirty="0">
                <a:solidFill>
                  <a:schemeClr val="tx1"/>
                </a:solidFill>
              </a:rPr>
              <a:t>; LED cukup 5–10 mA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Menghitung Resistor LED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326005"/>
            <a:ext cx="1999427" cy="257175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nomor"/>
          <p:cNvSpPr/>
          <p:nvPr/>
        </p:nvSpPr>
        <p:spPr>
          <a:xfrm>
            <a:off x="777240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40405"/>
            <a:ext cx="1542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Tentukan Vf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26205"/>
            <a:ext cx="1542227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LED merah ≈ 2,0 V (dari datasheet).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2822387" y="2326005"/>
            <a:ext cx="1999427" cy="257175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nomor"/>
          <p:cNvSpPr/>
          <p:nvPr/>
        </p:nvSpPr>
        <p:spPr>
          <a:xfrm>
            <a:off x="3050987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0987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050987" y="3240405"/>
            <a:ext cx="1542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Target arus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50987" y="3926205"/>
            <a:ext cx="1542227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 mA = 0,010 A.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096134" y="2326005"/>
            <a:ext cx="1999427" cy="257175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nomor"/>
          <p:cNvSpPr/>
          <p:nvPr/>
        </p:nvSpPr>
        <p:spPr>
          <a:xfrm>
            <a:off x="5324734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4734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324734" y="3240405"/>
            <a:ext cx="1542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Hitung 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24734" y="3926205"/>
            <a:ext cx="1542227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(3,3 − 2,0) / 0,010 = 130 Ω.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7369881" y="2326005"/>
            <a:ext cx="1999427" cy="257175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nomor"/>
          <p:cNvSpPr/>
          <p:nvPr/>
        </p:nvSpPr>
        <p:spPr>
          <a:xfrm>
            <a:off x="7598481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98481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598481" y="3240405"/>
            <a:ext cx="1542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Pilih standar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598481" y="3926205"/>
            <a:ext cx="1542227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Sama atau lebih besar: 220 Ω.</a:t>
            </a:r>
            <a:endParaRPr lang="en-US" sz="1500" dirty="0"/>
          </a:p>
        </p:txBody>
      </p:sp>
      <p:sp>
        <p:nvSpPr>
          <p:cNvPr id="23" name="kartu"/>
          <p:cNvSpPr/>
          <p:nvPr/>
        </p:nvSpPr>
        <p:spPr>
          <a:xfrm>
            <a:off x="9643628" y="2326005"/>
            <a:ext cx="1999427" cy="2571750"/>
          </a:xfrm>
          <a:prstGeom prst="roundRect">
            <a:avLst>
              <a:gd name="adj" fmla="val 54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nomor"/>
          <p:cNvSpPr/>
          <p:nvPr/>
        </p:nvSpPr>
        <p:spPr>
          <a:xfrm>
            <a:off x="9872228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2228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872228" y="3240405"/>
            <a:ext cx="1542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Cek ulang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872228" y="3926205"/>
            <a:ext cx="1542227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≈ 5,9 mA; P ≈ 7,7 mW.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Skematik LED + Resistor (Praktikum 1)</a:t>
            </a:r>
            <a:endParaRPr lang="en-US" sz="3000" dirty="0"/>
          </a:p>
        </p:txBody>
      </p:sp>
      <p:pic>
        <p:nvPicPr>
          <p:cNvPr id="3" name="gambar" descr="/home/claude/repo/pertemuan-03-gpio-output/gambar/p03-skematik-led-ekster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2221" y="1280160"/>
            <a:ext cx="800725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Membaca Kode Warna Resistor</a:t>
            </a:r>
            <a:endParaRPr lang="en-US" sz="3000" dirty="0"/>
          </a:p>
        </p:txBody>
      </p:sp>
      <p:pic>
        <p:nvPicPr>
          <p:cNvPr id="3" name="gambar" descr="/home/claude/work/slides/img/p03/p03-kode-warna-resis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99" y="1280160"/>
            <a:ext cx="10074696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Merangkai dengan Benar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Breadboard, active-high/low, dan keselamatan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Struktur Breadboard</a:t>
            </a:r>
            <a:endParaRPr lang="en-US" sz="3000" dirty="0"/>
          </a:p>
        </p:txBody>
      </p:sp>
      <p:pic>
        <p:nvPicPr>
          <p:cNvPr id="3" name="gambar" descr="/home/claude/work/slides/img/p03/p03-struktur-bread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2833" y="1280160"/>
            <a:ext cx="6026029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Active-High vs Active-Low</a:t>
            </a:r>
            <a:endParaRPr lang="en-US" sz="3000" dirty="0"/>
          </a:p>
        </p:txBody>
      </p:sp>
      <p:pic>
        <p:nvPicPr>
          <p:cNvPr id="3" name="gambar" descr="/home/claude/work/slides/img/p03/p03-active-high-vs-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0452"/>
            <a:ext cx="11094415" cy="487145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Aturan Keselamatan GPIO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52781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80213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bol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3929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8793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Selalu pakai resistor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4513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LED tanpa resistor merusak LED dan pin.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6255868" y="1527810"/>
            <a:ext cx="5387188" cy="1924050"/>
          </a:xfrm>
          <a:prstGeom prst="roundRect">
            <a:avLst>
              <a:gd name="adj" fmla="val 5703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30188" y="180213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war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93929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0188" y="248793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Jangan hubung singkat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94513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Pin output jangan langsung ke 3V3 atau GND.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48640" y="377190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22960" y="404622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pow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833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73202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Maksimal 3,3 V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18922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Jangan beri 5 V ke pin GPIO.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6255868" y="377190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ad"/>
          <p:cNvSpPr/>
          <p:nvPr/>
        </p:nvSpPr>
        <p:spPr>
          <a:xfrm>
            <a:off x="6530188" y="404622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20" name="ikon-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1833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0188" y="473202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Pilih pin aman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30188" y="518922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Hindari GPIO 6–11; 34–39 hanya input.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Larik + for untuk Enam LED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4129278"/>
          </a:xfrm>
          <a:prstGeom prst="roundRect">
            <a:avLst>
              <a:gd name="adj" fmla="val 2214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kode/03-led-berjalan/src/main.cpp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562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JUMLAH_LED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6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JUMLAH_LED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nyalakanSatu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indeks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JUMLAH_LED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indeks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Indeks dimulai dari </a:t>
            </a:r>
            <a:r>
              <a:rPr lang="en-US" sz="1700" b="1" dirty="0">
                <a:solidFill>
                  <a:schemeClr val="tx1"/>
                </a:solidFill>
              </a:rPr>
              <a:t>0</a:t>
            </a:r>
            <a:r>
              <a:rPr lang="en-US" sz="1700" dirty="0">
                <a:solidFill>
                  <a:schemeClr val="tx1"/>
                </a:solidFill>
              </a:rPr>
              <a:t>; terakhir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JUMLAH_LED - 1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</a:t>
            </a:r>
            <a:r>
              <a:rPr lang="en-US" sz="1700" dirty="0">
                <a:solidFill>
                  <a:schemeClr val="tx1"/>
                </a:solidFill>
              </a:rPr>
              <a:t> menghitung jumlah elemen otomatis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Urutan larik = urutan </a:t>
            </a:r>
            <a:r>
              <a:rPr lang="en-US" sz="1700" b="1" dirty="0">
                <a:solidFill>
                  <a:schemeClr val="tx1"/>
                </a:solidFill>
              </a:rPr>
              <a:t>fisik</a:t>
            </a:r>
            <a:r>
              <a:rPr lang="en-US" sz="1700" dirty="0">
                <a:solidFill>
                  <a:schemeClr val="tx1"/>
                </a:solidFill>
              </a:rPr>
              <a:t> LED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Fungsi pembantu membuat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r>
              <a:rPr lang="en-US" sz="1700" dirty="0">
                <a:solidFill>
                  <a:schemeClr val="tx1"/>
                </a:solidFill>
              </a:rPr>
              <a:t> rapi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Tiga Praktikum Hari Ini</a:t>
            </a:r>
            <a:endParaRPr lang="en-US" sz="3000" dirty="0"/>
          </a:p>
        </p:txBody>
      </p:sp>
      <p:graphicFrame>
        <p:nvGraphicFramePr>
          <p:cNvPr id="20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56616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Praktikum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Pin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Konsep utama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 LED eksternal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GPIO 23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Resistor 220 Ω, pinMode, digitalWrite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 Lampu lalu lintas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GPIO 25, 26, 27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Urutan, durasi, fungsi pembantu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 LED berjalan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GPIO 32, 33, 25, 26, 27, 14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Larik, for, empat pola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2: Diagram Waktu</a:t>
            </a:r>
            <a:endParaRPr lang="en-US" sz="3000" dirty="0"/>
          </a:p>
        </p:txBody>
      </p:sp>
      <p:pic>
        <p:nvPicPr>
          <p:cNvPr id="3" name="gambar" descr="/home/claude/work/slides/img/p03/p03-diagram-waktu-lalu-lin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9944"/>
            <a:ext cx="11094415" cy="483247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3: LED Berjalan</a:t>
            </a:r>
            <a:endParaRPr lang="en-US" sz="3000" dirty="0"/>
          </a:p>
        </p:txBody>
      </p:sp>
      <p:pic>
        <p:nvPicPr>
          <p:cNvPr id="3" name="gambar" descr="/home/claude/repo/pertemuan-03-gpio-output/gambar/p03-wiring-led-berja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6165" y="1280160"/>
            <a:ext cx="515936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Resistor minimal untuk LED merah (Vf 2,0 V) agar arusnya 10 mA dari pin 3,3 V?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13 Ω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130 Ω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1,3 kΩ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13 kΩ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5849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0383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GPIO output: </a:t>
            </a:r>
            <a:r>
              <a:rPr lang="en-US" sz="2000" b="1" dirty="0">
                <a:solidFill>
                  <a:schemeClr val="bg1"/>
                </a:solidFill>
              </a:rPr>
              <a:t>HIGH ≈ 3,3 V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b="1" dirty="0">
                <a:solidFill>
                  <a:schemeClr val="bg1"/>
                </a:solidFill>
              </a:rPr>
              <a:t>LOW ≈ 0 V</a:t>
            </a:r>
            <a:r>
              <a:rPr lang="en-US" sz="2000" dirty="0">
                <a:solidFill>
                  <a:schemeClr val="bg1"/>
                </a:solidFill>
              </a:rPr>
              <a:t>; ESP32 bukan 5 V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20980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Kaki panjang LED = anoda (+); sisi rata = katode (−)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169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887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00228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Resistor wajib: </a:t>
            </a:r>
            <a:r>
              <a:rPr lang="en-US" sz="2000" b="1" dirty="0">
                <a:solidFill>
                  <a:schemeClr val="bg1"/>
                </a:solidFill>
              </a:rPr>
              <a:t>R = (3,3 − Vf) / I</a:t>
            </a:r>
            <a:r>
              <a:rPr lang="en-US" sz="2000" dirty="0">
                <a:solidFill>
                  <a:schemeClr val="bg1"/>
                </a:solidFill>
              </a:rPr>
              <a:t> → 220 Ω ≈ 5,9 mA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396240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0812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79476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Breadboard: 5 lubang sekolom tersambung; kaki komponen di kolom berbeda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87375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58724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Active-high menyala saat HIGH; active-low menyala saat LOW</a:t>
            </a:r>
            <a:endParaRPr lang="en-US" sz="2000" dirty="0"/>
          </a:p>
        </p:txBody>
      </p:sp>
      <p:sp>
        <p:nvSpPr>
          <p:cNvPr id="18" name="pad"/>
          <p:cNvSpPr/>
          <p:nvPr/>
        </p:nvSpPr>
        <p:spPr>
          <a:xfrm>
            <a:off x="548640" y="55473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9" name="ikon-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66623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53797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Banyak LED: larik + for + fungsi pembantu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4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1–3 (hitung resistor, gaya Inggris, hitung mundur)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Tantangan: penghitung biner 6 bit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4: GPIO Input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Siapkan tombol dan resistor 10 kΩ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3: GPIO Output: Mengendalikan LED</dc:title>
  <dc:subject>Sistem Tertanam — Pertemuan 3</dc:subject>
  <dc:creator>Anton Prafanto</dc:creator>
  <cp:lastModifiedBy>Anton Prafanto</cp:lastModifiedBy>
  <cp:revision>1</cp:revision>
  <dcterms:created xsi:type="dcterms:W3CDTF">2026-10-16T06:08:17Z</dcterms:created>
  <dcterms:modified xsi:type="dcterms:W3CDTF">2026-10-16T06:08:17Z</dcterms:modified>
</cp:coreProperties>
</file>