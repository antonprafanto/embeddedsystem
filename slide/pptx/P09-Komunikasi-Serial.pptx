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933f1273-b7dd-9229-fdcd-324c5bf8952e}">
          <p14:sldIdLst>
            <p14:sldId id="256"/>
            <p14:sldId id="257"/>
            <p14:sldId id="258"/>
          </p14:sldIdLst>
        </p14:section>
        <p14:section name="Konsep" id="{c4ab2adb-4379-9bb9-ab84-3e1b6dc17a94}">
          <p14:sldIdLst>
            <p14:sldId id="259"/>
            <p14:sldId id="260"/>
            <p14:sldId id="261"/>
          </p14:sldIdLst>
        </p14:section>
        <p14:section name="UART" id="{16269bf8-5862-bc25-b1cb-44d3b063177b}">
          <p14:sldIdLst>
            <p14:sldId id="262"/>
            <p14:sldId id="263"/>
            <p14:sldId id="264"/>
            <p14:sldId id="265"/>
            <p14:sldId id="266"/>
          </p14:sldIdLst>
        </p14:section>
        <p14:section name="I2C" id="{fc41f372-3f98-eaea-c5df-8df46207b7c6}">
          <p14:sldIdLst>
            <p14:sldId id="267"/>
            <p14:sldId id="268"/>
            <p14:sldId id="269"/>
            <p14:sldId id="270"/>
            <p14:sldId id="271"/>
          </p14:sldIdLst>
        </p14:section>
        <p14:section name="SPI" id="{085ad4c6-0d0f-b336-6d45-3d2a20521ed9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Penutup" id="{f2817974-ba2a-ce80-6f76-2c21c7761d64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"Bagaimana ESP32 bisa menulis ke layar yang punya 8.192 piksel kalau pinnya hanya 30?" Biarkan mahasiswa menebak, lalu tunjukkan bahwa jawabannya: kirim bit bergiliran (serial).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semua mahasiswa sudah menjalankan Praktikum 1 (perintah serial) dan minimal Praktikum 2 (pemindai I2C), boleh lewat Wokwi.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 ±100 menit, praktikum 4 percobaan. Praktikum 3–4 butuh pustaka Adafruit; minta mahasiswa membuka Wokwi lebih awal.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orang pintar yang terkunci sendirian di kamar. Tanpa komunikasi, ESP32 tidak bisa memakai sensor pintar atau layar.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Paralel: 8 kabel, 1 langkah. Serial: 1 kabel, 8 langkah. Sinkron punya clock (I2C, SPI); asinkron tanpa clock, kedua pihak sepakat baud rate (UART). Tanyakan: mengapa USB juga serial? (hemat kabel, kecepatan dikejar dengan laju bit tinggi).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memberi contoh lain untuk tiap mode. Walkie-talkie: harus bilang "ganti" sebelum lawan bicara.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Ingatkan: Serial Monitor sejak Pertemuan 1 sudah memakai UART0.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TX ke RX (silang), GND bersama. Saat diam jalur HIGH; bit start 0 memberi aba-aba; 8 bit data LSB dulu; bit stop 1. Huruf A = 0x41 dikirim 1,0,0,0,0,0,1,0.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pancingan: berapa lama mengirim "Halo, ESP32!" + \n (13 byte) pada 9600 baud? Jawab: 13 × 10 / 9600 ≈ 13,5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Banyak tutorial lama (core 2.x) menulis Serial2.begin(9600) dan berasumsi pin 16/17. Di core 3.x itu salah. RS-232 bertegangan jauh lebih tinggi: wajib lewat IC pengubah seperti MAX3232.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UART hanya mengantar byte. Program yang menentukan kapan kalimat selesai (\n), merapikan, memisah perintah/argumen, dan memvalidasi. toInt("TIGA") = 0, jadi cek angka dulu.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rapat RT: satu pemimpin (controller) memanggil warga (target) berdasarkan nama (alamat).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Perangkat hanya menarik ke LOW; HIGH dari resistor pull-up. Alamat 7 bit: 112 alamat terpakai (0x08–0x77). Istilah master/slave diganti controller/target sejak UM10204 rev. 7 (2021). Kecepatan 100 kHz (bawaan Wire) atau 400 kHz.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dan STOP terjadi saat SCL HIGH; data hanya berubah saat SCL LOW. Alamat 0x3C + W = 0x78 di kabel, itu sebabnya penjual kadang menulis "0x78". Pemindai I2C = beginTransmission + endTransmission tanpa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bertambah ke bawah. Ukuran teks 1 = 6×8 piksel (21 huruf × 8 baris). Buffer 1.024 byte; display() mengirim semuanya (±23 ms pada 400 kHz). Kesalahan klasik: lupa display().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Saat diam hanya ada gravitasi 1 g. θ = arccos(az/|a|). Contoh ay = 4,90, az = 8,49 → 30°. Pustaka Adafruit memberi m/s² dan rad/s (1 rad/s ≈ 57,3 °/s). Alamat 0x68, AD0 HIGH → 0x69.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guru menunjuk satu murid (CS), lalu bertukar catatan bersamaan (full duplex).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Tanpa alamat dan tanpa ACK. ESP32 hingga 80 MHz di pin IO_MUX (SPI3: 18/19/23/5), 40 MHz lewat matriks GPIO. Contoh: kartu microSD, layar TFT. Konsep saja di pertemuan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Tips: lihat datasheet dulu (sering sudah ditentukan). Banyak sensor lambat → I2C. Data besar dan cepat → SPI. Perintah teks/laptop → UART. Contoh hitung: gambar TFT 153.600 byte, I2C 400 kHz ±3,5 s vs SPI 20 MHz ±61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P2–P4 memakai rangkaian yang sama (P3 cukup OLED). Ingatkan: cabut USB saat merangkai, cek urutan pin VCC/GND OLED. Di Wokwi, klik MPU6050 saat simulasi untuk mengubah percepatan.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Hasil QEMU/Wokwi persis ada di modul. Di board asli, monitor_echo = yes menampilkan ketikan; monitor_eol = LF mengirim \n. Serial.setTimeout(5000) mencegah ketikan lambat terpotong karena monitor PlatformIO mengirim per huruf.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C. Satu byte = 10 bit (start + 8 data + stop). B adalah jebakan: lupa bit start dan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 satu hal paling membingungkan hari ini; jawab di awal pertemuan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Pertemuan 10 membahas sensor, aktuator, pustaka, dan cara membaca datasheet; pemindai I2C hari ini akan dipakai lagi.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09 · Komunikasi Serial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09 · Komunikasi Serial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09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Komunikasi Serial: UART, I2C, dan SPI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Mengajari ESP32 mengobrol dengan laptop, layar, dan sensor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rando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Membedakan paralel/serial, sinkron/asinkron, dan arah komunikasi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wav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bingkai UART </a:t>
            </a:r>
            <a:r>
              <a:rPr lang="en-US" sz="2000" b="1" dirty="0">
                <a:solidFill>
                  <a:schemeClr val="tx1"/>
                </a:solidFill>
              </a:rPr>
              <a:t>8N1</a:t>
            </a:r>
            <a:r>
              <a:rPr lang="en-US" sz="2000" dirty="0">
                <a:solidFill>
                  <a:schemeClr val="tx1"/>
                </a:solidFill>
              </a:rPr>
              <a:t> dan menghitung dari </a:t>
            </a:r>
            <a:r>
              <a:rPr lang="en-US" sz="2000" i="1" dirty="0">
                <a:solidFill>
                  <a:schemeClr val="tx1"/>
                </a:solidFill>
              </a:rPr>
              <a:t>baud rate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terminal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Membuat </a:t>
            </a:r>
            <a:r>
              <a:rPr lang="en-US" sz="2000" b="1" dirty="0">
                <a:solidFill>
                  <a:schemeClr val="tx1"/>
                </a:solidFill>
              </a:rPr>
              <a:t>protokol perintah teks</a:t>
            </a:r>
            <a:r>
              <a:rPr lang="en-US" sz="2000" dirty="0">
                <a:solidFill>
                  <a:schemeClr val="tx1"/>
                </a:solidFill>
              </a:rPr>
              <a:t> dengan validasi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sitema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Memakai </a:t>
            </a:r>
            <a:r>
              <a:rPr lang="en-US" sz="2000" b="1" dirty="0">
                <a:solidFill>
                  <a:schemeClr val="tx1"/>
                </a:solidFill>
              </a:rPr>
              <a:t>I2C</a:t>
            </a:r>
            <a:r>
              <a:rPr lang="en-US" sz="2000" dirty="0">
                <a:solidFill>
                  <a:schemeClr val="tx1"/>
                </a:solidFill>
              </a:rPr>
              <a:t>: pemindai alamat, OLED SSD1306, MPU6050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rout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</a:t>
            </a:r>
            <a:r>
              <a:rPr lang="en-US" sz="2000" b="1" dirty="0">
                <a:solidFill>
                  <a:schemeClr val="tx1"/>
                </a:solidFill>
              </a:rPr>
              <a:t>SPI</a:t>
            </a:r>
            <a:r>
              <a:rPr lang="en-US" sz="2000" dirty="0">
                <a:solidFill>
                  <a:schemeClr val="tx1"/>
                </a:solidFill>
              </a:rPr>
              <a:t> dan memilih protokol yang tepat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Paralel vs serial, sinkron vs asinkron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UART dan bingkai 8N1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Protokol perintah teks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I2C: bus, alamat, transaksi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OLED SSD1306 dan MPU6050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SPI dan memilih protokol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Mengapa ESP32 Perlu Mengobrol?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Mengirim banyak data lewat sedikit kabel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Tiga Cara Mengirim Data Digital</a:t>
            </a:r>
            <a:endParaRPr lang="en-US" sz="3000" dirty="0"/>
          </a:p>
        </p:txBody>
      </p:sp>
      <p:pic>
        <p:nvPicPr>
          <p:cNvPr id="3" name="gambar" descr="/home/claude/work/slides/img/p09/p09-paralel-vs-se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55" y="1280160"/>
            <a:ext cx="1101238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Arah Komunikasi</a:t>
            </a:r>
            <a:endParaRPr lang="en-US" sz="3000" dirty="0"/>
          </a:p>
        </p:txBody>
      </p:sp>
      <p:graphicFrame>
        <p:nvGraphicFramePr>
          <p:cNvPr id="7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56032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Mode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Arah data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Analogi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Contoh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Simplex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Satu arah saja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Radio FM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Remote TV inframerah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Half duplex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Dua arah, bergantian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Walkie-talkie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I2C (SDA dipakai bergantian)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Full duplex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Dua arah, bersamaan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Telepon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UART (TX/RX), SPI (MOSI/MISO)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UART dan Protokol Perintah Teks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Mengobrol berdua tanpa clock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UART: Sambungan Silang dan Bingkai 8N1</a:t>
            </a:r>
            <a:endParaRPr lang="en-US" sz="3000" dirty="0"/>
          </a:p>
        </p:txBody>
      </p:sp>
      <p:pic>
        <p:nvPicPr>
          <p:cNvPr id="3" name="gambar" descr="/home/claude/work/slides/img/p09/p09-uart-sambungan-bingk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237" y="1280160"/>
            <a:ext cx="7639222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Berhitung dengan 115200 Baud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127250"/>
            <a:ext cx="2533574" cy="2324608"/>
          </a:xfrm>
          <a:prstGeom prst="roundRect">
            <a:avLst>
              <a:gd name="adj" fmla="val 472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401570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8,68 µs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36010"/>
            <a:ext cx="2167814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lama 1 bit (1 ÷ 115200)</a:t>
            </a:r>
            <a:endParaRPr lang="en-US" sz="1600" dirty="0"/>
          </a:p>
        </p:txBody>
      </p:sp>
      <p:sp>
        <p:nvSpPr>
          <p:cNvPr id="6" name="kartu"/>
          <p:cNvSpPr/>
          <p:nvPr/>
        </p:nvSpPr>
        <p:spPr>
          <a:xfrm>
            <a:off x="3402254" y="2127250"/>
            <a:ext cx="2533574" cy="2324608"/>
          </a:xfrm>
          <a:prstGeom prst="roundRect">
            <a:avLst>
              <a:gd name="adj" fmla="val 472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5134" y="2401570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chemeClr val="accent1"/>
                </a:solidFill>
              </a:rPr>
              <a:t>10 bit</a:t>
            </a:r>
            <a:endParaRPr lang="en-US" sz="4900" dirty="0"/>
          </a:p>
        </p:txBody>
      </p:sp>
      <p:sp>
        <p:nvSpPr>
          <p:cNvPr id="8" name="Text 6"/>
          <p:cNvSpPr txBox="1"/>
          <p:nvPr/>
        </p:nvSpPr>
        <p:spPr>
          <a:xfrm>
            <a:off x="3585134" y="3636010"/>
            <a:ext cx="2167814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 byte: start + 8 data + stop</a:t>
            </a:r>
            <a:endParaRPr lang="en-US" sz="1600" dirty="0"/>
          </a:p>
        </p:txBody>
      </p:sp>
      <p:sp>
        <p:nvSpPr>
          <p:cNvPr id="9" name="kartu"/>
          <p:cNvSpPr/>
          <p:nvPr/>
        </p:nvSpPr>
        <p:spPr>
          <a:xfrm>
            <a:off x="6255868" y="2127250"/>
            <a:ext cx="2533574" cy="2324608"/>
          </a:xfrm>
          <a:prstGeom prst="roundRect">
            <a:avLst>
              <a:gd name="adj" fmla="val 472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38748" y="2401570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86,8 µs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6438748" y="3636010"/>
            <a:ext cx="2167814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lama 1 bingkai 8N1</a:t>
            </a:r>
            <a:endParaRPr lang="en-US" sz="1600" dirty="0"/>
          </a:p>
        </p:txBody>
      </p:sp>
      <p:sp>
        <p:nvSpPr>
          <p:cNvPr id="12" name="kartu"/>
          <p:cNvSpPr/>
          <p:nvPr/>
        </p:nvSpPr>
        <p:spPr>
          <a:xfrm>
            <a:off x="9109481" y="2127250"/>
            <a:ext cx="2533574" cy="2324608"/>
          </a:xfrm>
          <a:prstGeom prst="roundRect">
            <a:avLst>
              <a:gd name="adj" fmla="val 472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92361" y="2401570"/>
            <a:ext cx="2167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chemeClr val="accent1"/>
                </a:solidFill>
              </a:rPr>
              <a:t>11.520</a:t>
            </a:r>
            <a:endParaRPr lang="en-US" sz="4900" dirty="0"/>
          </a:p>
        </p:txBody>
      </p:sp>
      <p:sp>
        <p:nvSpPr>
          <p:cNvPr id="14" name="Text 12"/>
          <p:cNvSpPr txBox="1"/>
          <p:nvPr/>
        </p:nvSpPr>
        <p:spPr>
          <a:xfrm>
            <a:off x="9292361" y="3636010"/>
            <a:ext cx="2167814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byte per detik (maksimum)</a:t>
            </a:r>
            <a:endParaRPr lang="en-US" sz="1600" dirty="0"/>
          </a:p>
        </p:txBody>
      </p:sp>
      <p:sp>
        <p:nvSpPr>
          <p:cNvPr id="15" name="daftar-poin"/>
          <p:cNvSpPr txBox="1"/>
          <p:nvPr/>
        </p:nvSpPr>
        <p:spPr>
          <a:xfrm>
            <a:off x="548640" y="4726178"/>
            <a:ext cx="11094415" cy="144602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Pada 9600 baud: 1 bit ±104,17 µs, maksimum 960 byte per detik.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UART Kedua: Serial2 dengan Pin Eksplisit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4796028"/>
          </a:xfrm>
          <a:prstGeom prst="roundRect">
            <a:avLst>
              <a:gd name="adj" fmla="val 1907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 Serial2 (core 3.x)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422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PIN_RX2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label RX2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PIN_TX2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label TX2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UART0 → USB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Serial2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SERIAL_8N1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PIN_RX2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PIN_TX2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Serial2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Serial2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700" dirty="0">
                <a:solidFill>
                  <a:schemeClr val="tx1"/>
                </a:solidFill>
              </a:rPr>
              <a:t> = UART0 (GPIO 1/3) → Serial Monitor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Core 3.x: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Serial2</a:t>
            </a:r>
            <a:r>
              <a:rPr lang="en-US" sz="1700" dirty="0">
                <a:solidFill>
                  <a:schemeClr val="tx1"/>
                </a:solidFill>
              </a:rPr>
              <a:t> bawaan RX 4/TX 25, </a:t>
            </a:r>
            <a:r>
              <a:rPr lang="en-US" sz="1700" b="1" dirty="0">
                <a:solidFill>
                  <a:schemeClr val="tx1"/>
                </a:solidFill>
              </a:rPr>
              <a:t>bukan</a:t>
            </a:r>
            <a:r>
              <a:rPr lang="en-US" sz="1700" dirty="0">
                <a:solidFill>
                  <a:schemeClr val="tx1"/>
                </a:solidFill>
              </a:rPr>
              <a:t> 16/17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Urutan argumen: baud, format, </a:t>
            </a:r>
            <a:r>
              <a:rPr lang="en-US" sz="1700" b="1" dirty="0">
                <a:solidFill>
                  <a:schemeClr val="tx1"/>
                </a:solidFill>
              </a:rPr>
              <a:t>RX</a:t>
            </a:r>
            <a:r>
              <a:rPr lang="en-US" sz="1700" dirty="0">
                <a:solidFill>
                  <a:schemeClr val="tx1"/>
                </a:solidFill>
              </a:rPr>
              <a:t>, lalu </a:t>
            </a:r>
            <a:r>
              <a:rPr lang="en-US" sz="1700" b="1" dirty="0">
                <a:solidFill>
                  <a:schemeClr val="tx1"/>
                </a:solidFill>
              </a:rPr>
              <a:t>TX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Pin ESP32 hanya </a:t>
            </a:r>
            <a:r>
              <a:rPr lang="en-US" sz="1700" b="1" dirty="0">
                <a:solidFill>
                  <a:schemeClr val="tx1"/>
                </a:solidFill>
              </a:rPr>
              <a:t>3,3 V</a:t>
            </a:r>
            <a:r>
              <a:rPr lang="en-US" sz="1700" dirty="0">
                <a:solidFill>
                  <a:schemeClr val="tx1"/>
                </a:solidFill>
              </a:rPr>
              <a:t>: modul 5 V butuh pengubah level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Protokol Perintah Teks (Praktikum 1)</a:t>
            </a:r>
            <a:endParaRPr lang="en-US" sz="3000" dirty="0"/>
          </a:p>
        </p:txBody>
      </p:sp>
      <p:pic>
        <p:nvPicPr>
          <p:cNvPr id="3" name="gambar" descr="/home/claude/work/slides/img/p09/p09-alur-perinta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113" y="1280160"/>
            <a:ext cx="910147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I2C, OLED, dan MPU6050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Dua kabel untuk banyak perangkat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Bus I2C: Open-Drain dan Pull-Up</a:t>
            </a:r>
            <a:endParaRPr lang="en-US" sz="3000" dirty="0"/>
          </a:p>
        </p:txBody>
      </p:sp>
      <p:pic>
        <p:nvPicPr>
          <p:cNvPr id="3" name="gambar" descr="/home/claude/work/slides/img/p09/p09-bus-i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096" y="1280160"/>
            <a:ext cx="10257503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Satu Transaksi I2C</a:t>
            </a:r>
            <a:endParaRPr lang="en-US" sz="3000" dirty="0"/>
          </a:p>
        </p:txBody>
      </p:sp>
      <p:pic>
        <p:nvPicPr>
          <p:cNvPr id="3" name="gambar" descr="/home/claude/work/slides/img/p09/p09-transaksi-i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7281"/>
            <a:ext cx="11094415" cy="47577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OLED SSD1306: Koordinat dan Buffer</a:t>
            </a:r>
            <a:endParaRPr lang="en-US" sz="3000" dirty="0"/>
          </a:p>
        </p:txBody>
      </p:sp>
      <p:pic>
        <p:nvPicPr>
          <p:cNvPr id="3" name="gambar" descr="/home/claude/work/slides/img/p09/p09-koordinat-o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505" y="1280160"/>
            <a:ext cx="10094686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MPU6050: Kemiringan dari Akselerometer</a:t>
            </a:r>
            <a:endParaRPr lang="en-US" sz="3000" dirty="0"/>
          </a:p>
        </p:txBody>
      </p:sp>
      <p:pic>
        <p:nvPicPr>
          <p:cNvPr id="3" name="gambar" descr="/home/claude/work/slides/img/p09/p09-kemiringan-mpu60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46" y="1280160"/>
            <a:ext cx="9956402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SPI dan Memilih Protokol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Jalur cepat empat kabel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SPI: Satu CS untuk Setiap Perangkat</a:t>
            </a:r>
            <a:endParaRPr lang="en-US" sz="3000" dirty="0"/>
          </a:p>
        </p:txBody>
      </p:sp>
      <p:pic>
        <p:nvPicPr>
          <p:cNvPr id="3" name="gambar" descr="/home/claude/work/slides/img/p09/p09-bus-s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6066" y="1280160"/>
            <a:ext cx="7999562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UART vs I2C vs SPI</a:t>
            </a:r>
            <a:endParaRPr lang="en-US" sz="3000" dirty="0"/>
          </a:p>
        </p:txBody>
      </p:sp>
      <p:graphicFrame>
        <p:nvGraphicFramePr>
          <p:cNvPr id="20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28346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Aspek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UART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I2C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SPI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Kabel sinyal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TX, RX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SDA, SCL (bersama)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SCK, MOSI, MISO + CS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Clock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Tidak ada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SCL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SCK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Arah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Full duplex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Half duplex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Full duplex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Memilih perangkat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 (dua pihak)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Alamat 7 bit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Kabel CS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Kecepatan umum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9600–115200 baud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100/400 kHz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MHz – puluhan MHz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Pin ESP32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Serial2: atur sendiri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SDA 21, SCL 22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18/19/23/5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Contoh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Laptop, GPS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OLED, MPU6050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microSD, TFT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Praktikum: Empat Percobaan</a:t>
            </a:r>
            <a:endParaRPr lang="en-US" sz="3000" dirty="0"/>
          </a:p>
        </p:txBody>
      </p:sp>
      <p:sp>
        <p:nvSpPr>
          <p:cNvPr id="3" name="daftar-poin"/>
          <p:cNvSpPr txBox="1"/>
          <p:nvPr/>
        </p:nvSpPr>
        <p:spPr>
          <a:xfrm>
            <a:off x="548640" y="1325880"/>
            <a:ext cx="540333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P1</a:t>
            </a:r>
            <a:r>
              <a:rPr lang="en-US" sz="2000" dirty="0">
                <a:solidFill>
                  <a:schemeClr val="tx1"/>
                </a:solidFill>
              </a:rPr>
              <a:t> Perintah teks lewat Serial (tanpa komponen)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P2</a:t>
            </a:r>
            <a:r>
              <a:rPr lang="en-US" sz="2000" dirty="0">
                <a:solidFill>
                  <a:schemeClr val="tx1"/>
                </a:solidFill>
              </a:rPr>
              <a:t> Pemindai alamat I2C: temukan 0x3C dan 0x68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P3</a:t>
            </a:r>
            <a:r>
              <a:rPr lang="en-US" sz="2000" dirty="0">
                <a:solidFill>
                  <a:schemeClr val="tx1"/>
                </a:solidFill>
              </a:rPr>
              <a:t> OLED: teks, angka detik, dan bar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P4</a:t>
            </a:r>
            <a:r>
              <a:rPr lang="en-US" sz="2000" dirty="0">
                <a:solidFill>
                  <a:schemeClr val="tx1"/>
                </a:solidFill>
              </a:rPr>
              <a:t> Waterpas digital: MPU6050 + OLED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VCC → </a:t>
            </a:r>
            <a:r>
              <a:rPr lang="en-US" sz="2000" b="1" dirty="0">
                <a:solidFill>
                  <a:schemeClr val="tx1"/>
                </a:solidFill>
              </a:rPr>
              <a:t>3V3</a:t>
            </a:r>
            <a:r>
              <a:rPr lang="en-US" sz="2000" dirty="0">
                <a:solidFill>
                  <a:schemeClr val="tx1"/>
                </a:solidFill>
              </a:rPr>
              <a:t>, SDA → GPIO 21, SCL → GPIO 22</a:t>
            </a:r>
            <a:endParaRPr lang="en-US" sz="2000" dirty="0"/>
          </a:p>
        </p:txBody>
      </p:sp>
      <p:pic>
        <p:nvPicPr>
          <p:cNvPr id="4" name="gambar" descr="/home/claude/repo/pertemuan-09-komunikasi-serial/gambar/p09-rangkaian-oled-mpu60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7736" y="1570552"/>
            <a:ext cx="5325319" cy="40369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7736" y="5653208"/>
            <a:ext cx="5325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Rangkaian: @wokwi/elements, wokwi-boards (MIT)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1: Validasi Dua Lapis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684778"/>
          </a:xfrm>
          <a:prstGeom prst="roundRect">
            <a:avLst>
              <a:gd name="adj" fmla="val 2482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kode/01-perintah-serial (disederhanakan)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11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"KEDIP"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semuaAngka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kirimGalat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"KEDIP butuh angka bulat. 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4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"Contoh: KEDIP 3"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kirimGalat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"Jumlah kedip harus 1 sampai 10."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kedipkan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readStringUntil('\n')</a:t>
            </a:r>
            <a:r>
              <a:rPr lang="en-US" sz="1700" dirty="0">
                <a:solidFill>
                  <a:schemeClr val="tx1"/>
                </a:solidFill>
              </a:rPr>
              <a:t> membaca per baris, lalu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trim()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toInt()</a:t>
            </a:r>
            <a:r>
              <a:rPr lang="en-US" sz="1700" dirty="0">
                <a:solidFill>
                  <a:schemeClr val="tx1"/>
                </a:solidFill>
              </a:rPr>
              <a:t> mengubah "TIGA" menjadi 0 → cek angka dulu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Pesan galat: apa yang salah + aturan + contoh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Coba ketik: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KEDIP 3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KEDIP 20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kedip tiga</a:t>
            </a:r>
            <a:r>
              <a:rPr lang="en-US" sz="1700" dirty="0">
                <a:solidFill>
                  <a:schemeClr val="tx1"/>
                </a:solidFill>
              </a:rPr>
              <a:t>, lalu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Pada 115200 baud (format 8N1), berapa byte maksimum yang terkirim per detik?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115.200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14.400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11.520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1.152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5849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0383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Serial hemat pin; sinkron pakai clock (I2C, SPI), asinkron pakai baud rate (UART)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20980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UART: TX↔RX silang + GND; bingkai 8N1, LSB dulu;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Serial2</a:t>
            </a:r>
            <a:r>
              <a:rPr lang="en-US" sz="2000" dirty="0">
                <a:solidFill>
                  <a:schemeClr val="bg1"/>
                </a:solidFill>
              </a:rPr>
              <a:t> core 3.x pin eksplisit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169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887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00228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Protokol teks: baca per baris → rapikan → pisahkan → validasi → balas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396240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0812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79476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I2C: SDA/SCL + pull-up, alamat 7 bit, START–alamat–ACK–data–STOP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87375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58724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OLED: gambar di buffer lalu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display()</a:t>
            </a:r>
            <a:r>
              <a:rPr lang="en-US" sz="2000" dirty="0">
                <a:solidFill>
                  <a:schemeClr val="bg1"/>
                </a:solidFill>
              </a:rPr>
              <a:t>; MPU6050: θ = arccos(az/|a|)</a:t>
            </a:r>
            <a:endParaRPr lang="en-US" sz="2000" dirty="0"/>
          </a:p>
        </p:txBody>
      </p:sp>
      <p:sp>
        <p:nvSpPr>
          <p:cNvPr id="18" name="pad"/>
          <p:cNvSpPr/>
          <p:nvPr/>
        </p:nvSpPr>
        <p:spPr>
          <a:xfrm>
            <a:off x="548640" y="55473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9" name="ikon-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66623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53797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SPI: SCK/MOSI/MISO bersama + satu CS per perangkat, cepat dan full duplex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10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Tambah perintah LED TOGGLE dan TERANG n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Uji loopback Serial2 (GPIO 17 → 16)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10: Sensor &amp; Datasheet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Siapkan DHT22 atau HC-SR04 bila ada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Jalankan pemindai I2C saat modul tak terdeteksi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9: Komunikasi Serial: UART, I2C, dan SPI</dc:title>
  <dc:subject>Sistem Tertanam — Pertemuan 9</dc:subject>
  <dc:creator>Anton Prafanto</dc:creator>
  <cp:lastModifiedBy>Anton Prafanto</cp:lastModifiedBy>
  <cp:revision>1</cp:revision>
  <dcterms:created xsi:type="dcterms:W3CDTF">2026-10-19T00:59:13Z</dcterms:created>
  <dcterms:modified xsi:type="dcterms:W3CDTF">2026-10-19T00:59:13Z</dcterms:modified>
</cp:coreProperties>
</file>