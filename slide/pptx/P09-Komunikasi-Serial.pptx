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b75dc721-68ff-fed2-80ba-a9adc5f4cd73}">
          <p14:sldIdLst>
            <p14:sldId id="256"/>
            <p14:sldId id="257"/>
            <p14:sldId id="258"/>
          </p14:sldIdLst>
        </p14:section>
        <p14:section name="Konsep" id="{dc69ffdf-e4df-131c-f7e1-406de7cbbcdf}">
          <p14:sldIdLst>
            <p14:sldId id="259"/>
            <p14:sldId id="260"/>
            <p14:sldId id="261"/>
          </p14:sldIdLst>
        </p14:section>
        <p14:section name="UART" id="{36d85ec9-348e-0a90-7f85-afc23da936d8}">
          <p14:sldIdLst>
            <p14:sldId id="262"/>
            <p14:sldId id="263"/>
            <p14:sldId id="264"/>
            <p14:sldId id="265"/>
            <p14:sldId id="266"/>
          </p14:sldIdLst>
        </p14:section>
        <p14:section name="I2C" id="{bd34e3e0-463f-a725-b628-8041c3d11c5b}">
          <p14:sldIdLst>
            <p14:sldId id="267"/>
            <p14:sldId id="268"/>
            <p14:sldId id="269"/>
            <p14:sldId id="270"/>
            <p14:sldId id="271"/>
          </p14:sldIdLst>
        </p14:section>
        <p14:section name="SPI" id="{89da1508-4474-aa84-1d6a-a1c4d12353ab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Penutup" id="{7bc5c774-4491-d05b-25ca-bf889213167a}">
          <p14:sldIdLst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Buka dengan pertanyaan: "Bagaimana ESP32 bisa menulis ke layar yang punya 8.192 piksel kalau pinnya hanya 30?" Biarkan mahasiswa menebak, lalu tunjukkan bahwa jawabannya: kirim bit bergiliran (serial).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Target akhir sesi: semua mahasiswa sudah menjalankan Praktikum 1 (perintah serial) dan minimal Praktikum 2 (pemindai I2C), boleh lewat Wokwi.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Teori ±100 menit, praktikum 4 percobaan. Praktikum 3–4 butuh pustaka Adafruit; minta mahasiswa membuka Wokwi lebih awal.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Analogi: orang pintar yang terkunci sendirian di kamar. Tanpa komunikasi, ESP32 tidak bisa memakai sensor pintar atau layar.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Paralel: 8 kabel, 1 langkah. Serial: 1 kabel, 8 langkah. Sinkron punya clock (I2C, SPI); asinkron tanpa clock, kedua pihak sepakat baud rate (UART). Tanyakan: mengapa USB juga serial? (hemat kabel, kecepatan dikejar dengan laju bit tinggi).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Minta mahasiswa memberi contoh lain untuk tiap mode. Walkie-talkie: harus bilang "ganti" sebelum lawan bicara.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Ingatkan: Serial Monitor sejak Pertemuan 1 sudah memakai UART0.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TX ke RX (silang), GND bersama. Saat diam jalur HIGH; bit start 0 memberi aba-aba; 8 bit data LSB dulu; bit stop 1. Huruf A = 0x41 dikirim 1,0,0,0,0,0,1,0.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Pertanyaan pancingan: berapa lama mengirim "Halo, ESP32!" + \n (13 byte) pada 9600 baud? Jawab: 13 × 10 / 9600 ≈ 13,5 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Banyak tutorial lama (core 2.x) menulis Serial2.begin(9600) dan berasumsi pin 16/17. Di core 3.x itu salah. RS-232 bertegangan jauh lebih tinggi: wajib lewat IC pengubah seperti MAX3232.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UART hanya mengantar byte. Program yang menentukan kapan kalimat selesai (\n), merapikan, memisah perintah/argumen, dan memvalidasi. toInt("TIGA") = 0, jadi cek angka dulu.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 rapat RT: satu pemimpin (controller) memanggil warga (target) berdasarkan nama (alamat).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Perangkat hanya menarik ke LOW; HIGH dari resistor pull-up. Alamat 7 bit: 112 alamat terpakai (0x08–0x77). Istilah master/slave diganti controller/target sejak UM10204 rev. 7 (2021). Kecepatan 100 kHz (bawaan Wire) atau 400 kHz.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dan STOP terjadi saat SCL HIGH; data hanya berubah saat SCL LOW. Alamat 0x3C + W = 0x78 di kabel, itu sebabnya penjual kadang menulis "0x78". Pemindai I2C = beginTransmission + endTransmission tanpa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bertambah ke bawah. Ukuran teks 1 = 6×8 piksel (21 huruf × 8 baris). Buffer 1.024 byte; display() mengirim semuanya (±23 ms pada 400 kHz). Kesalahan klasik: lupa display().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Saat diam hanya ada gravitasi 1 g. θ = arccos(az/|a|). Contoh ay = 4,90, az = 8,49 → 30°. Pustaka Adafruit memberi m/s² dan rad/s (1 rad/s ≈ 57,3 °/s). Alamat 0x68, AD0 HIGH → 0x69.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Analogi: guru menunjuk satu murid (CS), lalu bertukar catatan bersamaan (full duplex).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Tanpa alamat dan tanpa ACK. ESP32 hingga 80 MHz di pin IO_MUX (SPI3: 18/19/23/5), 40 MHz lewat matriks GPIO. Contoh: kartu microSD, layar TFT. Konsep saja di pertemuan 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Tips: lihat datasheet dulu (sering sudah ditentukan). Banyak sensor lambat → I2C. Data besar dan cepat → SPI. Perintah teks/laptop → UART. Contoh hitung: gambar TFT 153.600 byte, I2C 400 kHz ±3,5 s vs SPI 20 MHz ±61 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P2–P4 memakai rangkaian yang sama (P3 cukup OLED). Ingatkan: cabut USB saat merangkai, cek urutan pin VCC/GND OLED. Di Wokwi, klik MPU6050 saat simulasi untuk mengubah percepatan.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Hasil QEMU/Wokwi persis ada di modul. Di board asli, monitor_echo = yes menampilkan ketikan; monitor_eol = LF mengirim \n. Serial.setTimeout(5000) mencegah ketikan lambat terpotong karena monitor PlatformIO mengirim per huruf.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Jawaban: C. Satu byte = 10 bit (start + 8 data + stop). B adalah jebakan: lupa bit start dan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Tanyakan satu hal paling membingungkan hari ini; jawab di awal pertemuan berikutnya.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Pertemuan 10 membahas sensor, aktuator, pustaka, dan cara membaca datasheet; pemindai I2C hari ini akan dipakai lagi.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JUDUL">
    <p:bg>
      <p:bgPr>
        <a:solidFill>
          <a:srgbClr val="0F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ools/kit/slides/assets/pcb-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0"/>
            <a:ext cx="560801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17320"/>
            <a:ext cx="6583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920240"/>
            <a:ext cx="64008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31920"/>
            <a:ext cx="62179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6D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6" name="Text 0"/>
          <p:cNvSpPr/>
          <p:nvPr/>
        </p:nvSpPr>
        <p:spPr>
          <a:xfrm>
            <a:off x="548640" y="57150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6DA"/>
                </a:solidFill>
              </a:rPr>
              <a:t>Sistem Tertanam (Embedded Systems) · S1 Teknik Elektro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548640" y="60350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6DA"/>
                </a:solidFill>
              </a:rPr>
              <a:t>Dosen Pengampu: Anton Prafanto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GIAN">
    <p:bg>
      <p:bgPr>
        <a:solidFill>
          <a:srgbClr val="0F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tools/kit/slides/assets/pcb-art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0"/>
            <a:ext cx="39620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E6D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S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Pertemuan 09 · Komunikasi Serial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LAP">
    <p:bg>
      <p:bgPr>
        <a:solidFill>
          <a:srgbClr val="0F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FAF"/>
                </a:solidFill>
              </a:rPr>
              <a:t>Pertemuan 09 · Komunikasi Serial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F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417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chemeClr val="accent2"/>
                </a:solidFill>
              </a:rPr>
              <a:t>PERTEMUAN 09</a:t>
            </a:r>
            <a:endParaRPr lang="en-US" sz="18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1920240"/>
            <a:ext cx="6400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Komunikasi Serial: UART, I2C, dan SPI</a:t>
            </a: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393192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Mengajari ESP32 mengobrol dengan laptop, layar, dan sensor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Tujuan Pembelajaran</a:t>
            </a:r>
            <a:endParaRPr lang="en-US" sz="3000" dirty="0"/>
          </a:p>
        </p:txBody>
      </p:sp>
      <p:sp>
        <p:nvSpPr>
          <p:cNvPr id="3" name="pad"/>
          <p:cNvSpPr/>
          <p:nvPr/>
        </p:nvSpPr>
        <p:spPr>
          <a:xfrm>
            <a:off x="548640" y="14996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4" name="ikon-random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641348"/>
            <a:ext cx="283464" cy="2834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3258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Membedakan paralel/serial, sinkron/asinkron, dan arah komunikasi</a:t>
            </a:r>
            <a:endParaRPr lang="en-US" sz="2000" dirty="0"/>
          </a:p>
        </p:txBody>
      </p:sp>
      <p:sp>
        <p:nvSpPr>
          <p:cNvPr id="6" name="pad"/>
          <p:cNvSpPr/>
          <p:nvPr/>
        </p:nvSpPr>
        <p:spPr>
          <a:xfrm>
            <a:off x="548640" y="24140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7" name="ikon-wav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2555748"/>
            <a:ext cx="283464" cy="28346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Menjelaskan bingkai UART </a:t>
            </a:r>
            <a:r>
              <a:rPr lang="en-US" sz="2000" b="1" dirty="0">
                <a:solidFill>
                  <a:schemeClr val="tx1"/>
                </a:solidFill>
              </a:rPr>
              <a:t>8N1</a:t>
            </a:r>
            <a:r>
              <a:rPr lang="en-US" sz="2000" dirty="0">
                <a:solidFill>
                  <a:schemeClr val="tx1"/>
                </a:solidFill>
              </a:rPr>
              <a:t> dan menghitung dari </a:t>
            </a:r>
            <a:r>
              <a:rPr lang="en-US" sz="2000" i="1" dirty="0">
                <a:solidFill>
                  <a:schemeClr val="tx1"/>
                </a:solidFill>
              </a:rPr>
              <a:t>baud rate</a:t>
            </a:r>
            <a:endParaRPr lang="en-US" sz="2000" dirty="0"/>
          </a:p>
        </p:txBody>
      </p:sp>
      <p:sp>
        <p:nvSpPr>
          <p:cNvPr id="9" name="pad"/>
          <p:cNvSpPr/>
          <p:nvPr/>
        </p:nvSpPr>
        <p:spPr>
          <a:xfrm>
            <a:off x="548640" y="33284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terminal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3470148"/>
            <a:ext cx="283464" cy="28346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1546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Membuat </a:t>
            </a:r>
            <a:r>
              <a:rPr lang="en-US" sz="2000" b="1" dirty="0">
                <a:solidFill>
                  <a:schemeClr val="tx1"/>
                </a:solidFill>
              </a:rPr>
              <a:t>protokol perintah teks</a:t>
            </a:r>
            <a:r>
              <a:rPr lang="en-US" sz="2000" dirty="0">
                <a:solidFill>
                  <a:schemeClr val="tx1"/>
                </a:solidFill>
              </a:rPr>
              <a:t> dengan validasi</a:t>
            </a:r>
            <a:endParaRPr lang="en-US" sz="2000" dirty="0"/>
          </a:p>
        </p:txBody>
      </p:sp>
      <p:sp>
        <p:nvSpPr>
          <p:cNvPr id="12" name="pad"/>
          <p:cNvSpPr/>
          <p:nvPr/>
        </p:nvSpPr>
        <p:spPr>
          <a:xfrm>
            <a:off x="548640" y="42428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3" name="ikon-sitemap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" y="4384548"/>
            <a:ext cx="283464" cy="28346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25880" y="40690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Memakai </a:t>
            </a:r>
            <a:r>
              <a:rPr lang="en-US" sz="2000" b="1" dirty="0">
                <a:solidFill>
                  <a:schemeClr val="tx1"/>
                </a:solidFill>
              </a:rPr>
              <a:t>I2C</a:t>
            </a:r>
            <a:r>
              <a:rPr lang="en-US" sz="2000" dirty="0">
                <a:solidFill>
                  <a:schemeClr val="tx1"/>
                </a:solidFill>
              </a:rPr>
              <a:t>: pemindai alamat, OLED SSD1306, MPU6050</a:t>
            </a:r>
            <a:endParaRPr lang="en-US" sz="2000" dirty="0"/>
          </a:p>
        </p:txBody>
      </p:sp>
      <p:sp>
        <p:nvSpPr>
          <p:cNvPr id="15" name="pad"/>
          <p:cNvSpPr/>
          <p:nvPr/>
        </p:nvSpPr>
        <p:spPr>
          <a:xfrm>
            <a:off x="548640" y="5157216"/>
            <a:ext cx="566928" cy="566928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6" name="ikon-rout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" y="5298948"/>
            <a:ext cx="283464" cy="28346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325880" y="498348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Menjelaskan </a:t>
            </a:r>
            <a:r>
              <a:rPr lang="en-US" sz="2000" b="1" dirty="0">
                <a:solidFill>
                  <a:schemeClr val="tx1"/>
                </a:solidFill>
              </a:rPr>
              <a:t>SPI</a:t>
            </a:r>
            <a:r>
              <a:rPr lang="en-US" sz="2000" dirty="0">
                <a:solidFill>
                  <a:schemeClr val="tx1"/>
                </a:solidFill>
              </a:rPr>
              <a:t> dan memilih protokol yang tepat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Peta Materi Hari Ini</a:t>
            </a:r>
            <a:endParaRPr lang="en-US" sz="3000" dirty="0"/>
          </a:p>
        </p:txBody>
      </p:sp>
      <p:sp>
        <p:nvSpPr>
          <p:cNvPr id="3" name="kartu"/>
          <p:cNvSpPr/>
          <p:nvPr/>
        </p:nvSpPr>
        <p:spPr>
          <a:xfrm>
            <a:off x="548640" y="132588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32588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Paralel vs serial, sinkron vs asinkron</a:t>
            </a:r>
            <a:endParaRPr lang="en-US" sz="1900" dirty="0"/>
          </a:p>
        </p:txBody>
      </p:sp>
      <p:sp>
        <p:nvSpPr>
          <p:cNvPr id="6" name="kartu"/>
          <p:cNvSpPr/>
          <p:nvPr/>
        </p:nvSpPr>
        <p:spPr>
          <a:xfrm>
            <a:off x="548640" y="219456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19456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UART dan bingkai 8N1</a:t>
            </a:r>
            <a:endParaRPr lang="en-US" sz="1900" dirty="0"/>
          </a:p>
        </p:txBody>
      </p:sp>
      <p:sp>
        <p:nvSpPr>
          <p:cNvPr id="9" name="kartu"/>
          <p:cNvSpPr/>
          <p:nvPr/>
        </p:nvSpPr>
        <p:spPr>
          <a:xfrm>
            <a:off x="548640" y="306324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063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06324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Protokol perintah teks</a:t>
            </a:r>
            <a:endParaRPr lang="en-US" sz="1900" dirty="0"/>
          </a:p>
        </p:txBody>
      </p:sp>
      <p:sp>
        <p:nvSpPr>
          <p:cNvPr id="12" name="kartu"/>
          <p:cNvSpPr/>
          <p:nvPr/>
        </p:nvSpPr>
        <p:spPr>
          <a:xfrm>
            <a:off x="6278728" y="132588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61608" y="1325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193128" y="132588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I2C: bus, alamat, transaksi</a:t>
            </a:r>
            <a:endParaRPr lang="en-US" sz="1900" dirty="0"/>
          </a:p>
        </p:txBody>
      </p:sp>
      <p:sp>
        <p:nvSpPr>
          <p:cNvPr id="15" name="kartu"/>
          <p:cNvSpPr/>
          <p:nvPr/>
        </p:nvSpPr>
        <p:spPr>
          <a:xfrm>
            <a:off x="6278728" y="219456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05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7193128" y="219456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OLED SSD1306 dan MPU6050</a:t>
            </a:r>
            <a:endParaRPr lang="en-US" sz="1900" dirty="0"/>
          </a:p>
        </p:txBody>
      </p:sp>
      <p:sp>
        <p:nvSpPr>
          <p:cNvPr id="18" name="kartu"/>
          <p:cNvSpPr/>
          <p:nvPr/>
        </p:nvSpPr>
        <p:spPr>
          <a:xfrm>
            <a:off x="6278728" y="3063240"/>
            <a:ext cx="5364328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61608" y="3063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06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7193128" y="3063240"/>
            <a:ext cx="4267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SPI dan memilih protokol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Mengapa ESP32 Perlu Mengobrol?</a:t>
            </a:r>
            <a:endParaRPr lang="en-US" sz="3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Mengirim banyak data lewat sedikit kabel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Tiga Cara Mengirim Data Digital</a:t>
            </a:r>
            <a:endParaRPr lang="en-US" sz="3000" dirty="0"/>
          </a:p>
        </p:txBody>
      </p:sp>
      <p:pic>
        <p:nvPicPr>
          <p:cNvPr id="3" name="gambar" descr="/home/claude/work/slides/img/p09/p09-paralel-vs-ser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655" y="1280160"/>
            <a:ext cx="11012384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Arah Komunikasi</a:t>
            </a:r>
            <a:endParaRPr lang="en-US" sz="3000" dirty="0"/>
          </a:p>
        </p:txBody>
      </p:sp>
      <p:graphicFrame>
        <p:nvGraphicFramePr>
          <p:cNvPr id="7" name="tab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256032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Mode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Arah data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Analogi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Contoh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Simplex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Satu arah saja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Radio FM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Remote TV inframerah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Half duplex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Dua arah, bergantian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Walkie-talkie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I2C (SDA dipakai bergantian)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Full duplex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Dua arah, bersamaan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Telepon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UART (TX/RX), SPI (MOSI/MISO)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UART dan Protokol Perintah Teks</a:t>
            </a:r>
            <a:endParaRPr lang="en-US" sz="3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Mengobrol berdua tanpa clock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UART: Sambungan Silang dan Bingkai 8N1</a:t>
            </a:r>
            <a:endParaRPr lang="en-US" sz="3000" dirty="0"/>
          </a:p>
        </p:txBody>
      </p:sp>
      <p:pic>
        <p:nvPicPr>
          <p:cNvPr id="3" name="gambar" descr="/home/claude/work/slides/img/p09/p09-uart-sambungan-bingk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6237" y="1280160"/>
            <a:ext cx="7639222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Berhitung dengan 115200 Baud</a:t>
            </a:r>
            <a:endParaRPr lang="en-US" sz="3000" dirty="0"/>
          </a:p>
        </p:txBody>
      </p:sp>
      <p:sp>
        <p:nvSpPr>
          <p:cNvPr id="3" name="kartu"/>
          <p:cNvSpPr/>
          <p:nvPr/>
        </p:nvSpPr>
        <p:spPr>
          <a:xfrm>
            <a:off x="548640" y="2127250"/>
            <a:ext cx="2533574" cy="2324608"/>
          </a:xfrm>
          <a:prstGeom prst="roundRect">
            <a:avLst>
              <a:gd name="adj" fmla="val 472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401570"/>
            <a:ext cx="2167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chemeClr val="accent1"/>
                </a:solidFill>
              </a:rPr>
              <a:t>8,68 µs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36010"/>
            <a:ext cx="2167814" cy="632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lama 1 bit (1 ÷ 115200)</a:t>
            </a:r>
            <a:endParaRPr lang="en-US" sz="1600" dirty="0"/>
          </a:p>
        </p:txBody>
      </p:sp>
      <p:sp>
        <p:nvSpPr>
          <p:cNvPr id="6" name="kartu"/>
          <p:cNvSpPr/>
          <p:nvPr/>
        </p:nvSpPr>
        <p:spPr>
          <a:xfrm>
            <a:off x="3402254" y="2127250"/>
            <a:ext cx="2533574" cy="2324608"/>
          </a:xfrm>
          <a:prstGeom prst="roundRect">
            <a:avLst>
              <a:gd name="adj" fmla="val 472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85134" y="2401570"/>
            <a:ext cx="2167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chemeClr val="accent1"/>
                </a:solidFill>
              </a:rPr>
              <a:t>10 bit</a:t>
            </a:r>
            <a:endParaRPr lang="en-US" sz="4900" dirty="0"/>
          </a:p>
        </p:txBody>
      </p:sp>
      <p:sp>
        <p:nvSpPr>
          <p:cNvPr id="8" name="Text 6"/>
          <p:cNvSpPr txBox="1"/>
          <p:nvPr/>
        </p:nvSpPr>
        <p:spPr>
          <a:xfrm>
            <a:off x="3585134" y="3636010"/>
            <a:ext cx="2167814" cy="632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per byte: start + 8 data + stop</a:t>
            </a:r>
            <a:endParaRPr lang="en-US" sz="1600" dirty="0"/>
          </a:p>
        </p:txBody>
      </p:sp>
      <p:sp>
        <p:nvSpPr>
          <p:cNvPr id="9" name="kartu"/>
          <p:cNvSpPr/>
          <p:nvPr/>
        </p:nvSpPr>
        <p:spPr>
          <a:xfrm>
            <a:off x="6255868" y="2127250"/>
            <a:ext cx="2533574" cy="2324608"/>
          </a:xfrm>
          <a:prstGeom prst="roundRect">
            <a:avLst>
              <a:gd name="adj" fmla="val 472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38748" y="2401570"/>
            <a:ext cx="2167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chemeClr val="accent1"/>
                </a:solidFill>
              </a:rPr>
              <a:t>86,8 µs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6438748" y="3636010"/>
            <a:ext cx="2167814" cy="632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lama 1 bingkai 8N1</a:t>
            </a:r>
            <a:endParaRPr lang="en-US" sz="1600" dirty="0"/>
          </a:p>
        </p:txBody>
      </p:sp>
      <p:sp>
        <p:nvSpPr>
          <p:cNvPr id="12" name="kartu"/>
          <p:cNvSpPr/>
          <p:nvPr/>
        </p:nvSpPr>
        <p:spPr>
          <a:xfrm>
            <a:off x="9109481" y="2127250"/>
            <a:ext cx="2533574" cy="2324608"/>
          </a:xfrm>
          <a:prstGeom prst="roundRect">
            <a:avLst>
              <a:gd name="adj" fmla="val 472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92361" y="2401570"/>
            <a:ext cx="21678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chemeClr val="accent1"/>
                </a:solidFill>
              </a:rPr>
              <a:t>11.520</a:t>
            </a:r>
            <a:endParaRPr lang="en-US" sz="4900" dirty="0"/>
          </a:p>
        </p:txBody>
      </p:sp>
      <p:sp>
        <p:nvSpPr>
          <p:cNvPr id="14" name="Text 12"/>
          <p:cNvSpPr txBox="1"/>
          <p:nvPr/>
        </p:nvSpPr>
        <p:spPr>
          <a:xfrm>
            <a:off x="9292361" y="3636010"/>
            <a:ext cx="2167814" cy="632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byte per detik (maksimum)</a:t>
            </a:r>
            <a:endParaRPr lang="en-US" sz="1600" dirty="0"/>
          </a:p>
        </p:txBody>
      </p:sp>
      <p:sp>
        <p:nvSpPr>
          <p:cNvPr id="15" name="daftar-poin"/>
          <p:cNvSpPr txBox="1"/>
          <p:nvPr/>
        </p:nvSpPr>
        <p:spPr>
          <a:xfrm>
            <a:off x="548640" y="4726178"/>
            <a:ext cx="11094415" cy="1446022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Pada 9600 baud: 1 bit ±104,17 µs, maksimum 960 byte per detik.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UART Kedua: Serial2 dengan Pin Eksplisit</a:t>
            </a:r>
            <a:endParaRPr lang="en-US" sz="3000" dirty="0"/>
          </a:p>
        </p:txBody>
      </p:sp>
      <p:sp>
        <p:nvSpPr>
          <p:cNvPr id="3" name="blok-kode"/>
          <p:cNvSpPr/>
          <p:nvPr/>
        </p:nvSpPr>
        <p:spPr>
          <a:xfrm>
            <a:off x="548640" y="1325880"/>
            <a:ext cx="6656649" cy="4796028"/>
          </a:xfrm>
          <a:prstGeom prst="roundRect">
            <a:avLst>
              <a:gd name="adj" fmla="val 1907"/>
            </a:avLst>
          </a:prstGeom>
          <a:solidFill>
            <a:srgbClr val="10231A"/>
          </a:solidFill>
          <a:ln w="12700">
            <a:solidFill>
              <a:srgbClr val="1023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6199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contoh Serial2 (core 3.x)</a:t>
            </a:r>
            <a:endParaRPr lang="en-US" sz="1100" dirty="0"/>
          </a:p>
        </p:txBody>
      </p:sp>
      <p:sp>
        <p:nvSpPr>
          <p:cNvPr id="5" name="kode"/>
          <p:cNvSpPr txBox="1"/>
          <p:nvPr/>
        </p:nvSpPr>
        <p:spPr>
          <a:xfrm>
            <a:off x="777240" y="1783080"/>
            <a:ext cx="6290889" cy="422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PIN_RX2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8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label RX2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PIN_TX2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8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label TX2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115200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800" i="1" dirty="0">
                <a:solidFill>
                  <a:srgbClr val="86B5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UART0 → USB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Serial2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SERIAL_8N1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</a:t>
            </a:r>
            <a:r>
              <a:rPr lang="en-US" sz="18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PIN_RX2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>
                <a:solidFill>
                  <a:srgbClr val="7CC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PIN_TX2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8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Serial2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available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Serial2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8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800" dirty="0"/>
          </a:p>
        </p:txBody>
      </p:sp>
      <p:sp>
        <p:nvSpPr>
          <p:cNvPr id="6" name="daftar-poin"/>
          <p:cNvSpPr txBox="1"/>
          <p:nvPr/>
        </p:nvSpPr>
        <p:spPr>
          <a:xfrm>
            <a:off x="7571049" y="1325880"/>
            <a:ext cx="4072006" cy="484632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r>
              <a:rPr lang="en-US" sz="1700" dirty="0">
                <a:solidFill>
                  <a:schemeClr val="tx1"/>
                </a:solidFill>
              </a:rPr>
              <a:t> = UART0 (GPIO 1/3) → Serial Monitor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Core 3.x: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Serial2</a:t>
            </a:r>
            <a:r>
              <a:rPr lang="en-US" sz="1700" dirty="0">
                <a:solidFill>
                  <a:schemeClr val="tx1"/>
                </a:solidFill>
              </a:rPr>
              <a:t> bawaan RX 4/TX 25, </a:t>
            </a:r>
            <a:r>
              <a:rPr lang="en-US" sz="1700" b="1" dirty="0">
                <a:solidFill>
                  <a:schemeClr val="tx1"/>
                </a:solidFill>
              </a:rPr>
              <a:t>bukan</a:t>
            </a:r>
            <a:r>
              <a:rPr lang="en-US" sz="1700" dirty="0">
                <a:solidFill>
                  <a:schemeClr val="tx1"/>
                </a:solidFill>
              </a:rPr>
              <a:t> 16/17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Urutan argumen: baud, format, </a:t>
            </a:r>
            <a:r>
              <a:rPr lang="en-US" sz="1700" b="1" dirty="0">
                <a:solidFill>
                  <a:schemeClr val="tx1"/>
                </a:solidFill>
              </a:rPr>
              <a:t>RX</a:t>
            </a:r>
            <a:r>
              <a:rPr lang="en-US" sz="1700" dirty="0">
                <a:solidFill>
                  <a:schemeClr val="tx1"/>
                </a:solidFill>
              </a:rPr>
              <a:t>, lalu </a:t>
            </a:r>
            <a:r>
              <a:rPr lang="en-US" sz="1700" b="1" dirty="0">
                <a:solidFill>
                  <a:schemeClr val="tx1"/>
                </a:solidFill>
              </a:rPr>
              <a:t>TX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Pin ESP32 hanya </a:t>
            </a:r>
            <a:r>
              <a:rPr lang="en-US" sz="1700" b="1" dirty="0">
                <a:solidFill>
                  <a:schemeClr val="tx1"/>
                </a:solidFill>
              </a:rPr>
              <a:t>3,3 V</a:t>
            </a:r>
            <a:r>
              <a:rPr lang="en-US" sz="1700" dirty="0">
                <a:solidFill>
                  <a:schemeClr val="tx1"/>
                </a:solidFill>
              </a:rPr>
              <a:t>: modul 5 V butuh pengubah level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Protokol Perintah Teks (Praktikum 1)</a:t>
            </a:r>
            <a:endParaRPr lang="en-US" sz="3000" dirty="0"/>
          </a:p>
        </p:txBody>
      </p:sp>
      <p:pic>
        <p:nvPicPr>
          <p:cNvPr id="3" name="gambar" descr="/home/claude/work/slides/img/p09/p09-alur-perinta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113" y="1280160"/>
            <a:ext cx="910147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I2C, OLED, dan MPU6050</a:t>
            </a:r>
            <a:endParaRPr lang="en-US" sz="3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Dua kabel untuk banyak perangkat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 I2C: Open-Drain dan Pull-Up</a:t>
            </a:r>
            <a:endParaRPr lang="en-US" sz="3000" dirty="0"/>
          </a:p>
        </p:txBody>
      </p:sp>
      <p:pic>
        <p:nvPicPr>
          <p:cNvPr id="3" name="gambar" descr="/home/claude/work/slides/img/p09/p09-bus-i2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096" y="1280160"/>
            <a:ext cx="10257503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Satu Transaksi I2C</a:t>
            </a:r>
            <a:endParaRPr lang="en-US" sz="3000" dirty="0"/>
          </a:p>
        </p:txBody>
      </p:sp>
      <p:pic>
        <p:nvPicPr>
          <p:cNvPr id="3" name="gambar" descr="/home/claude/work/slides/img/p09/p09-transaksi-i2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47281"/>
            <a:ext cx="11094415" cy="475779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OLED SSD1306: Koordinat dan Buffer</a:t>
            </a:r>
            <a:endParaRPr lang="en-US" sz="3000" dirty="0"/>
          </a:p>
        </p:txBody>
      </p:sp>
      <p:pic>
        <p:nvPicPr>
          <p:cNvPr id="3" name="gambar" descr="/home/claude/work/slides/img/p09/p09-koordinat-ol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505" y="1280160"/>
            <a:ext cx="10094686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MPU6050: Kemiringan dari Akselerometer</a:t>
            </a:r>
            <a:endParaRPr lang="en-US" sz="3000" dirty="0"/>
          </a:p>
        </p:txBody>
      </p:sp>
      <p:pic>
        <p:nvPicPr>
          <p:cNvPr id="3" name="gambar" descr="/home/claude/work/slides/img/p09/p09-kemiringan-mpu605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7646" y="1280160"/>
            <a:ext cx="9956402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SPI dan Memilih Protokol</a:t>
            </a:r>
            <a:endParaRPr lang="en-US" sz="3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6DA"/>
                </a:solidFill>
              </a:rPr>
              <a:t>Jalur cepat empat kabel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SPI: Satu CS untuk Setiap Perangkat</a:t>
            </a:r>
            <a:endParaRPr lang="en-US" sz="3000" dirty="0"/>
          </a:p>
        </p:txBody>
      </p:sp>
      <p:pic>
        <p:nvPicPr>
          <p:cNvPr id="3" name="gambar" descr="/home/claude/work/slides/img/p09/p09-bus-sp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6066" y="1280160"/>
            <a:ext cx="7999562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UART vs I2C vs SPI</a:t>
            </a:r>
            <a:endParaRPr lang="en-US" sz="3000" dirty="0"/>
          </a:p>
        </p:txBody>
      </p:sp>
      <p:graphicFrame>
        <p:nvGraphicFramePr>
          <p:cNvPr id="20" name="tabe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83464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Aspek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UART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I2C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SPI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Kabel sinyal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TX, RX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SDA, SCL (bersama)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SCK, MOSI, MISO + CS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Clock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Tidak ada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SCL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SCK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Arah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Full duplex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Half duplex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Full duplex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Memilih perangkat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 (dua pihak)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Alamat 7 bit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Kabel CS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Kecepatan umum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9600–115200 baud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100/400 kHz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MHz – puluhan MHz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Pin ESP32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Serial2: atur sendiri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SDA 21, SCL 22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18/19/23/5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Contoh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Laptop, GPS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OLED, MPU6050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microSD, TFT</a:t>
                      </a:r>
                      <a:endParaRPr lang="en-US" sz="1600" dirty="0"/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Praktikum: Empat Percobaan</a:t>
            </a:r>
            <a:endParaRPr lang="en-US" sz="3000" dirty="0"/>
          </a:p>
        </p:txBody>
      </p:sp>
      <p:sp>
        <p:nvSpPr>
          <p:cNvPr id="3" name="daftar-poin"/>
          <p:cNvSpPr txBox="1"/>
          <p:nvPr/>
        </p:nvSpPr>
        <p:spPr>
          <a:xfrm>
            <a:off x="548640" y="1325880"/>
            <a:ext cx="5403336" cy="484632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P1</a:t>
            </a:r>
            <a:r>
              <a:rPr lang="en-US" sz="2000" dirty="0">
                <a:solidFill>
                  <a:schemeClr val="tx1"/>
                </a:solidFill>
              </a:rPr>
              <a:t> Perintah teks lewat Serial (tanpa komponen)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P2</a:t>
            </a:r>
            <a:r>
              <a:rPr lang="en-US" sz="2000" dirty="0">
                <a:solidFill>
                  <a:schemeClr val="tx1"/>
                </a:solidFill>
              </a:rPr>
              <a:t> Pemindai alamat I2C: temukan 0x3C dan 0x68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P3</a:t>
            </a:r>
            <a:r>
              <a:rPr lang="en-US" sz="2000" dirty="0">
                <a:solidFill>
                  <a:schemeClr val="tx1"/>
                </a:solidFill>
              </a:rPr>
              <a:t> OLED: teks, angka detik, dan bar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P4</a:t>
            </a:r>
            <a:r>
              <a:rPr lang="en-US" sz="2000" dirty="0">
                <a:solidFill>
                  <a:schemeClr val="tx1"/>
                </a:solidFill>
              </a:rPr>
              <a:t> Waterpas digital: MPU6050 + OLED</a:t>
            </a:r>
            <a:endParaRPr lang="en-US" sz="20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VCC → </a:t>
            </a:r>
            <a:r>
              <a:rPr lang="en-US" sz="2000" b="1" dirty="0">
                <a:solidFill>
                  <a:schemeClr val="tx1"/>
                </a:solidFill>
              </a:rPr>
              <a:t>3V3</a:t>
            </a:r>
            <a:r>
              <a:rPr lang="en-US" sz="2000" dirty="0">
                <a:solidFill>
                  <a:schemeClr val="tx1"/>
                </a:solidFill>
              </a:rPr>
              <a:t>, SDA → GPIO 21, SCL → GPIO 22</a:t>
            </a:r>
            <a:endParaRPr lang="en-US" sz="2000" dirty="0"/>
          </a:p>
        </p:txBody>
      </p:sp>
      <p:pic>
        <p:nvPicPr>
          <p:cNvPr id="4" name="gambar" descr="/home/claude/repo/pertemuan-09-komunikasi-serial/gambar/p09-rangkaian-oled-mpu605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7736" y="1570552"/>
            <a:ext cx="5325319" cy="40369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317736" y="5653208"/>
            <a:ext cx="5325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Rangkaian: @wokwi/elements, wokwi-boards (MIT)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Praktikum 1: Validasi Dua Lapis</a:t>
            </a:r>
            <a:endParaRPr lang="en-US" sz="3000" dirty="0"/>
          </a:p>
        </p:txBody>
      </p:sp>
      <p:sp>
        <p:nvSpPr>
          <p:cNvPr id="3" name="blok-kode"/>
          <p:cNvSpPr/>
          <p:nvPr/>
        </p:nvSpPr>
        <p:spPr>
          <a:xfrm>
            <a:off x="548640" y="1325880"/>
            <a:ext cx="6656649" cy="3684778"/>
          </a:xfrm>
          <a:prstGeom prst="roundRect">
            <a:avLst>
              <a:gd name="adj" fmla="val 2482"/>
            </a:avLst>
          </a:prstGeom>
          <a:solidFill>
            <a:srgbClr val="10231A"/>
          </a:solidFill>
          <a:ln w="12700">
            <a:solidFill>
              <a:srgbClr val="1023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99032"/>
            <a:ext cx="61994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kode/01-perintah-serial (disederhanakan)</a:t>
            </a:r>
            <a:endParaRPr lang="en-US" sz="1100" dirty="0"/>
          </a:p>
        </p:txBody>
      </p:sp>
      <p:sp>
        <p:nvSpPr>
          <p:cNvPr id="5" name="kode"/>
          <p:cNvSpPr txBox="1"/>
          <p:nvPr/>
        </p:nvSpPr>
        <p:spPr>
          <a:xfrm>
            <a:off x="777240" y="1783080"/>
            <a:ext cx="6290889" cy="311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perintah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F0A9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"KEDIP"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semuaAngka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argumen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kirimGalat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0A9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"KEDIP butuh angka bulat. "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</a:t>
            </a:r>
            <a:r>
              <a:rPr lang="en-US" sz="1400" dirty="0">
                <a:solidFill>
                  <a:srgbClr val="F0A9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"Contoh: KEDIP 3"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5FD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kali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argumen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toInt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kali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kali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9DD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kirimGalat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F0A9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"Jumlah kedip harus 1 sampai 10."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400" dirty="0">
                <a:solidFill>
                  <a:srgbClr val="D7A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400" dirty="0">
                <a:solidFill>
                  <a:srgbClr val="E8DC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kedipkan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400" dirty="0">
                <a:solidFill>
                  <a:srgbClr val="D9E6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kali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8C9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daftar-poin"/>
          <p:cNvSpPr txBox="1"/>
          <p:nvPr/>
        </p:nvSpPr>
        <p:spPr>
          <a:xfrm>
            <a:off x="7571049" y="1325880"/>
            <a:ext cx="4072006" cy="484632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readStringUntil('\n')</a:t>
            </a:r>
            <a:r>
              <a:rPr lang="en-US" sz="1700" dirty="0">
                <a:solidFill>
                  <a:schemeClr val="tx1"/>
                </a:solidFill>
              </a:rPr>
              <a:t> membaca per baris, lalu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trim()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toInt()</a:t>
            </a:r>
            <a:r>
              <a:rPr lang="en-US" sz="1700" dirty="0">
                <a:solidFill>
                  <a:schemeClr val="tx1"/>
                </a:solidFill>
              </a:rPr>
              <a:t> mengubah "TIGA" menjadi 0 → cek angka dulu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Pesan galat: apa yang salah + aturan + contoh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Uji: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KEDIP 3</a:t>
            </a:r>
            <a:r>
              <a:rPr lang="en-US" sz="1700" dirty="0">
                <a:solidFill>
                  <a:schemeClr val="tx1"/>
                </a:solidFill>
              </a:rPr>
              <a:t>,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KEDIP 20</a:t>
            </a:r>
            <a:r>
              <a:rPr lang="en-US" sz="1700" dirty="0">
                <a:solidFill>
                  <a:schemeClr val="tx1"/>
                </a:solidFill>
              </a:rPr>
              <a:t>,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kedip tiga</a:t>
            </a:r>
            <a:r>
              <a:rPr lang="en-US" sz="1700" dirty="0">
                <a:solidFill>
                  <a:schemeClr val="tx1"/>
                </a:solidFill>
              </a:rPr>
              <a:t>, </a:t>
            </a:r>
            <a:r>
              <a:rPr lang="en-US" sz="1700" dirty="0">
                <a:solidFill>
                  <a:srgbClr val="A35F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Kuis Cepat</a:t>
            </a:r>
            <a:endParaRPr lang="en-US" sz="3000" dirty="0"/>
          </a:p>
        </p:txBody>
      </p:sp>
      <p:sp>
        <p:nvSpPr>
          <p:cNvPr id="3" name="pad"/>
          <p:cNvSpPr/>
          <p:nvPr/>
        </p:nvSpPr>
        <p:spPr>
          <a:xfrm>
            <a:off x="548640" y="1371600"/>
            <a:ext cx="685800" cy="6858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4" name="ikon-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1543050"/>
            <a:ext cx="342900" cy="3429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32588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Pada 115200 baud (format 8N1), berapa byte maksimum yang terkirim per detik?</a:t>
            </a:r>
            <a:endParaRPr lang="en-US" sz="2200" dirty="0"/>
          </a:p>
        </p:txBody>
      </p:sp>
      <p:sp>
        <p:nvSpPr>
          <p:cNvPr id="6" name="kartu"/>
          <p:cNvSpPr/>
          <p:nvPr/>
        </p:nvSpPr>
        <p:spPr>
          <a:xfrm>
            <a:off x="548640" y="251460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251460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A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325880" y="251460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115.200</a:t>
            </a:r>
            <a:endParaRPr lang="en-US" sz="1800" dirty="0"/>
          </a:p>
        </p:txBody>
      </p:sp>
      <p:sp>
        <p:nvSpPr>
          <p:cNvPr id="9" name="kartu"/>
          <p:cNvSpPr/>
          <p:nvPr/>
        </p:nvSpPr>
        <p:spPr>
          <a:xfrm>
            <a:off x="6233008" y="251460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15888" y="251460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B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010248" y="251460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14.400</a:t>
            </a:r>
            <a:endParaRPr lang="en-US" sz="1800" dirty="0"/>
          </a:p>
        </p:txBody>
      </p:sp>
      <p:sp>
        <p:nvSpPr>
          <p:cNvPr id="12" name="kartu"/>
          <p:cNvSpPr/>
          <p:nvPr/>
        </p:nvSpPr>
        <p:spPr>
          <a:xfrm>
            <a:off x="548640" y="393192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393192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C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1325880" y="393192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11.520</a:t>
            </a:r>
            <a:endParaRPr lang="en-US" sz="1800" dirty="0"/>
          </a:p>
        </p:txBody>
      </p:sp>
      <p:sp>
        <p:nvSpPr>
          <p:cNvPr id="15" name="kartu"/>
          <p:cNvSpPr/>
          <p:nvPr/>
        </p:nvSpPr>
        <p:spPr>
          <a:xfrm>
            <a:off x="6233008" y="3931920"/>
            <a:ext cx="5410048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15888" y="3931920"/>
            <a:ext cx="548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D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931920"/>
            <a:ext cx="44499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1.152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Rangkuman</a:t>
            </a:r>
            <a:endParaRPr lang="en-US" sz="3200" dirty="0"/>
          </a:p>
        </p:txBody>
      </p:sp>
      <p:sp>
        <p:nvSpPr>
          <p:cNvPr id="3" name="pad"/>
          <p:cNvSpPr/>
          <p:nvPr/>
        </p:nvSpPr>
        <p:spPr>
          <a:xfrm>
            <a:off x="548640" y="158496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4" name="ikon-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703832"/>
            <a:ext cx="219456" cy="2194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1732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Serial hemat pin; sinkron pakai clock (I2C, SPI), asinkron pakai baud rate (UART)</a:t>
            </a:r>
            <a:endParaRPr lang="en-US" sz="2000" dirty="0"/>
          </a:p>
        </p:txBody>
      </p:sp>
      <p:sp>
        <p:nvSpPr>
          <p:cNvPr id="6" name="pad"/>
          <p:cNvSpPr/>
          <p:nvPr/>
        </p:nvSpPr>
        <p:spPr>
          <a:xfrm>
            <a:off x="548640" y="237744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7" name="ikon-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49631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20980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UART: TX↔RX silang + GND; bingkai 8N1, LSB dulu;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Serial2</a:t>
            </a:r>
            <a:r>
              <a:rPr lang="en-US" sz="2000" dirty="0">
                <a:solidFill>
                  <a:schemeClr val="bg1"/>
                </a:solidFill>
              </a:rPr>
              <a:t> core 3.x pin eksplisit</a:t>
            </a:r>
            <a:endParaRPr lang="en-US" sz="2000" dirty="0"/>
          </a:p>
        </p:txBody>
      </p:sp>
      <p:sp>
        <p:nvSpPr>
          <p:cNvPr id="9" name="pad"/>
          <p:cNvSpPr/>
          <p:nvPr/>
        </p:nvSpPr>
        <p:spPr>
          <a:xfrm>
            <a:off x="548640" y="316992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288792"/>
            <a:ext cx="219456" cy="21945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80160" y="300228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Protokol teks: baca per baris → rapikan → pisahkan → validasi → balas</a:t>
            </a:r>
            <a:endParaRPr lang="en-US" sz="2000" dirty="0"/>
          </a:p>
        </p:txBody>
      </p:sp>
      <p:sp>
        <p:nvSpPr>
          <p:cNvPr id="12" name="pad"/>
          <p:cNvSpPr/>
          <p:nvPr/>
        </p:nvSpPr>
        <p:spPr>
          <a:xfrm>
            <a:off x="548640" y="396240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3" name="ikon-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4081272"/>
            <a:ext cx="219456" cy="21945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80160" y="379476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I2C: SDA/SCL + pull-up, alamat 7 bit, START–alamat–ACK–data–STOP</a:t>
            </a:r>
            <a:endParaRPr lang="en-US" sz="2000" dirty="0"/>
          </a:p>
        </p:txBody>
      </p:sp>
      <p:sp>
        <p:nvSpPr>
          <p:cNvPr id="15" name="pad"/>
          <p:cNvSpPr/>
          <p:nvPr/>
        </p:nvSpPr>
        <p:spPr>
          <a:xfrm>
            <a:off x="548640" y="475488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6" name="ikon-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4873752"/>
            <a:ext cx="219456" cy="219456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280160" y="458724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OLED: gambar di buffer lalu </a:t>
            </a:r>
            <a:r>
              <a:rPr lang="en-US" sz="2000" dirty="0">
                <a:solidFill>
                  <a:srgbClr val="F2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display()</a:t>
            </a:r>
            <a:r>
              <a:rPr lang="en-US" sz="2000" dirty="0">
                <a:solidFill>
                  <a:schemeClr val="bg1"/>
                </a:solidFill>
              </a:rPr>
              <a:t>; MPU6050: θ = arccos(az/|a|)</a:t>
            </a:r>
            <a:endParaRPr lang="en-US" sz="2000" dirty="0"/>
          </a:p>
        </p:txBody>
      </p:sp>
      <p:sp>
        <p:nvSpPr>
          <p:cNvPr id="18" name="pad"/>
          <p:cNvSpPr/>
          <p:nvPr/>
        </p:nvSpPr>
        <p:spPr>
          <a:xfrm>
            <a:off x="548640" y="5547360"/>
            <a:ext cx="457200" cy="457200"/>
          </a:xfrm>
          <a:prstGeom prst="ellipse">
            <a:avLst/>
          </a:prstGeom>
          <a:solidFill>
            <a:schemeClr val="tx2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9" name="ikon-check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" y="5666232"/>
            <a:ext cx="219456" cy="219456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280160" y="5379720"/>
            <a:ext cx="1036289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SPI: SCK/MOSI/MISO bersama + satu CS per perangkat, cepat dan full duplex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F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Sebelum Pertemuan 10</a:t>
            </a:r>
            <a:endParaRPr lang="en-US" sz="3200" dirty="0"/>
          </a:p>
        </p:txBody>
      </p:sp>
      <p:sp>
        <p:nvSpPr>
          <p:cNvPr id="3" name="kartu"/>
          <p:cNvSpPr/>
          <p:nvPr/>
        </p:nvSpPr>
        <p:spPr>
          <a:xfrm>
            <a:off x="548640" y="1508760"/>
            <a:ext cx="3484778" cy="4389120"/>
          </a:xfrm>
          <a:prstGeom prst="roundRect">
            <a:avLst>
              <a:gd name="adj" fmla="val 3149"/>
            </a:avLst>
          </a:prstGeom>
          <a:solidFill>
            <a:srgbClr val="17503B"/>
          </a:solidFill>
          <a:ln w="12700">
            <a:solidFill>
              <a:srgbClr val="17503B"/>
            </a:solidFill>
            <a:prstDash val="solid"/>
          </a:ln>
        </p:spPr>
      </p:sp>
      <p:sp>
        <p:nvSpPr>
          <p:cNvPr id="4" name="pad"/>
          <p:cNvSpPr/>
          <p:nvPr/>
        </p:nvSpPr>
        <p:spPr>
          <a:xfrm>
            <a:off x="822960" y="1783080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5" name="ikon-task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9431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603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Tugas</a:t>
            </a:r>
            <a:endParaRPr lang="en-US" sz="2100" dirty="0"/>
          </a:p>
        </p:txBody>
      </p:sp>
      <p:sp>
        <p:nvSpPr>
          <p:cNvPr id="7" name="daftar-poin"/>
          <p:cNvSpPr txBox="1"/>
          <p:nvPr/>
        </p:nvSpPr>
        <p:spPr>
          <a:xfrm>
            <a:off x="822960" y="3063240"/>
            <a:ext cx="2936138" cy="26517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Tambah perintah LED TOGGLE dan TERANG n</a:t>
            </a:r>
            <a:endParaRPr lang="en-US" sz="16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Uji loopback Serial2 (GPIO 17 → 16)</a:t>
            </a:r>
            <a:endParaRPr lang="en-US" sz="1600" dirty="0"/>
          </a:p>
        </p:txBody>
      </p:sp>
      <p:sp>
        <p:nvSpPr>
          <p:cNvPr id="8" name="kartu"/>
          <p:cNvSpPr/>
          <p:nvPr/>
        </p:nvSpPr>
        <p:spPr>
          <a:xfrm>
            <a:off x="4353458" y="1508760"/>
            <a:ext cx="3484778" cy="4389120"/>
          </a:xfrm>
          <a:prstGeom prst="roundRect">
            <a:avLst>
              <a:gd name="adj" fmla="val 3149"/>
            </a:avLst>
          </a:prstGeom>
          <a:solidFill>
            <a:srgbClr val="17503B"/>
          </a:solidFill>
          <a:ln w="12700">
            <a:solidFill>
              <a:srgbClr val="17503B"/>
            </a:solidFill>
            <a:prstDash val="solid"/>
          </a:ln>
        </p:spPr>
      </p:sp>
      <p:sp>
        <p:nvSpPr>
          <p:cNvPr id="9" name="pad"/>
          <p:cNvSpPr/>
          <p:nvPr/>
        </p:nvSpPr>
        <p:spPr>
          <a:xfrm>
            <a:off x="4627778" y="1783080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0" name="ikon-boo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798" y="194310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27778" y="25603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Persiapan</a:t>
            </a:r>
            <a:endParaRPr lang="en-US" sz="2100" dirty="0"/>
          </a:p>
        </p:txBody>
      </p:sp>
      <p:sp>
        <p:nvSpPr>
          <p:cNvPr id="12" name="daftar-poin"/>
          <p:cNvSpPr txBox="1"/>
          <p:nvPr/>
        </p:nvSpPr>
        <p:spPr>
          <a:xfrm>
            <a:off x="4627778" y="3063240"/>
            <a:ext cx="2936138" cy="26517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Baca modul Pertemuan 10: Sensor &amp; Datasheet</a:t>
            </a:r>
            <a:endParaRPr lang="en-US" sz="16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Siapkan DHT22 atau HC-SR04 bila ada</a:t>
            </a:r>
            <a:endParaRPr lang="en-US" sz="1600" dirty="0"/>
          </a:p>
        </p:txBody>
      </p:sp>
      <p:sp>
        <p:nvSpPr>
          <p:cNvPr id="13" name="kartu"/>
          <p:cNvSpPr/>
          <p:nvPr/>
        </p:nvSpPr>
        <p:spPr>
          <a:xfrm>
            <a:off x="8158277" y="1508760"/>
            <a:ext cx="3484778" cy="4389120"/>
          </a:xfrm>
          <a:prstGeom prst="roundRect">
            <a:avLst>
              <a:gd name="adj" fmla="val 3149"/>
            </a:avLst>
          </a:prstGeom>
          <a:solidFill>
            <a:srgbClr val="17503B"/>
          </a:solidFill>
          <a:ln w="12700">
            <a:solidFill>
              <a:srgbClr val="17503B"/>
            </a:solidFill>
            <a:prstDash val="solid"/>
          </a:ln>
        </p:spPr>
      </p:sp>
      <p:sp>
        <p:nvSpPr>
          <p:cNvPr id="14" name="pad"/>
          <p:cNvSpPr/>
          <p:nvPr/>
        </p:nvSpPr>
        <p:spPr>
          <a:xfrm>
            <a:off x="8432597" y="1783080"/>
            <a:ext cx="640080" cy="640080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accent2"/>
            </a:solidFill>
            <a:prstDash val="solid"/>
          </a:ln>
        </p:spPr>
      </p:sp>
      <p:pic>
        <p:nvPicPr>
          <p:cNvPr id="15" name="ikon-comment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2617" y="194310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32597" y="256032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Butuh Bantuan?</a:t>
            </a:r>
            <a:endParaRPr lang="en-US" sz="2100" dirty="0"/>
          </a:p>
        </p:txBody>
      </p:sp>
      <p:sp>
        <p:nvSpPr>
          <p:cNvPr id="17" name="daftar-poin"/>
          <p:cNvSpPr txBox="1"/>
          <p:nvPr/>
        </p:nvSpPr>
        <p:spPr>
          <a:xfrm>
            <a:off x="8432597" y="3063240"/>
            <a:ext cx="2936138" cy="265176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Jalankan pemindai I2C saat modul tak terdeteksi</a:t>
            </a:r>
            <a:endParaRPr lang="en-US" sz="16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Baca panduan/06-mengatasi-masalah.md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F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stem Tertanam PCB">
  <a:themeElements>
    <a:clrScheme name="Sistem Tertanam PCB">
      <a:dk1>
        <a:srgbClr val="13261D"/>
      </a:dk1>
      <a:lt1>
        <a:srgbClr val="FFFFFF"/>
      </a:lt1>
      <a:dk2>
        <a:srgbClr val="0F3D2C"/>
      </a:dk2>
      <a:lt2>
        <a:srgbClr val="EEF5F1"/>
      </a:lt2>
      <a:accent1>
        <a:srgbClr val="1F6F50"/>
      </a:accent1>
      <a:accent2>
        <a:srgbClr val="C27C2C"/>
      </a:accent2>
      <a:accent3>
        <a:srgbClr val="1F6FD1"/>
      </a:accent3>
      <a:accent4>
        <a:srgbClr val="C0392B"/>
      </a:accent4>
      <a:accent5>
        <a:srgbClr val="5F6F67"/>
      </a:accent5>
      <a:accent6>
        <a:srgbClr val="D9A441"/>
      </a:accent6>
      <a:hlink>
        <a:srgbClr val="1F6FD1"/>
      </a:hlink>
      <a:folHlink>
        <a:srgbClr val="7B3FBF"/>
      </a:folHlink>
    </a:clrScheme>
    <a:fontScheme name="Sistem Tertanam PCB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Sistem Tertanam (Embedded Systems)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Pertemuan 9: Komunikasi Serial: UART, I2C, dan SPI</dc:title>
  <dc:subject>Sistem Tertanam — Pertemuan 9</dc:subject>
  <dc:creator>Anton Prafanto</dc:creator>
  <cp:lastModifiedBy>Anton Prafanto</cp:lastModifiedBy>
  <cp:revision>1</cp:revision>
  <dcterms:created xsi:type="dcterms:W3CDTF">2026-10-16T13:00:53Z</dcterms:created>
  <dcterms:modified xsi:type="dcterms:W3CDTF">2026-10-16T13:00:53Z</dcterms:modified>
</cp:coreProperties>
</file>