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f073f534-4cb5-52cc-4103-355b11238d69}">
          <p14:sldIdLst>
            <p14:sldId id="256"/>
            <p14:sldId id="257"/>
          </p14:sldIdLst>
        </p14:section>
        <p14:section name="Struktur" id="{fa7fe50c-7d8e-65da-18a7-e2aeb4549d78}">
          <p14:sldIdLst>
            <p14:sldId id="258"/>
            <p14:sldId id="259"/>
            <p14:sldId id="260"/>
            <p14:sldId id="261"/>
            <p14:sldId id="262"/>
          </p14:sldIdLst>
        </p14:section>
        <p14:section name="Data" id="{a0ec7586-ad1d-c1ba-35f0-d84c392e359f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Alur" id="{fd3d9a59-ae7b-e001-5984-1c01f8f18913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enutup" id="{cd285421-7ca9-32aa-3a3b-8d2be4cd7c9f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pertanyaan: siapa yang pernah belajar pemrograman (Python, Java, dll.)? Hari ini kita belajar tata bahasa C/C++ yang dipakai sepanjang semester. Semua praktikum hari ini cukup memakai Serial Monitor, tanpa komponen. Peta materi: (1) C/C++ dan struktur program, (2) data dan operator, (3) alur program, fungsi, dan Serial, lalu Praktikum 1–5.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akhir sesi: semua mahasiswa menjalankan kelima praktikum (minimal di Wokwi) dan bisa menjelaskan mengapa 7 / 2 = 3 di C/C++.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Pertanyaan pembuka: bahasa apa yang sebenarnya dimengerti CPU ESP32? Bagian ini menjawab mengapa C/C++ dan bagaimana program Arduino tersusun.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Kode mesin di gambar adalah hasil kompilasi asli fungsi nilaiMaksimum() dari Praktikum 4 (dibaca dengan objdump). Analogi: kompilator = penerjemah resep. Mengapa C/C++: dekat dengan perangkat keras, hemat memori (SRAM ESP32 hanya 520 KB), standar industri (ESP-IDF, core Arduino-ESP32). "Bahasa Arduino" = C++ + pustaka.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cores/esp32/main.cpp (Arduino-ESP32): loopTask memanggil setup() lalu for(;;) loop(). loopTask: stack 8.192 byte, prioritas 1, inti 1. Pertanyaan pancingan: mengapa program mikrokontroler tidak boleh "selesai"?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 satu per satu: komentar, #include, konstanta global, variabel global, setup, loop, kurung kurawal, titik koma, pemanggilan fungsi. Tekankan peka huruf besar-kecil: digitalWrite berbeda dengan digitalwrite.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Kompilator membaca dari atas ke bawah. Program ini mencetak 12.57 (println mencetak 2 angka di belakang titik). Rujukan: PlatformIO FAQ "Convert Arduino file to C++ manually" dan Arduino CLI "Sketch build process". Uji cepat: Wokwi (tanpa instalasi) atau PlatformIO + board (Upload otomatis Build dulu).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Sebelum menjelaskan, minta mahasiswa menebak hasil 7 / 2 dan uint8_t 255 + 1. Jawaban yang mengejutkan membuat jebakan lebih mudah diingat.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toples dapur: label = nama, jenis/ukuran toples = tipe, isi = nilai. Ukuran sesuai hasil sizeof() di Praktikum 1. const lebih dianjurkan daripada #define (punya tipe, diperiksa kompilator).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Arduino Uno int hanya 2 bita; karena itu pakai tipe berukuran pasti (uint8_t, int16_t, uint32_t). ESP32 punya FPU untuk float; double diemulasikan perangkat lunak sehingga lambat (ESP-IDF "Maximizing Execution Speed"). Cakupan: global, lokal, static (lokal yang diingat antarpemanggilan).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uint8_t 255 + 1 = 0 dan 0 − 1 = 255. Untuk tipe bertanda (int), overflow tidak terdefinisi dalam standar C/C++. Pertanyaan: berapa uint8_t 250 + 10?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nyata: persen = nilai / 4095 * 100 selalu 0; perbaikan: nilai * 100 / 4095. Pecahan: fabs(suhu - 36.6) &lt; 0.01. Semua jebakan ini lolos kompilasi; hanya hasilnya yang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 mikrokontroler menyimpan pengaturan sebagai bit; satu register bisa memuat keadaan banyak pin GPIO. Flag = status ya/tidak dalam satu bit. Telusuri contoh 36 → 44 → 12 → 13 bersama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&amp; 3 = 2 (110 &amp; 011 = 010), sedangkan 6 &amp;&amp; 3 = 1. Awas if (suhu = 30): selalu benar dan mengubah suhu. Praktikum 2 mencetak setiap langkah dalam biner dan heksadesimal.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Hubungkan setiap konsep dengan praktikumnya: percabangan dan perulangan (Praktikum 3), fungsi dan larik (Praktikum 4), Serial (Praktikum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Syarat diperiksa dari atas ke bawah; yang pertama benar dijalankan, sisanya dilewati. switch untuk nilai bulat/karakter; jangan lupa break (tanpa break program "terjun" ke case berikutnya). Contoh: suhu 27,0 → NYAMAN.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= jumlah putaran diketahui; while = selama syarat benar (bisa 0 kali); do-while = minimal sekali. break menghentikan, continue melompat ke putaran berikutnya. Bahaya perulangan tak berujung (lupa hitung--): watchdog bawaan tidak memantau loop(), jadi program hanya tampak macet.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blender: masukan → proses → keluaran. void = tidak mengembalikan nilai. Parameter adalah salinan; larik dikirim sebagai alamat, karena itu pakai const float data[].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 isi → indeks 0 sampai N − 1. sizeof(a) / sizeof(a[0]) hanya berlaku di tempat larik dibuat. C/C++ tidak memeriksa batas: suhu[6] membaca memori lain. Teks: larik char (hemat, ukuran tetap, diakhiri \0) vs String (mudah, memakai heap).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Kode format harus cocok dengan tipenya: printf("%d", 3.5) mencetak angka tak masuk akal. Serial.printf tersedia di ESP32, tidak di Arduino Uno. %% mencetak tanda persen; %4d untuk kolom tabel rata kanan.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available() → readStringUntil('\n') → trim() → toFloat()/toInt(). PlatformIO: bawaannya echo mati dan Enter = CR+LF, jadi tambahkan monitor_echo = yes dan monitor_eol = LF. Wokwi: ketik satu baris lalu Enter; LF ditambahkan otomatis. Batas waktu readStringUntil bawaan 1 detik; Praktikum 5 memakai setTimeout(20000).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B. 260 tidak muat di 8 bit, berputar: 260 − 256 = 4. Pertanyaan lanjutan: berapa int h = 7 / 2? (3).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2–3 mahasiswa menyebut satu jebakan yang paling mengejutkan dan cara menghindarinya.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Pertemuan 3 mulai mengendalikan LED lewat GPIO; tata bahasa C/C++ hari ini menjadi dasarnya.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02 · Dasar Pemrograman C/C++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02 · Dasar Pemrograman C/C++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02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Dasar Pemrograman C/C++ untuk Mikrokontroler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Tata bahasa untuk "berbicara" dengan ESP32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Tujuan Pembelajaran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od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Membaca struktur program Arduino: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setup()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b="1" dirty="0">
                <a:solidFill>
                  <a:schemeClr val="tx1"/>
                </a:solidFill>
              </a:rPr>
              <a:t>prototipe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memory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Memilih </a:t>
            </a:r>
            <a:r>
              <a:rPr lang="en-US" sz="2000" b="1" dirty="0">
                <a:solidFill>
                  <a:schemeClr val="tx1"/>
                </a:solidFill>
              </a:rPr>
              <a:t>tipe data</a:t>
            </a:r>
            <a:r>
              <a:rPr lang="en-US" sz="2000" dirty="0">
                <a:solidFill>
                  <a:schemeClr val="tx1"/>
                </a:solidFill>
              </a:rPr>
              <a:t> yang tepat dan menghindari jebakan pemula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slid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Memakai operator aritmetika, logika, dan </a:t>
            </a:r>
            <a:r>
              <a:rPr lang="en-US" sz="2000" b="1" dirty="0">
                <a:solidFill>
                  <a:schemeClr val="tx1"/>
                </a:solidFill>
              </a:rPr>
              <a:t>operator bit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rout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Menyusun </a:t>
            </a:r>
            <a:r>
              <a:rPr lang="en-US" sz="2000" b="1" dirty="0">
                <a:solidFill>
                  <a:schemeClr val="tx1"/>
                </a:solidFill>
              </a:rPr>
              <a:t>percabangan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b="1" dirty="0">
                <a:solidFill>
                  <a:schemeClr val="tx1"/>
                </a:solidFill>
              </a:rPr>
              <a:t>perulangan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b="1" dirty="0">
                <a:solidFill>
                  <a:schemeClr val="tx1"/>
                </a:solidFill>
              </a:rPr>
              <a:t>fungsi</a:t>
            </a:r>
            <a:r>
              <a:rPr lang="en-US" sz="2000" dirty="0">
                <a:solidFill>
                  <a:schemeClr val="tx1"/>
                </a:solidFill>
              </a:rPr>
              <a:t>, dan </a:t>
            </a:r>
            <a:r>
              <a:rPr lang="en-US" sz="2000" b="1" dirty="0">
                <a:solidFill>
                  <a:schemeClr val="tx1"/>
                </a:solidFill>
              </a:rPr>
              <a:t>larik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1572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termina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298948"/>
            <a:ext cx="283464" cy="28346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49834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Mencetak dan membaca data lewat </a:t>
            </a:r>
            <a:r>
              <a:rPr lang="en-US" sz="2000" b="1" dirty="0">
                <a:solidFill>
                  <a:schemeClr val="tx1"/>
                </a:solidFill>
              </a:rPr>
              <a:t>Serial Monitor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C/C++ dan Struktur Program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Dari kode yang kamu tulis sampai instruksi yang dijalankan CPU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Dari Kode C++ ke Bahasa Mesin</a:t>
            </a:r>
            <a:endParaRPr lang="en-US" sz="3000" dirty="0"/>
          </a:p>
        </p:txBody>
      </p:sp>
      <p:pic>
        <p:nvPicPr>
          <p:cNvPr id="3" name="gambar" descr="/home/claude/work/slides/img/p02/p02-kode-ke-mes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392" y="1280160"/>
            <a:ext cx="10240911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71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Ikon: Font Awesome Free (CC BY 4.0)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main() di Laptop vs setup()/loop() di ESP32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139696"/>
            <a:ext cx="5364328" cy="2944368"/>
          </a:xfrm>
          <a:prstGeom prst="roundRect">
            <a:avLst>
              <a:gd name="adj" fmla="val 3727"/>
            </a:avLst>
          </a:prstGeom>
          <a:solidFill>
            <a:srgbClr val="F3F5F4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236829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lap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10028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36829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Program C di Laptop</a:t>
            </a:r>
            <a:endParaRPr lang="en-US" sz="22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99816"/>
            <a:ext cx="4815688" cy="184708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Dimulai dari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Berjalan dari atas ke bawah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0;</a:t>
            </a:r>
            <a:r>
              <a:rPr lang="en-US" sz="1800" dirty="0">
                <a:solidFill>
                  <a:schemeClr val="tx1"/>
                </a:solidFill>
              </a:rPr>
              <a:t> lalu </a:t>
            </a:r>
            <a:r>
              <a:rPr lang="en-US" sz="1800" b="1" dirty="0">
                <a:solidFill>
                  <a:schemeClr val="tx1"/>
                </a:solidFill>
              </a:rPr>
              <a:t>selesai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Sistem operasi menunggu program selesai</a:t>
            </a:r>
            <a:endParaRPr lang="en-US" sz="1800" dirty="0"/>
          </a:p>
        </p:txBody>
      </p:sp>
      <p:sp>
        <p:nvSpPr>
          <p:cNvPr id="8" name="kartu"/>
          <p:cNvSpPr/>
          <p:nvPr/>
        </p:nvSpPr>
        <p:spPr>
          <a:xfrm>
            <a:off x="6278728" y="2139696"/>
            <a:ext cx="5364328" cy="2944368"/>
          </a:xfrm>
          <a:prstGeom prst="roundRect">
            <a:avLst>
              <a:gd name="adj" fmla="val 3727"/>
            </a:avLst>
          </a:prstGeom>
          <a:solidFill>
            <a:srgbClr val="EEF5F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53048" y="236829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i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251002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84568" y="236829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Program Arduino di ESP32</a:t>
            </a:r>
            <a:endParaRPr lang="en-US" sz="2200" dirty="0"/>
          </a:p>
        </p:txBody>
      </p:sp>
      <p:sp>
        <p:nvSpPr>
          <p:cNvPr id="12" name="daftar-poin"/>
          <p:cNvSpPr txBox="1"/>
          <p:nvPr/>
        </p:nvSpPr>
        <p:spPr>
          <a:xfrm>
            <a:off x="6553048" y="3099816"/>
            <a:ext cx="4815688" cy="184708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app_main()</a:t>
            </a:r>
            <a:r>
              <a:rPr lang="en-US" sz="1800" dirty="0">
                <a:solidFill>
                  <a:schemeClr val="tx1"/>
                </a:solidFill>
              </a:rPr>
              <a:t> membuat </a:t>
            </a:r>
            <a:r>
              <a:rPr lang="en-US" sz="1800" i="1" dirty="0">
                <a:solidFill>
                  <a:schemeClr val="tx1"/>
                </a:solidFill>
              </a:rPr>
              <a:t>task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loopTask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setup()</a:t>
            </a:r>
            <a:r>
              <a:rPr lang="en-US" sz="1800" dirty="0">
                <a:solidFill>
                  <a:schemeClr val="tx1"/>
                </a:solidFill>
              </a:rPr>
              <a:t> dipanggil </a:t>
            </a:r>
            <a:r>
              <a:rPr lang="en-US" sz="1800" b="1" dirty="0">
                <a:solidFill>
                  <a:schemeClr val="tx1"/>
                </a:solidFill>
              </a:rPr>
              <a:t>sekali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r>
              <a:rPr lang="en-US" sz="1800" dirty="0">
                <a:solidFill>
                  <a:schemeClr val="tx1"/>
                </a:solidFill>
              </a:rPr>
              <a:t> diulang </a:t>
            </a:r>
            <a:r>
              <a:rPr lang="en-US" sz="1800" b="1" dirty="0">
                <a:solidFill>
                  <a:schemeClr val="tx1"/>
                </a:solidFill>
              </a:rPr>
              <a:t>selamanya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Tidak pernah selesai selama ada listrik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 Program Arduino</a:t>
            </a:r>
            <a:endParaRPr lang="en-US" sz="3000" dirty="0"/>
          </a:p>
        </p:txBody>
      </p:sp>
      <p:pic>
        <p:nvPicPr>
          <p:cNvPr id="3" name="gambar" descr="/home/claude/work/slides/img/p02/p02-anatomi-pro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7827" y="1280160"/>
            <a:ext cx="7036041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Prototipe Fungsi di main.cpp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4605528"/>
          </a:xfrm>
          <a:prstGeom prst="roundRect">
            <a:avLst>
              <a:gd name="adj" fmla="val 1985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403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&lt;Arduino.h&gt;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luasLingkaran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prototipe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115200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luasLingkaran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luasLingkaran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definisi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3.14159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sketch.ino</a:t>
            </a:r>
            <a:r>
              <a:rPr lang="en-US" sz="1700" dirty="0">
                <a:solidFill>
                  <a:schemeClr val="tx1"/>
                </a:solidFill>
              </a:rPr>
              <a:t> (Wokwi): include dan prototipe dibuat </a:t>
            </a:r>
            <a:r>
              <a:rPr lang="en-US" sz="1700" b="1" dirty="0">
                <a:solidFill>
                  <a:schemeClr val="tx1"/>
                </a:solidFill>
              </a:rPr>
              <a:t>otomatis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src/main.cpp</a:t>
            </a:r>
            <a:r>
              <a:rPr lang="en-US" sz="1700" dirty="0">
                <a:solidFill>
                  <a:schemeClr val="tx1"/>
                </a:solidFill>
              </a:rPr>
              <a:t> (PlatformIO): </a:t>
            </a:r>
            <a:r>
              <a:rPr lang="en-US" sz="1700" b="1" dirty="0">
                <a:solidFill>
                  <a:schemeClr val="tx1"/>
                </a:solidFill>
              </a:rPr>
              <a:t>wajib</a:t>
            </a:r>
            <a:r>
              <a:rPr lang="en-US" sz="1700" dirty="0">
                <a:solidFill>
                  <a:schemeClr val="tx1"/>
                </a:solidFill>
              </a:rPr>
              <a:t> ditulis sendiri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Tanpa prototipe: galat </a:t>
            </a:r>
            <a:r>
              <a:rPr lang="en-US" sz="1700" i="1" dirty="0">
                <a:solidFill>
                  <a:schemeClr val="tx1"/>
                </a:solidFill>
              </a:rPr>
              <a:t>was not declared in this scope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Gaya PlatformIO tetap sah disalin ke Wokwi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Data dan Operator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Variabel, tipe data, jebakan pemula, dan operator bit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Variabel = Kotak Berlabel di Memori</a:t>
            </a:r>
            <a:endParaRPr lang="en-US" sz="3000" dirty="0"/>
          </a:p>
        </p:txBody>
      </p:sp>
      <p:pic>
        <p:nvPicPr>
          <p:cNvPr id="3" name="gambar" descr="/home/claude/work/slides/img/p02/p02-variabel-kotak-memo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0852" y="1280160"/>
            <a:ext cx="860999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Ukuran Tipe Data di ESP32</a:t>
            </a:r>
            <a:endParaRPr lang="en-US" sz="3000" dirty="0"/>
          </a:p>
        </p:txBody>
      </p:sp>
      <p:graphicFrame>
        <p:nvGraphicFramePr>
          <p:cNvPr id="11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5943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Tipe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Ukuran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Rentang / isi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bool, char, uint8_t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bita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true/false · 1 karakter · 0–255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int16_t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 bita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−32.768 sampai 32.767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int, long, int32_t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bita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±2,1 miliar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uint32_t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bita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 sampai 4.294.967.295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bita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Pecahan, ±6–7 angka penting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 long, double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 bita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±9,2 × 10¹⁸ · pecahan ±15 angka penting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Jebakan 1: Overflow</a:t>
            </a:r>
            <a:endParaRPr lang="en-US" sz="3000" dirty="0"/>
          </a:p>
        </p:txBody>
      </p:sp>
      <p:pic>
        <p:nvPicPr>
          <p:cNvPr id="3" name="gambar" descr="/home/claude/work/slides/img/p02/p02-over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3678" y="1280160"/>
            <a:ext cx="10404339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Empat Jebakan Lain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war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373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Pembagian bulat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2</a:t>
            </a:r>
            <a:r>
              <a:rPr lang="en-US" sz="1500" dirty="0">
                <a:solidFill>
                  <a:schemeClr val="tx1"/>
                </a:solidFill>
              </a:rPr>
              <a:t> = 3. Tulis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2.0</a:t>
            </a:r>
            <a:r>
              <a:rPr lang="en-US" sz="1500" dirty="0">
                <a:solidFill>
                  <a:schemeClr val="tx1"/>
                </a:solidFill>
              </a:rPr>
              <a:t> agar hasilnya 3,5.</a:t>
            </a:r>
            <a:endParaRPr lang="en-US" sz="1500" dirty="0"/>
          </a:p>
        </p:txBody>
      </p:sp>
      <p:sp>
        <p:nvSpPr>
          <p:cNvPr id="8" name="kartu"/>
          <p:cNvSpPr/>
          <p:nvPr/>
        </p:nvSpPr>
        <p:spPr>
          <a:xfrm>
            <a:off x="6255868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30188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syn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348" y="1737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0188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Modulo %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30188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Sisa bagi: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7 % 2</a:t>
            </a:r>
            <a:r>
              <a:rPr lang="en-US" sz="1500" dirty="0">
                <a:solidFill>
                  <a:schemeClr val="tx1"/>
                </a:solidFill>
              </a:rPr>
              <a:t> = 1. Untuk genap/ganjil dan indeks berputar.</a:t>
            </a:r>
            <a:endParaRPr lang="en-US" sz="1500" dirty="0"/>
          </a:p>
        </p:txBody>
      </p:sp>
      <p:sp>
        <p:nvSpPr>
          <p:cNvPr id="13" name="kartu"/>
          <p:cNvSpPr/>
          <p:nvPr/>
        </p:nvSpPr>
        <p:spPr>
          <a:xfrm>
            <a:off x="548640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22960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rul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138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Konversi tipe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3.99;</a:t>
            </a:r>
            <a:r>
              <a:rPr lang="en-US" sz="1500" dirty="0">
                <a:solidFill>
                  <a:schemeClr val="tx1"/>
                </a:solidFill>
              </a:rPr>
              <a:t> menjadi 3 (dipotong). Pakai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round()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8" name="kartu"/>
          <p:cNvSpPr/>
          <p:nvPr/>
        </p:nvSpPr>
        <p:spPr>
          <a:xfrm>
            <a:off x="6255868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pad"/>
          <p:cNvSpPr/>
          <p:nvPr/>
        </p:nvSpPr>
        <p:spPr>
          <a:xfrm>
            <a:off x="6530188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20" name="ikon-search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348" y="42138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30188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Pecahan dan ==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30188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36,6 tersimpan 36,5999…; bandingkan dengan toleransi.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Operator Bit: Sakelar Satu per Satu</a:t>
            </a:r>
            <a:endParaRPr lang="en-US" sz="3000" dirty="0"/>
          </a:p>
        </p:txBody>
      </p:sp>
      <p:pic>
        <p:nvPicPr>
          <p:cNvPr id="3" name="gambar" descr="/home/claude/work/slides/img/p02/p02-operator-b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7270" y="1280160"/>
            <a:ext cx="7537155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Empat Resep Operator Bit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335528"/>
          </a:xfrm>
          <a:prstGeom prst="roundRect">
            <a:avLst>
              <a:gd name="adj" fmla="val 2741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kode/02-operator-dan-bit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276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uint8_t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lampu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0b00000000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lampu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nyalakan bit 3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lampu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padamkan bit 3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lampu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balik bit 1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aktif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lampu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6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6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baca bit 7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&amp; | bekerja per bit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&amp;&amp; || bekerja pada benar/salah</a:t>
            </a:r>
            <a:endParaRPr lang="en-US" sz="16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|=</a:t>
            </a:r>
            <a:r>
              <a:rPr lang="en-US" sz="1700" dirty="0">
                <a:solidFill>
                  <a:schemeClr val="tx1"/>
                </a:solidFill>
              </a:rPr>
              <a:t> menyalakan, bit lain tetap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&amp;= ~</a:t>
            </a:r>
            <a:r>
              <a:rPr lang="en-US" sz="1700" dirty="0">
                <a:solidFill>
                  <a:schemeClr val="tx1"/>
                </a:solidFill>
              </a:rPr>
              <a:t> memadamkan satu bit saja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^=</a:t>
            </a:r>
            <a:r>
              <a:rPr lang="en-US" sz="1700" dirty="0">
                <a:solidFill>
                  <a:schemeClr val="tx1"/>
                </a:solidFill>
              </a:rPr>
              <a:t> membalik (</a:t>
            </a:r>
            <a:r>
              <a:rPr lang="en-US" sz="1700" i="1" dirty="0">
                <a:solidFill>
                  <a:schemeClr val="tx1"/>
                </a:solidFill>
              </a:rPr>
              <a:t>toggle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chemeClr val="tx1"/>
                </a:solidFill>
              </a:rPr>
              <a:t> mengisi,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700" dirty="0">
                <a:solidFill>
                  <a:schemeClr val="tx1"/>
                </a:solidFill>
              </a:rPr>
              <a:t> membandingkan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Alur Program, Fungsi, dan Serial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Mengambil keputusan, mengulang, dan berbicara lewat Serial Monitor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Percabangan if / else if / else</a:t>
            </a:r>
            <a:endParaRPr lang="en-US" sz="3000" dirty="0"/>
          </a:p>
        </p:txBody>
      </p:sp>
      <p:pic>
        <p:nvPicPr>
          <p:cNvPr id="3" name="gambar" descr="/home/claude/work/slides/img/p02/p02-diagram-alir-if-el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787" y="1280160"/>
            <a:ext cx="8418121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Perulangan for</a:t>
            </a:r>
            <a:endParaRPr lang="en-US" sz="3000" dirty="0"/>
          </a:p>
        </p:txBody>
      </p:sp>
      <p:pic>
        <p:nvPicPr>
          <p:cNvPr id="3" name="gambar" descr="/home/claude/work/slides/img/p02/p02-anatomi-f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3609" y="1280160"/>
            <a:ext cx="8404477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Fungsi = Mesin Kecil</a:t>
            </a:r>
            <a:endParaRPr lang="en-US" sz="3000" dirty="0"/>
          </a:p>
        </p:txBody>
      </p:sp>
      <p:pic>
        <p:nvPicPr>
          <p:cNvPr id="3" name="gambar" descr="/home/claude/work/slides/img/p02/p02-fungsi-masukan-kelua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0707" y="1280160"/>
            <a:ext cx="8410280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71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Ikon: Font Awesome Free (CC BY 4.0)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Larik: Indeks Mulai dari 0</a:t>
            </a:r>
            <a:endParaRPr lang="en-US" sz="3000" dirty="0"/>
          </a:p>
        </p:txBody>
      </p:sp>
      <p:pic>
        <p:nvPicPr>
          <p:cNvPr id="3" name="gambar" descr="/home/claude/work/slides/img/p02/p02-larik-inde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7661"/>
            <a:ext cx="11094415" cy="419703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Kode Format Serial.printf()</a:t>
            </a:r>
            <a:endParaRPr lang="en-US" sz="3000" dirty="0"/>
          </a:p>
        </p:txBody>
      </p:sp>
      <p:graphicFrame>
        <p:nvGraphicFramePr>
          <p:cNvPr id="21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84048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Kode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Untuk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Contoh → hasil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printf("%d", -12) → -12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bulat tanpa tanda, sizeof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sizeof(float) → 4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%ld / %lu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 / unsigned long, uint32_t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4294967295UL → 4294967295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%f / %.2f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float, double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28.756 → 28.756000 / 28.76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teks char[], String + .c_str()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"OK" → OK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satu karakter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'B' → B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%x / %X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heksadesimal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255 → ff / FF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Membaca Input dari Serial Monitor</a:t>
            </a:r>
            <a:endParaRPr lang="en-US" sz="3000" dirty="0"/>
          </a:p>
        </p:txBody>
      </p:sp>
      <p:pic>
        <p:nvPicPr>
          <p:cNvPr id="3" name="gambar" descr="/home/claude/work/slides/img/p02/p02-alur-input-se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752" y="1280160"/>
            <a:ext cx="828619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Kuis Cepat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uint8_t x = 250;</a:t>
            </a:r>
            <a:r>
              <a:rPr lang="en-US" sz="2200" b="1" dirty="0">
                <a:solidFill>
                  <a:schemeClr val="tx1"/>
                </a:solidFill>
              </a:rPr>
              <a:t> lalu </a:t>
            </a:r>
            <a:r>
              <a:rPr lang="en-US" sz="2200" b="1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+ 10;</a:t>
            </a:r>
            <a:r>
              <a:rPr lang="en-US" sz="2200" b="1" dirty="0">
                <a:solidFill>
                  <a:schemeClr val="tx1"/>
                </a:solidFill>
              </a:rPr>
              <a:t>. Berapa nilai </a:t>
            </a:r>
            <a:r>
              <a:rPr lang="en-US" sz="2200" b="1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2200" b="1" dirty="0">
                <a:solidFill>
                  <a:schemeClr val="tx1"/>
                </a:solidFill>
              </a:rPr>
              <a:t>?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260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255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Rangkuman</a:t>
            </a:r>
            <a:endParaRPr lang="en-US" sz="3200" dirty="0"/>
          </a:p>
        </p:txBody>
      </p:sp>
      <p:sp>
        <p:nvSpPr>
          <p:cNvPr id="3" name="pad"/>
          <p:cNvSpPr/>
          <p:nvPr/>
        </p:nvSpPr>
        <p:spPr>
          <a:xfrm>
            <a:off x="548640" y="15849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383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app_main()</a:t>
            </a:r>
            <a:r>
              <a:rPr lang="en-US" sz="2000" dirty="0">
                <a:solidFill>
                  <a:schemeClr val="bg1"/>
                </a:solidFill>
              </a:rPr>
              <a:t> → </a:t>
            </a:r>
            <a:r>
              <a:rPr lang="en-US" sz="2000" i="1" dirty="0">
                <a:solidFill>
                  <a:schemeClr val="bg1"/>
                </a:solidFill>
              </a:rPr>
              <a:t>task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loopTask</a:t>
            </a:r>
            <a:r>
              <a:rPr lang="en-US" sz="2000" dirty="0">
                <a:solidFill>
                  <a:schemeClr val="bg1"/>
                </a:solidFill>
              </a:rPr>
              <a:t>: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setup()</a:t>
            </a:r>
            <a:r>
              <a:rPr lang="en-US" sz="2000" dirty="0">
                <a:solidFill>
                  <a:schemeClr val="bg1"/>
                </a:solidFill>
              </a:rPr>
              <a:t> sekali,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r>
              <a:rPr lang="en-US" sz="2000" dirty="0">
                <a:solidFill>
                  <a:schemeClr val="bg1"/>
                </a:solidFill>
              </a:rPr>
              <a:t> selamanya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49631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0980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Di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r>
              <a:rPr lang="en-US" sz="2000" dirty="0">
                <a:solidFill>
                  <a:schemeClr val="bg1"/>
                </a:solidFill>
              </a:rPr>
              <a:t>: wajib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&lt;Arduino.h&gt;</a:t>
            </a:r>
            <a:r>
              <a:rPr lang="en-US" sz="2000" dirty="0">
                <a:solidFill>
                  <a:schemeClr val="bg1"/>
                </a:solidFill>
              </a:rPr>
              <a:t> dan prototipe fungsi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1699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8879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00228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Ukuran ESP32: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2000" dirty="0">
                <a:solidFill>
                  <a:schemeClr val="bg1"/>
                </a:solidFill>
              </a:rPr>
              <a:t>/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r>
              <a:rPr lang="en-US" sz="2000" dirty="0">
                <a:solidFill>
                  <a:schemeClr val="bg1"/>
                </a:solidFill>
              </a:rPr>
              <a:t> 4 bita,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r>
              <a:rPr lang="en-US" sz="2000" dirty="0">
                <a:solidFill>
                  <a:schemeClr val="bg1"/>
                </a:solidFill>
              </a:rPr>
              <a:t> 8 bita; cek dengan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sizeof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396240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0812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79476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Waspadai </a:t>
            </a:r>
            <a:r>
              <a:rPr lang="en-US" sz="2000" i="1" dirty="0">
                <a:solidFill>
                  <a:schemeClr val="bg1"/>
                </a:solidFill>
              </a:rPr>
              <a:t>overflow</a:t>
            </a:r>
            <a:r>
              <a:rPr lang="en-US" sz="2000" dirty="0">
                <a:solidFill>
                  <a:schemeClr val="bg1"/>
                </a:solidFill>
              </a:rPr>
              <a:t>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2</a:t>
            </a:r>
            <a:r>
              <a:rPr lang="en-US" sz="2000" dirty="0">
                <a:solidFill>
                  <a:schemeClr val="bg1"/>
                </a:solidFill>
              </a:rPr>
              <a:t> = 3, pemotongan, dan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2000" dirty="0">
                <a:solidFill>
                  <a:schemeClr val="bg1"/>
                </a:solidFill>
              </a:rPr>
              <a:t> pada pecahan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873752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458724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Bit: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|=</a:t>
            </a:r>
            <a:r>
              <a:rPr lang="en-US" sz="2000" dirty="0">
                <a:solidFill>
                  <a:schemeClr val="bg1"/>
                </a:solidFill>
              </a:rPr>
              <a:t> nyalakan,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&amp;= ~</a:t>
            </a:r>
            <a:r>
              <a:rPr lang="en-US" sz="2000" dirty="0">
                <a:solidFill>
                  <a:schemeClr val="bg1"/>
                </a:solidFill>
              </a:rPr>
              <a:t> padamkan,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^=</a:t>
            </a:r>
            <a:r>
              <a:rPr lang="en-US" sz="2000" dirty="0">
                <a:solidFill>
                  <a:schemeClr val="bg1"/>
                </a:solidFill>
              </a:rPr>
              <a:t> balik</a:t>
            </a:r>
            <a:endParaRPr lang="en-US" sz="2000" dirty="0"/>
          </a:p>
        </p:txBody>
      </p:sp>
      <p:sp>
        <p:nvSpPr>
          <p:cNvPr id="18" name="pad"/>
          <p:cNvSpPr/>
          <p:nvPr/>
        </p:nvSpPr>
        <p:spPr>
          <a:xfrm>
            <a:off x="548640" y="55473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9" name="ikon-che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666232"/>
            <a:ext cx="219456" cy="219456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53797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</a:t>
            </a:r>
            <a:r>
              <a:rPr lang="en-US" sz="2000" dirty="0">
                <a:solidFill>
                  <a:schemeClr val="bg1"/>
                </a:solidFill>
              </a:rPr>
              <a:t> + kode format; input: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readStringUntil</a:t>
            </a:r>
            <a:r>
              <a:rPr lang="en-US" sz="2000" dirty="0">
                <a:solidFill>
                  <a:schemeClr val="bg1"/>
                </a:solidFill>
              </a:rPr>
              <a:t> +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trim</a:t>
            </a:r>
            <a:r>
              <a:rPr lang="en-US" sz="2000" dirty="0">
                <a:solidFill>
                  <a:schemeClr val="bg1"/>
                </a:solidFill>
              </a:rPr>
              <a:t> +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Pertemuan 3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Tugas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Kerjakan Latihan 1–3 di modul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Coba tantangan tebak angka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modul Pertemuan 3: GPIO Output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Bawa </a:t>
            </a:r>
            <a:r>
              <a:rPr lang="en-US" sz="1600" i="1" dirty="0">
                <a:solidFill>
                  <a:schemeClr val="bg1"/>
                </a:solidFill>
              </a:rPr>
              <a:t>board</a:t>
            </a:r>
            <a:r>
              <a:rPr lang="en-US" sz="1600" dirty="0">
                <a:solidFill>
                  <a:schemeClr val="bg1"/>
                </a:solidFill>
              </a:rPr>
              <a:t>, LED, dan resistor bila punya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Butuh Bantuan?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panduan/06-mengatasi-masalah.md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Tanyakan di forum kelas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2: Dasar Pemrograman C/C++ untuk Mikrokontroler</dc:title>
  <dc:subject>Sistem Tertanam — Pertemuan 2</dc:subject>
  <dc:creator>Anton Prafanto</dc:creator>
  <cp:lastModifiedBy>Anton Prafanto</cp:lastModifiedBy>
  <cp:revision>1</cp:revision>
  <dcterms:created xsi:type="dcterms:W3CDTF">2026-10-16T06:12:25Z</dcterms:created>
  <dcterms:modified xsi:type="dcterms:W3CDTF">2026-10-16T06:12:25Z</dcterms:modified>
</cp:coreProperties>
</file>