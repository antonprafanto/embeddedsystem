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8717f9c8-0548-e904-da59-a3fc96d61c4d}">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di awal: UAS ini bukan ujian tertulis. Yang dinilai adalah alat yang berjalan, pemahaman setiap anggota, dan bukti pengujian. Slide ini dipakai sepekan sebelum UAS (atau di awal hari UAS) untuk menyamakan aturan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Kelima butir ini merangkum CPMK-1 sampai CPMK-6. Tekankan butir terakhir: setiap anggota harus siap ditanya tentang bagian mana pun, termasuk bagian anggota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isi slide ini ada lebih lengkap di README Pertemuan 16 dan halaman proyek-akhir. Minta mahasiswa membukanya selama sesi.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10 kelompok × 30 menit = 5 jam. Bila waktu terbatas, pangkas tanya jawab menjadi 7 menit atau bagi ke dua sesi. Umumkan urutan tampil paling lambat H-3.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penguji lebih tertarik pada alat daripada animasi. Kode di slide cukup potongan pendek (±15 baris). Sarankan cuplikan alat bekerja 10–15 detik di awal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Rencana A board asli; B Wokwi dengan kode yang sama; C video. Aturan usulan: perbaikan cepat maksimal 5 menit. Demo dengan Rencana B/C paling tinggi level 2 pada kriteria Fungsi dan demo, kecuali kerusakan di luar kendali dan video membuktikan alat asli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Wi-Fi kampus sering menolak perangkat IoT; minta mahasiswa menyiapkan hotspot HP. Beberapa power bank mati otomatis saat arus beban kecil, jadi harus dicoba minimal 30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 tiap kriteria 1–4. Kriteria 5 dinilai per individu; kriteria 6 memakai penilaian sejawat dan riwayat commit. Deskriptor lengkap level 1–4 ada di README Pertemuan 16 dan halaman proyek-akhir.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lanjutan: proposal 80, kemajuan 90, UAS 85 → 8 + 9 + 68 = 85. Semua bobot adalah usulan; sesuaikan dengan kebijakan program studi.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20 pertanyaan ada di README. Ajak mahasiswa berlatih saling bertanya antarkelompok. Bila tidak tahu jawaban, lebih baik jujur lalu jelaskan cara mencari tahu.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.gitignore: .pio/ (hasil kompilasi yang besar) dan include/rahasia.h (sandi Wi-Fi). Video tidak disimpan di repositori: Git memperingatkan berkas &gt; 50 MiB dan GitHub menolak berkas &gt; 100 MiB.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tenggat dan format bertanda (sesuaikan) di README. Sarankan tag v1.0 pada commit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Sesuai kebijakan RPS: kode yang tidak bisa dijelaskan dianggap bukan karya sendiri. Uji pemahaman bisa kapan saja: tunjuk baris acak dan minta anggota acak menjelaskannya.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B. Rencana B memakai kode yang sama sehingga logika tetap bisa ditunjukkan. Sampaikan dugaan penyebab kerusakan; cara menangani masalah juga dinilai.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apakah ada kelompok yang belum punya rencana B dan C. Minta setiap kelompok menilai diri dengan rubrik sepekan sebelum UAS.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apresiasi: dari LED berkedip di Pertemuan 1 sampai sistem IoT terintegrasi. Ingatkan jadwal pengumuman nilai (sesuaikan).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F3D2C"/>
        </a:solidFill>
      </p:bgPr>
    </p:bg>
    <p:spTree>
      <p:nvGrpSpPr>
        <p:cNvPr id="1" name=""/>
        <p:cNvGrpSpPr/>
        <p:nvPr/>
      </p:nvGrpSpPr>
      <p:grpSpPr>
        <a:xfrm>
          <a:off x="0" y="0"/>
          <a:ext cx="0" cy="0"/>
          <a:chOff x="0" y="0"/>
          <a:chExt cx="0" cy="0"/>
        </a:xfrm>
      </p:grpSpPr>
      <p:pic>
        <p:nvPicPr>
          <p:cNvPr id="2" name="Image 0" descr="/home/claude/tools/kit/slides/assets/pcb-art.png">    </p:cNvPr>
          <p:cNvPicPr>
            <a:picLocks noChangeAspect="1"/>
          </p:cNvPicPr>
          <p:nvPr/>
        </p:nvPicPr>
        <p:blipFill>
          <a:blip r:embed="rId1"/>
          <a:stretch>
            <a:fillRect/>
          </a:stretch>
        </p:blipFill>
        <p:spPr>
          <a:xfrm>
            <a:off x="6583680" y="0"/>
            <a:ext cx="5608015" cy="6858000"/>
          </a:xfrm>
          <a:prstGeom prst="rect">
            <a:avLst/>
          </a:prstGeom>
        </p:spPr>
      </p:pic>
      <p:sp>
        <p:nvSpPr>
          <p:cNvPr id="3" name="Text 0"/>
          <p:cNvSpPr/>
          <p:nvPr>
            <p:ph idx="101" type="body" hasCustomPrompt="1"/>
          </p:nvPr>
        </p:nvSpPr>
        <p:spPr>
          <a:xfrm>
            <a:off x="548640" y="1417320"/>
            <a:ext cx="6583680" cy="457200"/>
          </a:xfrm>
          <a:prstGeom prst="rect">
            <a:avLst/>
          </a:prstGeom>
          <a:noFill/>
          <a:ln/>
        </p:spPr>
        <p:txBody>
          <a:bodyPr wrap="square" rtlCol="0"/>
          <a:lstStyle>
            <a:lvl1pPr indent="0" marL="0">
              <a:buNone/>
              <a:defRPr lang="en-US" sz="1800" b="1" spc="300" kern="0" dirty="0">
                <a:solidFill>
                  <a:schemeClr val="accent2"/>
                </a:solidFill>
              </a:defRPr>
            </a:lvl1pPr>
          </a:lstStyle>
          <a:p>
            <a:pPr indent="0" marL="0">
              <a:buNone/>
            </a:pPr>
            <a:endParaRPr lang="en-US" sz="1800" dirty="0"/>
          </a:p>
        </p:txBody>
      </p:sp>
      <p:sp>
        <p:nvSpPr>
          <p:cNvPr id="4" name="Text 0"/>
          <p:cNvSpPr/>
          <p:nvPr>
            <p:ph idx="102" type="title" hasCustomPrompt="1"/>
          </p:nvPr>
        </p:nvSpPr>
        <p:spPr>
          <a:xfrm>
            <a:off x="548640" y="1920240"/>
            <a:ext cx="640080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0"/>
          <p:cNvSpPr/>
          <p:nvPr>
            <p:ph idx="103" type="body" hasCustomPrompt="1"/>
          </p:nvPr>
        </p:nvSpPr>
        <p:spPr>
          <a:xfrm>
            <a:off x="548640" y="3931920"/>
            <a:ext cx="6217920" cy="1005840"/>
          </a:xfrm>
          <a:prstGeom prst="rect">
            <a:avLst/>
          </a:prstGeom>
          <a:noFill/>
          <a:ln/>
        </p:spPr>
        <p:txBody>
          <a:bodyPr wrap="square" rtlCol="0"/>
          <a:lstStyle>
            <a:lvl1pPr indent="0" marL="0">
              <a:buNone/>
              <a:defRPr lang="en-US" sz="1800" dirty="0">
                <a:solidFill>
                  <a:srgbClr val="CFE6DA"/>
                </a:solidFill>
              </a:defRPr>
            </a:lvl1pPr>
          </a:lstStyle>
          <a:p>
            <a:pPr indent="0" marL="0">
              <a:buNone/>
            </a:pPr>
            <a:endParaRPr lang="en-US" sz="1800" dirty="0"/>
          </a:p>
        </p:txBody>
      </p:sp>
      <p:sp>
        <p:nvSpPr>
          <p:cNvPr id="6" name="Text 0"/>
          <p:cNvSpPr/>
          <p:nvPr/>
        </p:nvSpPr>
        <p:spPr>
          <a:xfrm>
            <a:off x="548640" y="5715000"/>
            <a:ext cx="6400800" cy="320040"/>
          </a:xfrm>
          <a:prstGeom prst="rect">
            <a:avLst/>
          </a:prstGeom>
          <a:noFill/>
          <a:ln/>
        </p:spPr>
        <p:txBody>
          <a:bodyPr wrap="square" lIns="0" tIns="0" rIns="0" bIns="0" rtlCol="0" anchor="ctr"/>
          <a:lstStyle/>
          <a:p>
            <a:pPr indent="0" marL="0">
              <a:buNone/>
            </a:pPr>
            <a:r>
              <a:rPr lang="en-US" sz="1200" dirty="0">
                <a:solidFill>
                  <a:srgbClr val="CFE6DA"/>
                </a:solidFill>
              </a:rPr>
              <a:t>Sistem Tertanam (Embedded Systems) · S1 Teknik Elektro</a:t>
            </a:r>
            <a:endParaRPr lang="en-US" sz="1200" dirty="0"/>
          </a:p>
        </p:txBody>
      </p:sp>
      <p:sp>
        <p:nvSpPr>
          <p:cNvPr id="7" name="Text 1"/>
          <p:cNvSpPr/>
          <p:nvPr/>
        </p:nvSpPr>
        <p:spPr>
          <a:xfrm>
            <a:off x="548640" y="6035040"/>
            <a:ext cx="6400800" cy="320040"/>
          </a:xfrm>
          <a:prstGeom prst="rect">
            <a:avLst/>
          </a:prstGeom>
          <a:noFill/>
          <a:ln/>
        </p:spPr>
        <p:txBody>
          <a:bodyPr wrap="square" lIns="0" tIns="0" rIns="0" bIns="0" rtlCol="0" anchor="ctr"/>
          <a:lstStyle/>
          <a:p>
            <a:pPr indent="0" marL="0">
              <a:buNone/>
            </a:pPr>
            <a:r>
              <a:rPr lang="en-US" sz="1200" dirty="0">
                <a:solidFill>
                  <a:srgbClr val="CFE6DA"/>
                </a:solidFill>
              </a:rPr>
              <a:t>Dosen Pengampu: Anton Prafanto</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F3D2C"/>
        </a:solidFill>
      </p:bgPr>
    </p:bg>
    <p:spTree>
      <p:nvGrpSpPr>
        <p:cNvPr id="1" name=""/>
        <p:cNvGrpSpPr/>
        <p:nvPr/>
      </p:nvGrpSpPr>
      <p:grpSpPr>
        <a:xfrm>
          <a:off x="0" y="0"/>
          <a:ext cx="0" cy="0"/>
          <a:chOff x="0" y="0"/>
          <a:chExt cx="0" cy="0"/>
        </a:xfrm>
      </p:grpSpPr>
      <p:pic>
        <p:nvPicPr>
          <p:cNvPr id="2" name="Image 0" descr="/home/claude/tools/kit/slides/assets/pcb-art-small.png">    </p:cNvPr>
          <p:cNvPicPr>
            <a:picLocks noChangeAspect="1"/>
          </p:cNvPicPr>
          <p:nvPr/>
        </p:nvPicPr>
        <p:blipFill>
          <a:blip r:embed="rId1"/>
          <a:stretch>
            <a:fillRect/>
          </a:stretch>
        </p:blipFill>
        <p:spPr>
          <a:xfrm>
            <a:off x="8229600" y="0"/>
            <a:ext cx="3962095" cy="6858000"/>
          </a:xfrm>
          <a:prstGeom prst="rect">
            <a:avLst/>
          </a:prstGeom>
        </p:spPr>
      </p:pic>
      <p:sp>
        <p:nvSpPr>
          <p:cNvPr id="3" name="Text 0"/>
          <p:cNvSpPr/>
          <p:nvPr>
            <p:ph idx="101" type="body" hasCustomPrompt="1"/>
          </p:nvPr>
        </p:nvSpPr>
        <p:spPr>
          <a:xfrm>
            <a:off x="548640" y="1828800"/>
            <a:ext cx="2743200" cy="1097280"/>
          </a:xfrm>
          <a:prstGeom prst="rect">
            <a:avLst/>
          </a:prstGeom>
          <a:noFill/>
          <a:ln/>
        </p:spPr>
        <p:txBody>
          <a:bodyPr wrap="square" rtlCol="0"/>
          <a:lstStyle>
            <a:lvl1pPr indent="0" marL="0">
              <a:buNone/>
              <a:defRPr lang="en-US" sz="6000" b="1" dirty="0">
                <a:solidFill>
                  <a:schemeClr val="accent2"/>
                </a:solidFill>
              </a:defRPr>
            </a:lvl1pPr>
          </a:lstStyle>
          <a:p>
            <a:pPr indent="0" marL="0">
              <a:buNone/>
            </a:pPr>
            <a:endParaRPr lang="en-US" sz="6000" dirty="0"/>
          </a:p>
        </p:txBody>
      </p:sp>
      <p:sp>
        <p:nvSpPr>
          <p:cNvPr id="4" name="Text 0"/>
          <p:cNvSpPr/>
          <p:nvPr>
            <p:ph idx="102" type="title" hasCustomPrompt="1"/>
          </p:nvPr>
        </p:nvSpPr>
        <p:spPr>
          <a:xfrm>
            <a:off x="548640" y="2971800"/>
            <a:ext cx="7315200" cy="12801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5" name="Text 0"/>
          <p:cNvSpPr/>
          <p:nvPr>
            <p:ph idx="103" type="body" hasCustomPrompt="1"/>
          </p:nvPr>
        </p:nvSpPr>
        <p:spPr>
          <a:xfrm>
            <a:off x="548640" y="4297680"/>
            <a:ext cx="7315200" cy="914400"/>
          </a:xfrm>
          <a:prstGeom prst="rect">
            <a:avLst/>
          </a:prstGeom>
          <a:noFill/>
          <a:ln/>
        </p:spPr>
        <p:txBody>
          <a:bodyPr wrap="square" rtlCol="0"/>
          <a:lstStyle>
            <a:lvl1pPr indent="0" marL="0">
              <a:buNone/>
              <a:defRPr lang="en-US" sz="1800" dirty="0">
                <a:solidFill>
                  <a:srgbClr val="CFE6DA"/>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Pertemuan 16 · UAS Proyek Akhir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F3D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FBFAF"/>
                </a:solidFill>
              </a:rPr>
              <a:t>Pertemuan 16 · UAS Proyek Akhir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FAF"/>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5.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5.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1417320"/>
            <a:ext cx="6583680" cy="457200"/>
          </a:xfrm>
          <a:prstGeom prst="rect">
            <a:avLst/>
          </a:prstGeom>
          <a:noFill/>
          <a:ln/>
        </p:spPr>
        <p:txBody>
          <a:bodyPr wrap="square" lIns="0" tIns="0" rIns="0" bIns="0" rtlCol="0"/>
          <a:lstStyle/>
          <a:p>
            <a:pPr indent="0" marL="0">
              <a:buNone/>
            </a:pPr>
            <a:r>
              <a:rPr lang="en-US" sz="1800" b="1" spc="300" kern="0" dirty="0">
                <a:solidFill>
                  <a:schemeClr val="accent2"/>
                </a:solidFill>
              </a:rPr>
              <a:t>PERTEMUAN 16</a:t>
            </a:r>
            <a:endParaRPr lang="en-US" sz="1800" dirty="0"/>
          </a:p>
        </p:txBody>
      </p:sp>
      <p:sp>
        <p:nvSpPr>
          <p:cNvPr id="3" name="Text 0"/>
          <p:cNvSpPr/>
          <p:nvPr>
            <p:ph idx="102" type="title" hasCustomPrompt="1"/>
          </p:nvPr>
        </p:nvSpPr>
        <p:spPr>
          <a:xfrm>
            <a:off x="548640" y="1920240"/>
            <a:ext cx="6400800" cy="1920240"/>
          </a:xfrm>
          <a:prstGeom prst="rect">
            <a:avLst/>
          </a:prstGeom>
          <a:noFill/>
          <a:ln/>
        </p:spPr>
        <p:txBody>
          <a:bodyPr wrap="square" lIns="0" tIns="0" rIns="0" bIns="0" rtlCol="0" anchor="t"/>
          <a:lstStyle/>
          <a:p>
            <a:pPr algn="l" indent="0" marL="0">
              <a:buNone/>
            </a:pPr>
            <a:r>
              <a:rPr lang="en-US" sz="4000" b="1" dirty="0">
                <a:solidFill>
                  <a:schemeClr val="bg1"/>
                </a:solidFill>
              </a:rPr>
              <a:t>UAS: Demo dan Presentasi Proyek Akhir</a:t>
            </a:r>
            <a:endParaRPr lang="en-US" sz="4000" dirty="0"/>
          </a:p>
        </p:txBody>
      </p:sp>
      <p:sp>
        <p:nvSpPr>
          <p:cNvPr id="4" name="Text 0"/>
          <p:cNvSpPr/>
          <p:nvPr>
            <p:ph idx="103" type="body" hasCustomPrompt="1"/>
          </p:nvPr>
        </p:nvSpPr>
        <p:spPr>
          <a:xfrm>
            <a:off x="548640" y="3931920"/>
            <a:ext cx="6217920" cy="1005840"/>
          </a:xfrm>
          <a:prstGeom prst="rect">
            <a:avLst/>
          </a:prstGeom>
          <a:noFill/>
          <a:ln/>
        </p:spPr>
        <p:txBody>
          <a:bodyPr wrap="square" lIns="0" tIns="0" rIns="0" bIns="0" rtlCol="0" anchor="t"/>
          <a:lstStyle/>
          <a:p>
            <a:pPr indent="0" marL="0">
              <a:buNone/>
            </a:pPr>
            <a:r>
              <a:rPr lang="en-US" sz="1800" dirty="0">
                <a:solidFill>
                  <a:srgbClr val="CFE6DA"/>
                </a:solidFill>
              </a:rPr>
              <a:t>Tunjukkan alatmu bekerja, jelaskan cara kerjanya, dan pertahankan rancanganmu</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Apa yang Diukur di UAS?</a:t>
            </a:r>
            <a:endParaRPr lang="en-US" sz="3000" dirty="0"/>
          </a:p>
        </p:txBody>
      </p:sp>
      <p:sp>
        <p:nvSpPr>
          <p:cNvPr id="3" name="pad"/>
          <p:cNvSpPr/>
          <p:nvPr/>
        </p:nvSpPr>
        <p:spPr>
          <a:xfrm>
            <a:off x="548640" y="1499616"/>
            <a:ext cx="566928" cy="566928"/>
          </a:xfrm>
          <a:prstGeom prst="ellipse">
            <a:avLst/>
          </a:prstGeom>
          <a:solidFill>
            <a:schemeClr val="bg1"/>
          </a:solidFill>
          <a:ln w="28575">
            <a:solidFill>
              <a:schemeClr val="accent2"/>
            </a:solidFill>
            <a:prstDash val="solid"/>
          </a:ln>
        </p:spPr>
      </p:sp>
      <p:pic>
        <p:nvPicPr>
          <p:cNvPr id="4" name="ikon-play" descr="preencoded.png">    </p:cNvPr>
          <p:cNvPicPr>
            <a:picLocks noChangeAspect="1"/>
          </p:cNvPicPr>
          <p:nvPr/>
        </p:nvPicPr>
        <p:blipFill>
          <a:blip r:embed="rId1"/>
          <a:stretch>
            <a:fillRect/>
          </a:stretch>
        </p:blipFill>
        <p:spPr>
          <a:xfrm>
            <a:off x="690372" y="1641348"/>
            <a:ext cx="283464" cy="283464"/>
          </a:xfrm>
          <a:prstGeom prst="rect">
            <a:avLst/>
          </a:prstGeom>
        </p:spPr>
      </p:pic>
      <p:sp>
        <p:nvSpPr>
          <p:cNvPr id="5" name="Text 2"/>
          <p:cNvSpPr txBox="1"/>
          <p:nvPr/>
        </p:nvSpPr>
        <p:spPr>
          <a:xfrm>
            <a:off x="1325880" y="1325880"/>
            <a:ext cx="10317175" cy="914400"/>
          </a:xfrm>
          <a:prstGeom prst="rect">
            <a:avLst/>
          </a:prstGeom>
          <a:noFill/>
          <a:ln/>
        </p:spPr>
        <p:txBody>
          <a:bodyPr wrap="square" lIns="0" tIns="0" rIns="0" bIns="0" rtlCol="0" anchor="ctr"/>
          <a:lstStyle/>
          <a:p>
            <a:pPr indent="0" marL="0">
              <a:buNone/>
            </a:pPr>
            <a:r>
              <a:rPr lang="en-US" sz="2000" dirty="0">
                <a:solidFill>
                  <a:schemeClr val="tx1"/>
                </a:solidFill>
              </a:rPr>
              <a:t>Mendemonstrasikan sistem yang </a:t>
            </a:r>
            <a:r>
              <a:rPr lang="en-US" sz="2000" b="1" dirty="0">
                <a:solidFill>
                  <a:schemeClr val="tx1"/>
                </a:solidFill>
              </a:rPr>
              <a:t>berjalan di board asli</a:t>
            </a:r>
            <a:endParaRPr lang="en-US" sz="2000" dirty="0"/>
          </a:p>
        </p:txBody>
      </p:sp>
      <p:sp>
        <p:nvSpPr>
          <p:cNvPr id="6" name="pad"/>
          <p:cNvSpPr/>
          <p:nvPr/>
        </p:nvSpPr>
        <p:spPr>
          <a:xfrm>
            <a:off x="548640" y="2414016"/>
            <a:ext cx="566928" cy="566928"/>
          </a:xfrm>
          <a:prstGeom prst="ellipse">
            <a:avLst/>
          </a:prstGeom>
          <a:solidFill>
            <a:schemeClr val="bg1"/>
          </a:solidFill>
          <a:ln w="28575">
            <a:solidFill>
              <a:schemeClr val="accent2"/>
            </a:solidFill>
            <a:prstDash val="solid"/>
          </a:ln>
        </p:spPr>
      </p:sp>
      <p:pic>
        <p:nvPicPr>
          <p:cNvPr id="7" name="ikon-sitemap" descr="preencoded.png">    </p:cNvPr>
          <p:cNvPicPr>
            <a:picLocks noChangeAspect="1"/>
          </p:cNvPicPr>
          <p:nvPr/>
        </p:nvPicPr>
        <p:blipFill>
          <a:blip r:embed="rId2"/>
          <a:stretch>
            <a:fillRect/>
          </a:stretch>
        </p:blipFill>
        <p:spPr>
          <a:xfrm>
            <a:off x="690372" y="2555748"/>
            <a:ext cx="283464" cy="283464"/>
          </a:xfrm>
          <a:prstGeom prst="rect">
            <a:avLst/>
          </a:prstGeom>
        </p:spPr>
      </p:pic>
      <p:sp>
        <p:nvSpPr>
          <p:cNvPr id="8" name="Text 4"/>
          <p:cNvSpPr txBox="1"/>
          <p:nvPr/>
        </p:nvSpPr>
        <p:spPr>
          <a:xfrm>
            <a:off x="1325880" y="2240280"/>
            <a:ext cx="10317175" cy="914400"/>
          </a:xfrm>
          <a:prstGeom prst="rect">
            <a:avLst/>
          </a:prstGeom>
          <a:noFill/>
          <a:ln/>
        </p:spPr>
        <p:txBody>
          <a:bodyPr wrap="square" lIns="0" tIns="0" rIns="0" bIns="0" rtlCol="0" anchor="ctr"/>
          <a:lstStyle/>
          <a:p>
            <a:pPr indent="0" marL="0">
              <a:buNone/>
            </a:pPr>
            <a:r>
              <a:rPr lang="en-US" sz="2000" dirty="0">
                <a:solidFill>
                  <a:schemeClr val="tx1"/>
                </a:solidFill>
              </a:rPr>
              <a:t>Menjelaskan rancangan: kebutuhan, diagram blok, pin, daya</a:t>
            </a:r>
            <a:endParaRPr lang="en-US" sz="2000" dirty="0"/>
          </a:p>
        </p:txBody>
      </p:sp>
      <p:sp>
        <p:nvSpPr>
          <p:cNvPr id="9" name="pad"/>
          <p:cNvSpPr/>
          <p:nvPr/>
        </p:nvSpPr>
        <p:spPr>
          <a:xfrm>
            <a:off x="548640" y="3328416"/>
            <a:ext cx="566928" cy="566928"/>
          </a:xfrm>
          <a:prstGeom prst="ellipse">
            <a:avLst/>
          </a:prstGeom>
          <a:solidFill>
            <a:schemeClr val="bg1"/>
          </a:solidFill>
          <a:ln w="28575">
            <a:solidFill>
              <a:schemeClr val="accent2"/>
            </a:solidFill>
            <a:prstDash val="solid"/>
          </a:ln>
        </p:spPr>
      </p:sp>
      <p:pic>
        <p:nvPicPr>
          <p:cNvPr id="10" name="ikon-code" descr="preencoded.png">    </p:cNvPr>
          <p:cNvPicPr>
            <a:picLocks noChangeAspect="1"/>
          </p:cNvPicPr>
          <p:nvPr/>
        </p:nvPicPr>
        <p:blipFill>
          <a:blip r:embed="rId3"/>
          <a:stretch>
            <a:fillRect/>
          </a:stretch>
        </p:blipFill>
        <p:spPr>
          <a:xfrm>
            <a:off x="690372" y="3470148"/>
            <a:ext cx="283464" cy="283464"/>
          </a:xfrm>
          <a:prstGeom prst="rect">
            <a:avLst/>
          </a:prstGeom>
        </p:spPr>
      </p:pic>
      <p:sp>
        <p:nvSpPr>
          <p:cNvPr id="11" name="Text 6"/>
          <p:cNvSpPr txBox="1"/>
          <p:nvPr/>
        </p:nvSpPr>
        <p:spPr>
          <a:xfrm>
            <a:off x="1325880" y="3154680"/>
            <a:ext cx="10317175" cy="914400"/>
          </a:xfrm>
          <a:prstGeom prst="rect">
            <a:avLst/>
          </a:prstGeom>
          <a:noFill/>
          <a:ln/>
        </p:spPr>
        <p:txBody>
          <a:bodyPr wrap="square" lIns="0" tIns="0" rIns="0" bIns="0" rtlCol="0" anchor="ctr"/>
          <a:lstStyle/>
          <a:p>
            <a:pPr indent="0" marL="0">
              <a:buNone/>
            </a:pPr>
            <a:r>
              <a:rPr lang="en-US" sz="2000" dirty="0">
                <a:solidFill>
                  <a:schemeClr val="tx1"/>
                </a:solidFill>
              </a:rPr>
              <a:t>Menunjukkan kode </a:t>
            </a:r>
            <a:r>
              <a:rPr lang="en-US" sz="2000" i="1" dirty="0">
                <a:solidFill>
                  <a:schemeClr val="tx1"/>
                </a:solidFill>
              </a:rPr>
              <a:t>non-blocking</a:t>
            </a:r>
            <a:r>
              <a:rPr lang="en-US" sz="2000" dirty="0">
                <a:solidFill>
                  <a:schemeClr val="tx1"/>
                </a:solidFill>
              </a:rPr>
              <a:t> dengan </a:t>
            </a:r>
            <a:r>
              <a:rPr lang="en-US" sz="2000" b="1" dirty="0">
                <a:solidFill>
                  <a:schemeClr val="tx1"/>
                </a:solidFill>
              </a:rPr>
              <a:t>FSM atau FreeRTOS</a:t>
            </a:r>
            <a:endParaRPr lang="en-US" sz="2000" dirty="0"/>
          </a:p>
        </p:txBody>
      </p:sp>
      <p:sp>
        <p:nvSpPr>
          <p:cNvPr id="12" name="pad"/>
          <p:cNvSpPr/>
          <p:nvPr/>
        </p:nvSpPr>
        <p:spPr>
          <a:xfrm>
            <a:off x="548640" y="4242816"/>
            <a:ext cx="566928" cy="566928"/>
          </a:xfrm>
          <a:prstGeom prst="ellipse">
            <a:avLst/>
          </a:prstGeom>
          <a:solidFill>
            <a:schemeClr val="bg1"/>
          </a:solidFill>
          <a:ln w="28575">
            <a:solidFill>
              <a:schemeClr val="accent2"/>
            </a:solidFill>
            <a:prstDash val="solid"/>
          </a:ln>
        </p:spPr>
      </p:sp>
      <p:pic>
        <p:nvPicPr>
          <p:cNvPr id="13" name="ikon-check" descr="preencoded.png">    </p:cNvPr>
          <p:cNvPicPr>
            <a:picLocks noChangeAspect="1"/>
          </p:cNvPicPr>
          <p:nvPr/>
        </p:nvPicPr>
        <p:blipFill>
          <a:blip r:embed="rId4"/>
          <a:stretch>
            <a:fillRect/>
          </a:stretch>
        </p:blipFill>
        <p:spPr>
          <a:xfrm>
            <a:off x="690372" y="4384548"/>
            <a:ext cx="283464" cy="283464"/>
          </a:xfrm>
          <a:prstGeom prst="rect">
            <a:avLst/>
          </a:prstGeom>
        </p:spPr>
      </p:pic>
      <p:sp>
        <p:nvSpPr>
          <p:cNvPr id="14" name="Text 8"/>
          <p:cNvSpPr txBox="1"/>
          <p:nvPr/>
        </p:nvSpPr>
        <p:spPr>
          <a:xfrm>
            <a:off x="1325880" y="4069080"/>
            <a:ext cx="10317175" cy="914400"/>
          </a:xfrm>
          <a:prstGeom prst="rect">
            <a:avLst/>
          </a:prstGeom>
          <a:noFill/>
          <a:ln/>
        </p:spPr>
        <p:txBody>
          <a:bodyPr wrap="square" lIns="0" tIns="0" rIns="0" bIns="0" rtlCol="0" anchor="ctr"/>
          <a:lstStyle/>
          <a:p>
            <a:pPr indent="0" marL="0">
              <a:buNone/>
            </a:pPr>
            <a:r>
              <a:rPr lang="en-US" sz="2000" dirty="0">
                <a:solidFill>
                  <a:schemeClr val="tx1"/>
                </a:solidFill>
              </a:rPr>
              <a:t>Membuktikan hasil pengujian dengan </a:t>
            </a:r>
            <a:r>
              <a:rPr lang="en-US" sz="2000" b="1" dirty="0">
                <a:solidFill>
                  <a:schemeClr val="tx1"/>
                </a:solidFill>
              </a:rPr>
              <a:t>data</a:t>
            </a:r>
            <a:endParaRPr lang="en-US" sz="2000" dirty="0"/>
          </a:p>
        </p:txBody>
      </p:sp>
      <p:sp>
        <p:nvSpPr>
          <p:cNvPr id="15" name="pad"/>
          <p:cNvSpPr/>
          <p:nvPr/>
        </p:nvSpPr>
        <p:spPr>
          <a:xfrm>
            <a:off x="548640" y="5157216"/>
            <a:ext cx="566928" cy="566928"/>
          </a:xfrm>
          <a:prstGeom prst="ellipse">
            <a:avLst/>
          </a:prstGeom>
          <a:solidFill>
            <a:schemeClr val="bg1"/>
          </a:solidFill>
          <a:ln w="28575">
            <a:solidFill>
              <a:schemeClr val="accent2"/>
            </a:solidFill>
            <a:prstDash val="solid"/>
          </a:ln>
        </p:spPr>
      </p:sp>
      <p:pic>
        <p:nvPicPr>
          <p:cNvPr id="16" name="ikon-comments" descr="preencoded.png">    </p:cNvPr>
          <p:cNvPicPr>
            <a:picLocks noChangeAspect="1"/>
          </p:cNvPicPr>
          <p:nvPr/>
        </p:nvPicPr>
        <p:blipFill>
          <a:blip r:embed="rId5"/>
          <a:stretch>
            <a:fillRect/>
          </a:stretch>
        </p:blipFill>
        <p:spPr>
          <a:xfrm>
            <a:off x="690372" y="5298948"/>
            <a:ext cx="283464" cy="283464"/>
          </a:xfrm>
          <a:prstGeom prst="rect">
            <a:avLst/>
          </a:prstGeom>
        </p:spPr>
      </p:pic>
      <p:sp>
        <p:nvSpPr>
          <p:cNvPr id="17" name="Text 10"/>
          <p:cNvSpPr txBox="1"/>
          <p:nvPr/>
        </p:nvSpPr>
        <p:spPr>
          <a:xfrm>
            <a:off x="1325880" y="4983480"/>
            <a:ext cx="10317175" cy="914400"/>
          </a:xfrm>
          <a:prstGeom prst="rect">
            <a:avLst/>
          </a:prstGeom>
          <a:noFill/>
          <a:ln/>
        </p:spPr>
        <p:txBody>
          <a:bodyPr wrap="square" lIns="0" tIns="0" rIns="0" bIns="0" rtlCol="0" anchor="ctr"/>
          <a:lstStyle/>
          <a:p>
            <a:pPr indent="0" marL="0">
              <a:buNone/>
            </a:pPr>
            <a:r>
              <a:rPr lang="en-US" sz="2000" dirty="0">
                <a:solidFill>
                  <a:schemeClr val="tx1"/>
                </a:solidFill>
              </a:rPr>
              <a:t>Menjawab pertanyaan dan </a:t>
            </a:r>
            <a:r>
              <a:rPr lang="en-US" sz="2000" b="1" dirty="0">
                <a:solidFill>
                  <a:schemeClr val="tx1"/>
                </a:solidFill>
              </a:rPr>
              <a:t>mengubah kode di tempat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Peta Sesi Hari Ini</a:t>
            </a:r>
            <a:endParaRPr lang="en-US" sz="3000" dirty="0"/>
          </a:p>
        </p:txBody>
      </p:sp>
      <p:sp>
        <p:nvSpPr>
          <p:cNvPr id="3" name="kartu"/>
          <p:cNvSpPr/>
          <p:nvPr/>
        </p:nvSpPr>
        <p:spPr>
          <a:xfrm>
            <a:off x="548640" y="1325880"/>
            <a:ext cx="5364328" cy="731520"/>
          </a:xfrm>
          <a:prstGeom prst="roundRect">
            <a:avLst>
              <a:gd name="adj" fmla="val 15000"/>
            </a:avLst>
          </a:prstGeom>
          <a:solidFill>
            <a:schemeClr val="bg2"/>
          </a:solidFill>
          <a:ln w="9525">
            <a:solidFill>
              <a:schemeClr val="bg2"/>
            </a:solidFill>
            <a:prstDash val="solid"/>
          </a:ln>
        </p:spPr>
      </p:sp>
      <p:sp>
        <p:nvSpPr>
          <p:cNvPr id="4" name="Text 2"/>
          <p:cNvSpPr txBox="1"/>
          <p:nvPr/>
        </p:nvSpPr>
        <p:spPr>
          <a:xfrm>
            <a:off x="731520" y="1325880"/>
            <a:ext cx="731520" cy="731520"/>
          </a:xfrm>
          <a:prstGeom prst="rect">
            <a:avLst/>
          </a:prstGeom>
          <a:noFill/>
          <a:ln/>
        </p:spPr>
        <p:txBody>
          <a:bodyPr wrap="square" lIns="0" tIns="0" rIns="0" bIns="0" rtlCol="0" anchor="ctr"/>
          <a:lstStyle/>
          <a:p>
            <a:pPr indent="0" marL="0">
              <a:buNone/>
            </a:pPr>
            <a:r>
              <a:rPr lang="en-US" sz="2400" b="1" dirty="0">
                <a:solidFill>
                  <a:schemeClr val="accent2"/>
                </a:solidFill>
              </a:rPr>
              <a:t>01</a:t>
            </a:r>
            <a:endParaRPr lang="en-US" sz="2400" dirty="0"/>
          </a:p>
        </p:txBody>
      </p:sp>
      <p:sp>
        <p:nvSpPr>
          <p:cNvPr id="5" name="Text 3"/>
          <p:cNvSpPr txBox="1"/>
          <p:nvPr/>
        </p:nvSpPr>
        <p:spPr>
          <a:xfrm>
            <a:off x="1463040" y="1325880"/>
            <a:ext cx="4267048" cy="731520"/>
          </a:xfrm>
          <a:prstGeom prst="rect">
            <a:avLst/>
          </a:prstGeom>
          <a:noFill/>
          <a:ln/>
        </p:spPr>
        <p:txBody>
          <a:bodyPr wrap="square" lIns="0" tIns="0" rIns="0" bIns="0" rtlCol="0" anchor="ctr"/>
          <a:lstStyle/>
          <a:p>
            <a:pPr indent="0" marL="0">
              <a:buNone/>
            </a:pPr>
            <a:r>
              <a:rPr lang="en-US" sz="1900" dirty="0">
                <a:solidFill>
                  <a:schemeClr val="tx1"/>
                </a:solidFill>
              </a:rPr>
              <a:t>Format demo dan presentasi</a:t>
            </a:r>
            <a:endParaRPr lang="en-US" sz="1900" dirty="0"/>
          </a:p>
        </p:txBody>
      </p:sp>
      <p:sp>
        <p:nvSpPr>
          <p:cNvPr id="6" name="kartu"/>
          <p:cNvSpPr/>
          <p:nvPr/>
        </p:nvSpPr>
        <p:spPr>
          <a:xfrm>
            <a:off x="548640" y="2194560"/>
            <a:ext cx="5364328" cy="731520"/>
          </a:xfrm>
          <a:prstGeom prst="roundRect">
            <a:avLst>
              <a:gd name="adj" fmla="val 15000"/>
            </a:avLst>
          </a:prstGeom>
          <a:solidFill>
            <a:schemeClr val="bg2"/>
          </a:solidFill>
          <a:ln w="9525">
            <a:solidFill>
              <a:schemeClr val="bg2"/>
            </a:solidFill>
            <a:prstDash val="solid"/>
          </a:ln>
        </p:spPr>
      </p:sp>
      <p:sp>
        <p:nvSpPr>
          <p:cNvPr id="7" name="Text 5"/>
          <p:cNvSpPr txBox="1"/>
          <p:nvPr/>
        </p:nvSpPr>
        <p:spPr>
          <a:xfrm>
            <a:off x="731520" y="2194560"/>
            <a:ext cx="731520" cy="731520"/>
          </a:xfrm>
          <a:prstGeom prst="rect">
            <a:avLst/>
          </a:prstGeom>
          <a:noFill/>
          <a:ln/>
        </p:spPr>
        <p:txBody>
          <a:bodyPr wrap="square" lIns="0" tIns="0" rIns="0" bIns="0" rtlCol="0" anchor="ctr"/>
          <a:lstStyle/>
          <a:p>
            <a:pPr indent="0" marL="0">
              <a:buNone/>
            </a:pPr>
            <a:r>
              <a:rPr lang="en-US" sz="2400" b="1" dirty="0">
                <a:solidFill>
                  <a:schemeClr val="accent2"/>
                </a:solidFill>
              </a:rPr>
              <a:t>02</a:t>
            </a:r>
            <a:endParaRPr lang="en-US" sz="2400" dirty="0"/>
          </a:p>
        </p:txBody>
      </p:sp>
      <p:sp>
        <p:nvSpPr>
          <p:cNvPr id="8" name="Text 6"/>
          <p:cNvSpPr txBox="1"/>
          <p:nvPr/>
        </p:nvSpPr>
        <p:spPr>
          <a:xfrm>
            <a:off x="1463040" y="2194560"/>
            <a:ext cx="4267048" cy="731520"/>
          </a:xfrm>
          <a:prstGeom prst="rect">
            <a:avLst/>
          </a:prstGeom>
          <a:noFill/>
          <a:ln/>
        </p:spPr>
        <p:txBody>
          <a:bodyPr wrap="square" lIns="0" tIns="0" rIns="0" bIns="0" rtlCol="0" anchor="ctr"/>
          <a:lstStyle/>
          <a:p>
            <a:pPr indent="0" marL="0">
              <a:buNone/>
            </a:pPr>
            <a:r>
              <a:rPr lang="en-US" sz="1900" dirty="0">
                <a:solidFill>
                  <a:schemeClr val="tx1"/>
                </a:solidFill>
              </a:rPr>
              <a:t>Daftar periksa hari-H</a:t>
            </a:r>
            <a:endParaRPr lang="en-US" sz="1900" dirty="0"/>
          </a:p>
        </p:txBody>
      </p:sp>
      <p:sp>
        <p:nvSpPr>
          <p:cNvPr id="9" name="kartu"/>
          <p:cNvSpPr/>
          <p:nvPr/>
        </p:nvSpPr>
        <p:spPr>
          <a:xfrm>
            <a:off x="548640" y="3063240"/>
            <a:ext cx="5364328" cy="731520"/>
          </a:xfrm>
          <a:prstGeom prst="roundRect">
            <a:avLst>
              <a:gd name="adj" fmla="val 15000"/>
            </a:avLst>
          </a:prstGeom>
          <a:solidFill>
            <a:schemeClr val="bg2"/>
          </a:solidFill>
          <a:ln w="9525">
            <a:solidFill>
              <a:schemeClr val="bg2"/>
            </a:solidFill>
            <a:prstDash val="solid"/>
          </a:ln>
        </p:spPr>
      </p:sp>
      <p:sp>
        <p:nvSpPr>
          <p:cNvPr id="10" name="Text 8"/>
          <p:cNvSpPr txBox="1"/>
          <p:nvPr/>
        </p:nvSpPr>
        <p:spPr>
          <a:xfrm>
            <a:off x="731520" y="3063240"/>
            <a:ext cx="731520" cy="731520"/>
          </a:xfrm>
          <a:prstGeom prst="rect">
            <a:avLst/>
          </a:prstGeom>
          <a:noFill/>
          <a:ln/>
        </p:spPr>
        <p:txBody>
          <a:bodyPr wrap="square" lIns="0" tIns="0" rIns="0" bIns="0" rtlCol="0" anchor="ctr"/>
          <a:lstStyle/>
          <a:p>
            <a:pPr indent="0" marL="0">
              <a:buNone/>
            </a:pPr>
            <a:r>
              <a:rPr lang="en-US" sz="2400" b="1" dirty="0">
                <a:solidFill>
                  <a:schemeClr val="accent2"/>
                </a:solidFill>
              </a:rPr>
              <a:t>03</a:t>
            </a:r>
            <a:endParaRPr lang="en-US" sz="2400" dirty="0"/>
          </a:p>
        </p:txBody>
      </p:sp>
      <p:sp>
        <p:nvSpPr>
          <p:cNvPr id="11" name="Text 9"/>
          <p:cNvSpPr txBox="1"/>
          <p:nvPr/>
        </p:nvSpPr>
        <p:spPr>
          <a:xfrm>
            <a:off x="1463040" y="3063240"/>
            <a:ext cx="4267048" cy="731520"/>
          </a:xfrm>
          <a:prstGeom prst="rect">
            <a:avLst/>
          </a:prstGeom>
          <a:noFill/>
          <a:ln/>
        </p:spPr>
        <p:txBody>
          <a:bodyPr wrap="square" lIns="0" tIns="0" rIns="0" bIns="0" rtlCol="0" anchor="ctr"/>
          <a:lstStyle/>
          <a:p>
            <a:pPr indent="0" marL="0">
              <a:buNone/>
            </a:pPr>
            <a:r>
              <a:rPr lang="en-US" sz="1900" dirty="0">
                <a:solidFill>
                  <a:schemeClr val="tx1"/>
                </a:solidFill>
              </a:rPr>
              <a:t>Rubrik penilaian</a:t>
            </a:r>
            <a:endParaRPr lang="en-US" sz="1900" dirty="0"/>
          </a:p>
        </p:txBody>
      </p:sp>
      <p:sp>
        <p:nvSpPr>
          <p:cNvPr id="12" name="kartu"/>
          <p:cNvSpPr/>
          <p:nvPr/>
        </p:nvSpPr>
        <p:spPr>
          <a:xfrm>
            <a:off x="6278728" y="1325880"/>
            <a:ext cx="5364328" cy="731520"/>
          </a:xfrm>
          <a:prstGeom prst="roundRect">
            <a:avLst>
              <a:gd name="adj" fmla="val 15000"/>
            </a:avLst>
          </a:prstGeom>
          <a:solidFill>
            <a:schemeClr val="bg2"/>
          </a:solidFill>
          <a:ln w="9525">
            <a:solidFill>
              <a:schemeClr val="bg2"/>
            </a:solidFill>
            <a:prstDash val="solid"/>
          </a:ln>
        </p:spPr>
      </p:sp>
      <p:sp>
        <p:nvSpPr>
          <p:cNvPr id="13" name="Text 11"/>
          <p:cNvSpPr txBox="1"/>
          <p:nvPr/>
        </p:nvSpPr>
        <p:spPr>
          <a:xfrm>
            <a:off x="6461608" y="1325880"/>
            <a:ext cx="731520" cy="731520"/>
          </a:xfrm>
          <a:prstGeom prst="rect">
            <a:avLst/>
          </a:prstGeom>
          <a:noFill/>
          <a:ln/>
        </p:spPr>
        <p:txBody>
          <a:bodyPr wrap="square" lIns="0" tIns="0" rIns="0" bIns="0" rtlCol="0" anchor="ctr"/>
          <a:lstStyle/>
          <a:p>
            <a:pPr indent="0" marL="0">
              <a:buNone/>
            </a:pPr>
            <a:r>
              <a:rPr lang="en-US" sz="2400" b="1" dirty="0">
                <a:solidFill>
                  <a:schemeClr val="accent2"/>
                </a:solidFill>
              </a:rPr>
              <a:t>04</a:t>
            </a:r>
            <a:endParaRPr lang="en-US" sz="2400" dirty="0"/>
          </a:p>
        </p:txBody>
      </p:sp>
      <p:sp>
        <p:nvSpPr>
          <p:cNvPr id="14" name="Text 12"/>
          <p:cNvSpPr txBox="1"/>
          <p:nvPr/>
        </p:nvSpPr>
        <p:spPr>
          <a:xfrm>
            <a:off x="7193128" y="1325880"/>
            <a:ext cx="4267048" cy="731520"/>
          </a:xfrm>
          <a:prstGeom prst="rect">
            <a:avLst/>
          </a:prstGeom>
          <a:noFill/>
          <a:ln/>
        </p:spPr>
        <p:txBody>
          <a:bodyPr wrap="square" lIns="0" tIns="0" rIns="0" bIns="0" rtlCol="0" anchor="ctr"/>
          <a:lstStyle/>
          <a:p>
            <a:pPr indent="0" marL="0">
              <a:buNone/>
            </a:pPr>
            <a:r>
              <a:rPr lang="en-US" sz="1900" dirty="0">
                <a:solidFill>
                  <a:schemeClr val="tx1"/>
                </a:solidFill>
              </a:rPr>
              <a:t>Contoh pertanyaan penguji</a:t>
            </a:r>
            <a:endParaRPr lang="en-US" sz="1900" dirty="0"/>
          </a:p>
        </p:txBody>
      </p:sp>
      <p:sp>
        <p:nvSpPr>
          <p:cNvPr id="15" name="kartu"/>
          <p:cNvSpPr/>
          <p:nvPr/>
        </p:nvSpPr>
        <p:spPr>
          <a:xfrm>
            <a:off x="6278728" y="2194560"/>
            <a:ext cx="5364328" cy="731520"/>
          </a:xfrm>
          <a:prstGeom prst="roundRect">
            <a:avLst>
              <a:gd name="adj" fmla="val 15000"/>
            </a:avLst>
          </a:prstGeom>
          <a:solidFill>
            <a:schemeClr val="bg2"/>
          </a:solidFill>
          <a:ln w="9525">
            <a:solidFill>
              <a:schemeClr val="bg2"/>
            </a:solidFill>
            <a:prstDash val="solid"/>
          </a:ln>
        </p:spPr>
      </p:sp>
      <p:sp>
        <p:nvSpPr>
          <p:cNvPr id="16" name="Text 14"/>
          <p:cNvSpPr txBox="1"/>
          <p:nvPr/>
        </p:nvSpPr>
        <p:spPr>
          <a:xfrm>
            <a:off x="6461608" y="2194560"/>
            <a:ext cx="731520" cy="731520"/>
          </a:xfrm>
          <a:prstGeom prst="rect">
            <a:avLst/>
          </a:prstGeom>
          <a:noFill/>
          <a:ln/>
        </p:spPr>
        <p:txBody>
          <a:bodyPr wrap="square" lIns="0" tIns="0" rIns="0" bIns="0" rtlCol="0" anchor="ctr"/>
          <a:lstStyle/>
          <a:p>
            <a:pPr indent="0" marL="0">
              <a:buNone/>
            </a:pPr>
            <a:r>
              <a:rPr lang="en-US" sz="2400" b="1" dirty="0">
                <a:solidFill>
                  <a:schemeClr val="accent2"/>
                </a:solidFill>
              </a:rPr>
              <a:t>05</a:t>
            </a:r>
            <a:endParaRPr lang="en-US" sz="2400" dirty="0"/>
          </a:p>
        </p:txBody>
      </p:sp>
      <p:sp>
        <p:nvSpPr>
          <p:cNvPr id="17" name="Text 15"/>
          <p:cNvSpPr txBox="1"/>
          <p:nvPr/>
        </p:nvSpPr>
        <p:spPr>
          <a:xfrm>
            <a:off x="7193128" y="2194560"/>
            <a:ext cx="4267048" cy="731520"/>
          </a:xfrm>
          <a:prstGeom prst="rect">
            <a:avLst/>
          </a:prstGeom>
          <a:noFill/>
          <a:ln/>
        </p:spPr>
        <p:txBody>
          <a:bodyPr wrap="square" lIns="0" tIns="0" rIns="0" bIns="0" rtlCol="0" anchor="ctr"/>
          <a:lstStyle/>
          <a:p>
            <a:pPr indent="0" marL="0">
              <a:buNone/>
            </a:pPr>
            <a:r>
              <a:rPr lang="en-US" sz="1900" dirty="0">
                <a:solidFill>
                  <a:schemeClr val="tx1"/>
                </a:solidFill>
              </a:rPr>
              <a:t>Ketentuan pengumpulan</a:t>
            </a:r>
            <a:endParaRPr lang="en-US" sz="1900" dirty="0"/>
          </a:p>
        </p:txBody>
      </p:sp>
      <p:sp>
        <p:nvSpPr>
          <p:cNvPr id="18" name="kartu"/>
          <p:cNvSpPr/>
          <p:nvPr/>
        </p:nvSpPr>
        <p:spPr>
          <a:xfrm>
            <a:off x="6278728" y="3063240"/>
            <a:ext cx="5364328" cy="731520"/>
          </a:xfrm>
          <a:prstGeom prst="roundRect">
            <a:avLst>
              <a:gd name="adj" fmla="val 15000"/>
            </a:avLst>
          </a:prstGeom>
          <a:solidFill>
            <a:schemeClr val="bg2"/>
          </a:solidFill>
          <a:ln w="9525">
            <a:solidFill>
              <a:schemeClr val="bg2"/>
            </a:solidFill>
            <a:prstDash val="solid"/>
          </a:ln>
        </p:spPr>
      </p:sp>
      <p:sp>
        <p:nvSpPr>
          <p:cNvPr id="19" name="Text 17"/>
          <p:cNvSpPr txBox="1"/>
          <p:nvPr/>
        </p:nvSpPr>
        <p:spPr>
          <a:xfrm>
            <a:off x="6461608" y="3063240"/>
            <a:ext cx="731520" cy="731520"/>
          </a:xfrm>
          <a:prstGeom prst="rect">
            <a:avLst/>
          </a:prstGeom>
          <a:noFill/>
          <a:ln/>
        </p:spPr>
        <p:txBody>
          <a:bodyPr wrap="square" lIns="0" tIns="0" rIns="0" bIns="0" rtlCol="0" anchor="ctr"/>
          <a:lstStyle/>
          <a:p>
            <a:pPr indent="0" marL="0">
              <a:buNone/>
            </a:pPr>
            <a:r>
              <a:rPr lang="en-US" sz="2400" b="1" dirty="0">
                <a:solidFill>
                  <a:schemeClr val="accent2"/>
                </a:solidFill>
              </a:rPr>
              <a:t>06</a:t>
            </a:r>
            <a:endParaRPr lang="en-US" sz="2400" dirty="0"/>
          </a:p>
        </p:txBody>
      </p:sp>
      <p:sp>
        <p:nvSpPr>
          <p:cNvPr id="20" name="Text 18"/>
          <p:cNvSpPr txBox="1"/>
          <p:nvPr/>
        </p:nvSpPr>
        <p:spPr>
          <a:xfrm>
            <a:off x="7193128" y="3063240"/>
            <a:ext cx="4267048" cy="731520"/>
          </a:xfrm>
          <a:prstGeom prst="rect">
            <a:avLst/>
          </a:prstGeom>
          <a:noFill/>
          <a:ln/>
        </p:spPr>
        <p:txBody>
          <a:bodyPr wrap="square" lIns="0" tIns="0" rIns="0" bIns="0" rtlCol="0" anchor="ctr"/>
          <a:lstStyle/>
          <a:p>
            <a:pPr indent="0" marL="0">
              <a:buNone/>
            </a:pPr>
            <a:r>
              <a:rPr lang="en-US" sz="1900" dirty="0">
                <a:solidFill>
                  <a:schemeClr val="tx1"/>
                </a:solidFill>
              </a:rPr>
              <a:t>Integritas akademik dan AI</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Format Sesi per Kelompok</a:t>
            </a:r>
            <a:endParaRPr lang="en-US" sz="3000" dirty="0"/>
          </a:p>
        </p:txBody>
      </p:sp>
      <p:pic>
        <p:nvPicPr>
          <p:cNvPr id="3" name="gambar" descr="/home/claude/work/slides/img/p16/p16-format-sesi.png">    </p:cNvPr>
          <p:cNvPicPr>
            <a:picLocks noChangeAspect="1"/>
          </p:cNvPicPr>
          <p:nvPr/>
        </p:nvPicPr>
        <p:blipFill>
          <a:blip r:embed="rId1"/>
          <a:stretch>
            <a:fillRect/>
          </a:stretch>
        </p:blipFill>
        <p:spPr>
          <a:xfrm>
            <a:off x="548640" y="1637590"/>
            <a:ext cx="11094415" cy="3765701"/>
          </a:xfrm>
          <a:prstGeom prst="rect">
            <a:avLst/>
          </a:prstGeom>
        </p:spPr>
      </p:pic>
      <p:sp>
        <p:nvSpPr>
          <p:cNvPr id="4" name="Text 1"/>
          <p:cNvSpPr txBox="1"/>
          <p:nvPr/>
        </p:nvSpPr>
        <p:spPr>
          <a:xfrm>
            <a:off x="548640" y="5476442"/>
            <a:ext cx="11094415" cy="365760"/>
          </a:xfrm>
          <a:prstGeom prst="rect">
            <a:avLst/>
          </a:prstGeom>
          <a:noFill/>
          <a:ln/>
        </p:spPr>
        <p:txBody>
          <a:bodyPr wrap="square" lIns="0" tIns="0" rIns="0" bIns="0" rtlCol="0" anchor="ctr"/>
          <a:lstStyle/>
          <a:p>
            <a:pPr algn="ctr" indent="0" marL="0">
              <a:buNone/>
            </a:pPr>
            <a:r>
              <a:rPr lang="en-US" sz="1600" dirty="0">
                <a:solidFill>
                  <a:schemeClr val="tx1"/>
                </a:solidFill>
              </a:rPr>
              <a:t>Durasi adalah usulan; sesuaikan dengan jumlah kelompok dan waktu ujian.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Isi Slide Presentasi (8–10 Slide)</a:t>
            </a:r>
            <a:endParaRPr lang="en-US" sz="3000" dirty="0"/>
          </a:p>
        </p:txBody>
      </p:sp>
      <p:graphicFrame>
        <p:nvGraphicFramePr>
          <p:cNvPr id="6" name="tabel"/>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2926080"/>
                <a:gridCol w="7315200"/>
              </a:tblGrid>
              <a:tr h="0">
                <a:tc>
                  <a:txBody>
                    <a:bodyPr/>
                    <a:lstStyle/>
                    <a:p>
                      <a:pPr indent="0" marL="0">
                        <a:buNone/>
                      </a:pPr>
                      <a:r>
                        <a:rPr lang="en-US" sz="1600" b="1" dirty="0">
                          <a:solidFill>
                            <a:schemeClr val="bg1"/>
                          </a:solidFill>
                        </a:rPr>
                        <a:t>No</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Slide</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Isi</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r>
              <a:tr h="0">
                <a:tc>
                  <a:txBody>
                    <a:bodyPr/>
                    <a:lstStyle/>
                    <a:p>
                      <a:pPr indent="0" marL="0">
                        <a:buNone/>
                      </a:pPr>
                      <a:r>
                        <a:rPr lang="en-US" sz="1600" dirty="0">
                          <a:solidFill>
                            <a:schemeClr val="tx1"/>
                          </a:solidFill>
                        </a:rPr>
                        <a:t>1</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Judul</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Nama proyek, kelompok, anggota dan perannya</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2</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Masalah</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Siapa penggunanya, masalah apa yang diselesaikan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3</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Kebutuhan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3–5 kebutuhan yang bisa diuji</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4</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Diagram blok</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Sensor, ESP32, aktuator, komunikasi, catu daya</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5</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Rangkaian dan pin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Skematik atau tabel alokasi pin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6</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Arsitektur firmware</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Diagram FSM atau daftar task FreeRTOS</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7</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Pengujian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Tabel uji dan data: grafik, waktu respons, arus</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8</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Kendala dan penutup</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Pelajaran, keterbatasan, pengembangan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Alur Hari-H dan Rencana Berlapis</a:t>
            </a:r>
            <a:endParaRPr lang="en-US" sz="3000" dirty="0"/>
          </a:p>
        </p:txBody>
      </p:sp>
      <p:pic>
        <p:nvPicPr>
          <p:cNvPr id="3" name="gambar" descr="/home/claude/work/slides/img/p16/p16-alur-hari-h.png">    </p:cNvPr>
          <p:cNvPicPr>
            <a:picLocks noChangeAspect="1"/>
          </p:cNvPicPr>
          <p:nvPr/>
        </p:nvPicPr>
        <p:blipFill>
          <a:blip r:embed="rId1"/>
          <a:stretch>
            <a:fillRect/>
          </a:stretch>
        </p:blipFill>
        <p:spPr>
          <a:xfrm>
            <a:off x="1768580" y="1280160"/>
            <a:ext cx="8654536" cy="48920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Daftar Periksa Hari-H</a:t>
            </a:r>
            <a:endParaRPr lang="en-US" sz="3000" dirty="0"/>
          </a:p>
        </p:txBody>
      </p:sp>
      <p:sp>
        <p:nvSpPr>
          <p:cNvPr id="3" name="kartu"/>
          <p:cNvSpPr/>
          <p:nvPr/>
        </p:nvSpPr>
        <p:spPr>
          <a:xfrm>
            <a:off x="548640" y="1325880"/>
            <a:ext cx="5387188" cy="2156460"/>
          </a:xfrm>
          <a:prstGeom prst="roundRect">
            <a:avLst>
              <a:gd name="adj" fmla="val 5088"/>
            </a:avLst>
          </a:prstGeom>
          <a:solidFill>
            <a:schemeClr val="bg2"/>
          </a:solidFill>
          <a:ln w="9525">
            <a:solidFill>
              <a:schemeClr val="bg2"/>
            </a:solidFill>
            <a:prstDash val="solid"/>
          </a:ln>
        </p:spPr>
      </p:sp>
      <p:sp>
        <p:nvSpPr>
          <p:cNvPr id="4" name="pad"/>
          <p:cNvSpPr/>
          <p:nvPr/>
        </p:nvSpPr>
        <p:spPr>
          <a:xfrm>
            <a:off x="822960" y="1600200"/>
            <a:ext cx="548640" cy="548640"/>
          </a:xfrm>
          <a:prstGeom prst="ellipse">
            <a:avLst/>
          </a:prstGeom>
          <a:solidFill>
            <a:schemeClr val="bg1"/>
          </a:solidFill>
          <a:ln w="28575">
            <a:solidFill>
              <a:schemeClr val="accent2"/>
            </a:solidFill>
            <a:prstDash val="solid"/>
          </a:ln>
        </p:spPr>
      </p:sp>
      <p:pic>
        <p:nvPicPr>
          <p:cNvPr id="5" name="ikon-chip" descr="preencoded.png">    </p:cNvPr>
          <p:cNvPicPr>
            <a:picLocks noChangeAspect="1"/>
          </p:cNvPicPr>
          <p:nvPr/>
        </p:nvPicPr>
        <p:blipFill>
          <a:blip r:embed="rId1"/>
          <a:stretch>
            <a:fillRect/>
          </a:stretch>
        </p:blipFill>
        <p:spPr>
          <a:xfrm>
            <a:off x="960120" y="1737360"/>
            <a:ext cx="274320" cy="274320"/>
          </a:xfrm>
          <a:prstGeom prst="rect">
            <a:avLst/>
          </a:prstGeom>
        </p:spPr>
      </p:pic>
      <p:sp>
        <p:nvSpPr>
          <p:cNvPr id="6" name="Text 3"/>
          <p:cNvSpPr txBox="1"/>
          <p:nvPr/>
        </p:nvSpPr>
        <p:spPr>
          <a:xfrm>
            <a:off x="822960" y="22860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Perangkat</a:t>
            </a:r>
            <a:endParaRPr lang="en-US" sz="1900" dirty="0"/>
          </a:p>
        </p:txBody>
      </p:sp>
      <p:sp>
        <p:nvSpPr>
          <p:cNvPr id="7" name="Text 4"/>
          <p:cNvSpPr txBox="1"/>
          <p:nvPr/>
        </p:nvSpPr>
        <p:spPr>
          <a:xfrm>
            <a:off x="822960" y="2743200"/>
            <a:ext cx="4838548" cy="556260"/>
          </a:xfrm>
          <a:prstGeom prst="rect">
            <a:avLst/>
          </a:prstGeom>
          <a:noFill/>
          <a:ln/>
        </p:spPr>
        <p:txBody>
          <a:bodyPr wrap="square" lIns="0" tIns="0" rIns="0" bIns="0" rtlCol="0" anchor="t"/>
          <a:lstStyle/>
          <a:p>
            <a:pPr indent="0" marL="0">
              <a:buNone/>
            </a:pPr>
            <a:r>
              <a:rPr lang="en-US" sz="1500" dirty="0">
                <a:solidFill>
                  <a:schemeClr val="tx1"/>
                </a:solidFill>
              </a:rPr>
              <a:t>Alat kokoh, board dan kabel USB data cadangan, multimeter.</a:t>
            </a:r>
            <a:endParaRPr lang="en-US" sz="1500" dirty="0"/>
          </a:p>
        </p:txBody>
      </p:sp>
      <p:sp>
        <p:nvSpPr>
          <p:cNvPr id="8" name="kartu"/>
          <p:cNvSpPr/>
          <p:nvPr/>
        </p:nvSpPr>
        <p:spPr>
          <a:xfrm>
            <a:off x="6255868" y="1325880"/>
            <a:ext cx="5387188" cy="2156460"/>
          </a:xfrm>
          <a:prstGeom prst="roundRect">
            <a:avLst>
              <a:gd name="adj" fmla="val 5088"/>
            </a:avLst>
          </a:prstGeom>
          <a:solidFill>
            <a:schemeClr val="bg2"/>
          </a:solidFill>
          <a:ln w="9525">
            <a:solidFill>
              <a:schemeClr val="bg2"/>
            </a:solidFill>
            <a:prstDash val="solid"/>
          </a:ln>
        </p:spPr>
      </p:sp>
      <p:sp>
        <p:nvSpPr>
          <p:cNvPr id="9" name="pad"/>
          <p:cNvSpPr/>
          <p:nvPr/>
        </p:nvSpPr>
        <p:spPr>
          <a:xfrm>
            <a:off x="6530188" y="1600200"/>
            <a:ext cx="548640" cy="548640"/>
          </a:xfrm>
          <a:prstGeom prst="ellipse">
            <a:avLst/>
          </a:prstGeom>
          <a:solidFill>
            <a:schemeClr val="bg1"/>
          </a:solidFill>
          <a:ln w="28575">
            <a:solidFill>
              <a:schemeClr val="accent2"/>
            </a:solidFill>
            <a:prstDash val="solid"/>
          </a:ln>
        </p:spPr>
      </p:sp>
      <p:pic>
        <p:nvPicPr>
          <p:cNvPr id="10" name="ikon-laptop" descr="preencoded.png">    </p:cNvPr>
          <p:cNvPicPr>
            <a:picLocks noChangeAspect="1"/>
          </p:cNvPicPr>
          <p:nvPr/>
        </p:nvPicPr>
        <p:blipFill>
          <a:blip r:embed="rId2"/>
          <a:stretch>
            <a:fillRect/>
          </a:stretch>
        </p:blipFill>
        <p:spPr>
          <a:xfrm>
            <a:off x="6667348" y="1737360"/>
            <a:ext cx="274320" cy="274320"/>
          </a:xfrm>
          <a:prstGeom prst="rect">
            <a:avLst/>
          </a:prstGeom>
        </p:spPr>
      </p:pic>
      <p:sp>
        <p:nvSpPr>
          <p:cNvPr id="11" name="Text 7"/>
          <p:cNvSpPr txBox="1"/>
          <p:nvPr/>
        </p:nvSpPr>
        <p:spPr>
          <a:xfrm>
            <a:off x="6530188" y="22860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Cadangan</a:t>
            </a:r>
            <a:endParaRPr lang="en-US" sz="1900" dirty="0"/>
          </a:p>
        </p:txBody>
      </p:sp>
      <p:sp>
        <p:nvSpPr>
          <p:cNvPr id="12" name="Text 8"/>
          <p:cNvSpPr txBox="1"/>
          <p:nvPr/>
        </p:nvSpPr>
        <p:spPr>
          <a:xfrm>
            <a:off x="6530188" y="2743200"/>
            <a:ext cx="4838548" cy="556260"/>
          </a:xfrm>
          <a:prstGeom prst="rect">
            <a:avLst/>
          </a:prstGeom>
          <a:noFill/>
          <a:ln/>
        </p:spPr>
        <p:txBody>
          <a:bodyPr wrap="square" lIns="0" tIns="0" rIns="0" bIns="0" rtlCol="0" anchor="t"/>
          <a:lstStyle/>
          <a:p>
            <a:pPr indent="0" marL="0">
              <a:buNone/>
            </a:pPr>
            <a:r>
              <a:rPr lang="en-US" sz="1500" dirty="0">
                <a:solidFill>
                  <a:schemeClr val="tx1"/>
                </a:solidFill>
              </a:rPr>
              <a:t>Proyek Wokwi siap dibuka; video di laptop </a:t>
            </a:r>
            <a:r>
              <a:rPr lang="en-US" sz="1500" b="1" dirty="0">
                <a:solidFill>
                  <a:schemeClr val="tx1"/>
                </a:solidFill>
              </a:rPr>
              <a:t>dan</a:t>
            </a:r>
            <a:r>
              <a:rPr lang="en-US" sz="1500" dirty="0">
                <a:solidFill>
                  <a:schemeClr val="tx1"/>
                </a:solidFill>
              </a:rPr>
              <a:t> HP.</a:t>
            </a:r>
            <a:endParaRPr lang="en-US" sz="1500" dirty="0"/>
          </a:p>
        </p:txBody>
      </p:sp>
      <p:sp>
        <p:nvSpPr>
          <p:cNvPr id="13" name="kartu"/>
          <p:cNvSpPr/>
          <p:nvPr/>
        </p:nvSpPr>
        <p:spPr>
          <a:xfrm>
            <a:off x="548640" y="3802380"/>
            <a:ext cx="5387188" cy="2156460"/>
          </a:xfrm>
          <a:prstGeom prst="roundRect">
            <a:avLst>
              <a:gd name="adj" fmla="val 5088"/>
            </a:avLst>
          </a:prstGeom>
          <a:solidFill>
            <a:schemeClr val="bg2"/>
          </a:solidFill>
          <a:ln w="9525">
            <a:solidFill>
              <a:schemeClr val="bg2"/>
            </a:solidFill>
            <a:prstDash val="solid"/>
          </a:ln>
        </p:spPr>
      </p:sp>
      <p:sp>
        <p:nvSpPr>
          <p:cNvPr id="14" name="pad"/>
          <p:cNvSpPr/>
          <p:nvPr/>
        </p:nvSpPr>
        <p:spPr>
          <a:xfrm>
            <a:off x="822960" y="4076700"/>
            <a:ext cx="548640" cy="548640"/>
          </a:xfrm>
          <a:prstGeom prst="ellipse">
            <a:avLst/>
          </a:prstGeom>
          <a:solidFill>
            <a:schemeClr val="bg1"/>
          </a:solidFill>
          <a:ln w="28575">
            <a:solidFill>
              <a:schemeClr val="accent2"/>
            </a:solidFill>
            <a:prstDash val="solid"/>
          </a:ln>
        </p:spPr>
      </p:sp>
      <p:pic>
        <p:nvPicPr>
          <p:cNvPr id="15" name="ikon-battery" descr="preencoded.png">    </p:cNvPr>
          <p:cNvPicPr>
            <a:picLocks noChangeAspect="1"/>
          </p:cNvPicPr>
          <p:nvPr/>
        </p:nvPicPr>
        <p:blipFill>
          <a:blip r:embed="rId3"/>
          <a:stretch>
            <a:fillRect/>
          </a:stretch>
        </p:blipFill>
        <p:spPr>
          <a:xfrm>
            <a:off x="960120" y="4213860"/>
            <a:ext cx="274320" cy="274320"/>
          </a:xfrm>
          <a:prstGeom prst="rect">
            <a:avLst/>
          </a:prstGeom>
        </p:spPr>
      </p:pic>
      <p:sp>
        <p:nvSpPr>
          <p:cNvPr id="16" name="Text 11"/>
          <p:cNvSpPr txBox="1"/>
          <p:nvPr/>
        </p:nvSpPr>
        <p:spPr>
          <a:xfrm>
            <a:off x="822960" y="47625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Catu daya</a:t>
            </a:r>
            <a:endParaRPr lang="en-US" sz="1900" dirty="0"/>
          </a:p>
        </p:txBody>
      </p:sp>
      <p:sp>
        <p:nvSpPr>
          <p:cNvPr id="17" name="Text 12"/>
          <p:cNvSpPr txBox="1"/>
          <p:nvPr/>
        </p:nvSpPr>
        <p:spPr>
          <a:xfrm>
            <a:off x="822960" y="5219700"/>
            <a:ext cx="4838548" cy="556260"/>
          </a:xfrm>
          <a:prstGeom prst="rect">
            <a:avLst/>
          </a:prstGeom>
          <a:noFill/>
          <a:ln/>
        </p:spPr>
        <p:txBody>
          <a:bodyPr wrap="square" lIns="0" tIns="0" rIns="0" bIns="0" rtlCol="0" anchor="t"/>
          <a:lstStyle/>
          <a:p>
            <a:pPr indent="0" marL="0">
              <a:buNone/>
            </a:pPr>
            <a:r>
              <a:rPr lang="en-US" sz="1500" dirty="0">
                <a:solidFill>
                  <a:schemeClr val="tx1"/>
                </a:solidFill>
              </a:rPr>
              <a:t>Sesuai anggaran daya; servo dan </a:t>
            </a:r>
            <a:r>
              <a:rPr lang="en-US" sz="1500" i="1" dirty="0">
                <a:solidFill>
                  <a:schemeClr val="tx1"/>
                </a:solidFill>
              </a:rPr>
              <a:t>relay</a:t>
            </a:r>
            <a:r>
              <a:rPr lang="en-US" sz="1500" dirty="0">
                <a:solidFill>
                  <a:schemeClr val="tx1"/>
                </a:solidFill>
              </a:rPr>
              <a:t> tidak dari pin 3,3 V.</a:t>
            </a:r>
            <a:endParaRPr lang="en-US" sz="1500" dirty="0"/>
          </a:p>
        </p:txBody>
      </p:sp>
      <p:sp>
        <p:nvSpPr>
          <p:cNvPr id="18" name="kartu"/>
          <p:cNvSpPr/>
          <p:nvPr/>
        </p:nvSpPr>
        <p:spPr>
          <a:xfrm>
            <a:off x="6255868" y="3802380"/>
            <a:ext cx="5387188" cy="2156460"/>
          </a:xfrm>
          <a:prstGeom prst="roundRect">
            <a:avLst>
              <a:gd name="adj" fmla="val 5088"/>
            </a:avLst>
          </a:prstGeom>
          <a:solidFill>
            <a:schemeClr val="bg2"/>
          </a:solidFill>
          <a:ln w="9525">
            <a:solidFill>
              <a:schemeClr val="bg2"/>
            </a:solidFill>
            <a:prstDash val="solid"/>
          </a:ln>
        </p:spPr>
      </p:sp>
      <p:sp>
        <p:nvSpPr>
          <p:cNvPr id="19" name="pad"/>
          <p:cNvSpPr/>
          <p:nvPr/>
        </p:nvSpPr>
        <p:spPr>
          <a:xfrm>
            <a:off x="6530188" y="4076700"/>
            <a:ext cx="548640" cy="548640"/>
          </a:xfrm>
          <a:prstGeom prst="ellipse">
            <a:avLst/>
          </a:prstGeom>
          <a:solidFill>
            <a:schemeClr val="bg1"/>
          </a:solidFill>
          <a:ln w="28575">
            <a:solidFill>
              <a:schemeClr val="accent2"/>
            </a:solidFill>
            <a:prstDash val="solid"/>
          </a:ln>
        </p:spPr>
      </p:sp>
      <p:pic>
        <p:nvPicPr>
          <p:cNvPr id="20" name="ikon-file" descr="preencoded.png">    </p:cNvPr>
          <p:cNvPicPr>
            <a:picLocks noChangeAspect="1"/>
          </p:cNvPicPr>
          <p:nvPr/>
        </p:nvPicPr>
        <p:blipFill>
          <a:blip r:embed="rId4"/>
          <a:stretch>
            <a:fillRect/>
          </a:stretch>
        </p:blipFill>
        <p:spPr>
          <a:xfrm>
            <a:off x="6667348" y="4213860"/>
            <a:ext cx="274320" cy="274320"/>
          </a:xfrm>
          <a:prstGeom prst="rect">
            <a:avLst/>
          </a:prstGeom>
        </p:spPr>
      </p:pic>
      <p:sp>
        <p:nvSpPr>
          <p:cNvPr id="21" name="Text 15"/>
          <p:cNvSpPr txBox="1"/>
          <p:nvPr/>
        </p:nvSpPr>
        <p:spPr>
          <a:xfrm>
            <a:off x="6530188" y="47625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Berkas</a:t>
            </a:r>
            <a:endParaRPr lang="en-US" sz="1900" dirty="0"/>
          </a:p>
        </p:txBody>
      </p:sp>
      <p:sp>
        <p:nvSpPr>
          <p:cNvPr id="22" name="Text 16"/>
          <p:cNvSpPr txBox="1"/>
          <p:nvPr/>
        </p:nvSpPr>
        <p:spPr>
          <a:xfrm>
            <a:off x="6530188" y="5219700"/>
            <a:ext cx="4838548" cy="556260"/>
          </a:xfrm>
          <a:prstGeom prst="rect">
            <a:avLst/>
          </a:prstGeom>
          <a:noFill/>
          <a:ln/>
        </p:spPr>
        <p:txBody>
          <a:bodyPr wrap="square" lIns="0" tIns="0" rIns="0" bIns="0" rtlCol="0" anchor="t"/>
          <a:lstStyle/>
          <a:p>
            <a:pPr indent="0" marL="0">
              <a:buNone/>
            </a:pPr>
            <a:r>
              <a:rPr lang="en-US" sz="1500" dirty="0">
                <a:solidFill>
                  <a:schemeClr val="tx1"/>
                </a:solidFill>
              </a:rPr>
              <a:t>Terkumpul H-1; slide PDF di laptop dan </a:t>
            </a:r>
            <a:r>
              <a:rPr lang="en-US" sz="1500" i="1" dirty="0">
                <a:solidFill>
                  <a:schemeClr val="tx1"/>
                </a:solidFill>
              </a:rPr>
              <a:t>flashdisk</a:t>
            </a: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Rubrik: Enam Kriteria UAS</a:t>
            </a:r>
            <a:endParaRPr lang="en-US" sz="3000" dirty="0"/>
          </a:p>
        </p:txBody>
      </p:sp>
      <p:graphicFrame>
        <p:nvGraphicFramePr>
          <p:cNvPr id="9" name="tabel"/>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91840"/>
                <a:gridCol w="1097280"/>
                <a:gridCol w="6675120"/>
              </a:tblGrid>
              <a:tr h="0">
                <a:tc>
                  <a:txBody>
                    <a:bodyPr/>
                    <a:lstStyle/>
                    <a:p>
                      <a:pPr indent="0" marL="0">
                        <a:buNone/>
                      </a:pPr>
                      <a:r>
                        <a:rPr lang="en-US" sz="1600" b="1" dirty="0">
                          <a:solidFill>
                            <a:schemeClr val="bg1"/>
                          </a:solidFill>
                        </a:rPr>
                        <a:t>Kriteria</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Bobot</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Ciri level 4 (Sangat baik)</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r>
              <a:tr h="0">
                <a:tc>
                  <a:txBody>
                    <a:bodyPr/>
                    <a:lstStyle/>
                    <a:p>
                      <a:pPr indent="0" marL="0">
                        <a:buNone/>
                      </a:pPr>
                      <a:r>
                        <a:rPr lang="en-US" sz="1600" dirty="0">
                          <a:solidFill>
                            <a:schemeClr val="tx1"/>
                          </a:solidFill>
                        </a:rPr>
                        <a:t>1. Fungsi dan demo</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25%</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Semua fitur stabil di board asli, gangguan ditangani</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2. Kedalaman teknis</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 3 topik saling terkait, keputusan didukung data</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3. Kualitas kode</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15%</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Non-blocking, FSM/FreeRTOS, modular, commit rapi</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4. Dokumentasi</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15%</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Laporan lengkap dengan data uji; README bisa diikuti</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5. Presentasi dan tanya jawab</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15%</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Paham seluruh sistem; ubah kode di tempat berhasil</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6. Kerja tim</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Tugas seimbang, tepat waktu, terbukti di Git</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Cara Menghitung Nilai</a:t>
            </a:r>
            <a:endParaRPr lang="en-US" sz="3000" dirty="0"/>
          </a:p>
        </p:txBody>
      </p:sp>
      <p:sp>
        <p:nvSpPr>
          <p:cNvPr id="3" name="kartu"/>
          <p:cNvSpPr/>
          <p:nvPr/>
        </p:nvSpPr>
        <p:spPr>
          <a:xfrm>
            <a:off x="548640" y="1600200"/>
            <a:ext cx="11094415" cy="1828800"/>
          </a:xfrm>
          <a:prstGeom prst="roundRect">
            <a:avLst>
              <a:gd name="adj" fmla="val 6000"/>
            </a:avLst>
          </a:prstGeom>
          <a:solidFill>
            <a:srgbClr val="EEF5F1"/>
          </a:solidFill>
          <a:ln w="9525">
            <a:solidFill>
              <a:schemeClr val="bg2"/>
            </a:solidFill>
            <a:prstDash val="solid"/>
          </a:ln>
        </p:spPr>
      </p:sp>
      <p:sp>
        <p:nvSpPr>
          <p:cNvPr id="4" name="pad"/>
          <p:cNvSpPr/>
          <p:nvPr/>
        </p:nvSpPr>
        <p:spPr>
          <a:xfrm>
            <a:off x="914400" y="2057400"/>
            <a:ext cx="914400" cy="914400"/>
          </a:xfrm>
          <a:prstGeom prst="ellipse">
            <a:avLst/>
          </a:prstGeom>
          <a:solidFill>
            <a:schemeClr val="bg1"/>
          </a:solidFill>
          <a:ln w="28575">
            <a:solidFill>
              <a:schemeClr val="accent2"/>
            </a:solidFill>
            <a:prstDash val="solid"/>
          </a:ln>
        </p:spPr>
      </p:sp>
      <p:pic>
        <p:nvPicPr>
          <p:cNvPr id="5" name="ikon-tasks" descr="preencoded.png">    </p:cNvPr>
          <p:cNvPicPr>
            <a:picLocks noChangeAspect="1"/>
          </p:cNvPicPr>
          <p:nvPr/>
        </p:nvPicPr>
        <p:blipFill>
          <a:blip r:embed="rId1"/>
          <a:stretch>
            <a:fillRect/>
          </a:stretch>
        </p:blipFill>
        <p:spPr>
          <a:xfrm>
            <a:off x="1143000" y="2286000"/>
            <a:ext cx="457200" cy="457200"/>
          </a:xfrm>
          <a:prstGeom prst="rect">
            <a:avLst/>
          </a:prstGeom>
        </p:spPr>
      </p:pic>
      <p:sp>
        <p:nvSpPr>
          <p:cNvPr id="6" name="Text 3"/>
          <p:cNvSpPr txBox="1"/>
          <p:nvPr/>
        </p:nvSpPr>
        <p:spPr>
          <a:xfrm>
            <a:off x="2103120" y="1600200"/>
            <a:ext cx="9265615" cy="1828800"/>
          </a:xfrm>
          <a:prstGeom prst="rect">
            <a:avLst/>
          </a:prstGeom>
          <a:noFill/>
          <a:ln/>
        </p:spPr>
        <p:txBody>
          <a:bodyPr wrap="square" lIns="0" tIns="0" rIns="0" bIns="0" rtlCol="0" anchor="ctr"/>
          <a:lstStyle/>
          <a:p>
            <a:pPr indent="0" marL="0">
              <a:buNone/>
            </a:pPr>
            <a:r>
              <a:rPr lang="en-US" sz="2600" dirty="0">
                <a:solidFill>
                  <a:schemeClr val="tx1"/>
                </a:solidFill>
              </a:rPr>
              <a:t>Nilai UAS = jumlah (bobot × skor ÷ 4)</a:t>
            </a:r>
            <a:endParaRPr lang="en-US" sz="2600" dirty="0"/>
          </a:p>
        </p:txBody>
      </p:sp>
      <p:sp>
        <p:nvSpPr>
          <p:cNvPr id="7" name="daftar-poin"/>
          <p:cNvSpPr txBox="1"/>
          <p:nvPr/>
        </p:nvSpPr>
        <p:spPr>
          <a:xfrm>
            <a:off x="548640" y="3749040"/>
            <a:ext cx="11094415" cy="2423160"/>
          </a:xfrm>
          <a:prstGeom prst="rect">
            <a:avLst/>
          </a:prstGeom>
          <a:noFill/>
          <a:ln/>
        </p:spPr>
        <p:txBody>
          <a:bodyPr wrap="square" lIns="25400" tIns="25400" rIns="50800" bIns="25400" rtlCol="0" anchor="t"/>
          <a:lstStyle/>
          <a:p>
            <a:pPr marL="279400" indent="-279400">
              <a:spcAft>
                <a:spcPts val="1000"/>
              </a:spcAft>
              <a:buSzPct val="100000"/>
              <a:buChar char="•"/>
            </a:pPr>
            <a:r>
              <a:rPr lang="en-US" sz="1900" dirty="0">
                <a:solidFill>
                  <a:schemeClr val="tx1"/>
                </a:solidFill>
              </a:rPr>
              <a:t>Skor 4-3-3-3-4-3 → 25 + 15 + 11,25 + 11,25 + 15 + 7,5 = </a:t>
            </a:r>
            <a:r>
              <a:rPr lang="en-US" sz="1900" b="1" dirty="0">
                <a:solidFill>
                  <a:schemeClr val="tx1"/>
                </a:solidFill>
              </a:rPr>
              <a:t>85</a:t>
            </a:r>
            <a:endParaRPr lang="en-US" sz="1900" dirty="0"/>
          </a:p>
          <a:p>
            <a:pPr marL="279400" indent="-279400">
              <a:spcAft>
                <a:spcPts val="1000"/>
              </a:spcAft>
              <a:buSzPct val="100000"/>
              <a:buChar char="•"/>
            </a:pPr>
            <a:r>
              <a:rPr lang="en-US" sz="1900" dirty="0">
                <a:solidFill>
                  <a:schemeClr val="tx1"/>
                </a:solidFill>
              </a:rPr>
              <a:t>Nilai proyek = 10% proposal + 10% kemajuan + 80% UAS</a:t>
            </a:r>
            <a:endParaRPr lang="en-US" sz="1900" dirty="0"/>
          </a:p>
          <a:p>
            <a:pPr marL="279400" indent="-279400">
              <a:spcAft>
                <a:spcPts val="1000"/>
              </a:spcAft>
              <a:buSzPct val="100000"/>
              <a:buChar char="•"/>
            </a:pPr>
            <a:r>
              <a:rPr lang="en-US" sz="1900" dirty="0">
                <a:solidFill>
                  <a:schemeClr val="tx1"/>
                </a:solidFill>
              </a:rPr>
              <a:t>Nilai tambah maksimal +5: IoT, hemat daya terukur, keandalan, kerapian</a:t>
            </a:r>
            <a:endParaRPr lang="en-US" sz="1900" dirty="0"/>
          </a:p>
          <a:p>
            <a:pPr marL="279400" indent="-279400">
              <a:spcAft>
                <a:spcPts val="1000"/>
              </a:spcAft>
              <a:buSzPct val="100000"/>
              <a:buChar char="•"/>
            </a:pPr>
            <a:r>
              <a:rPr lang="en-US" sz="1900" dirty="0">
                <a:solidFill>
                  <a:schemeClr val="tx1"/>
                </a:solidFill>
              </a:rPr>
              <a:t>Proyek akhir = 35% nilai akhir mata kuliah</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Contoh Pertanyaan Penguji</a:t>
            </a:r>
            <a:endParaRPr lang="en-US" sz="3000" dirty="0"/>
          </a:p>
        </p:txBody>
      </p:sp>
      <p:sp>
        <p:nvSpPr>
          <p:cNvPr id="3" name="kartu"/>
          <p:cNvSpPr/>
          <p:nvPr/>
        </p:nvSpPr>
        <p:spPr>
          <a:xfrm>
            <a:off x="548640" y="1325880"/>
            <a:ext cx="5387188" cy="2156460"/>
          </a:xfrm>
          <a:prstGeom prst="roundRect">
            <a:avLst>
              <a:gd name="adj" fmla="val 5088"/>
            </a:avLst>
          </a:prstGeom>
          <a:solidFill>
            <a:schemeClr val="bg2"/>
          </a:solidFill>
          <a:ln w="9525">
            <a:solidFill>
              <a:schemeClr val="bg2"/>
            </a:solidFill>
            <a:prstDash val="solid"/>
          </a:ln>
        </p:spPr>
      </p:sp>
      <p:sp>
        <p:nvSpPr>
          <p:cNvPr id="4" name="pad"/>
          <p:cNvSpPr/>
          <p:nvPr/>
        </p:nvSpPr>
        <p:spPr>
          <a:xfrm>
            <a:off x="822960" y="1600200"/>
            <a:ext cx="548640" cy="548640"/>
          </a:xfrm>
          <a:prstGeom prst="ellipse">
            <a:avLst/>
          </a:prstGeom>
          <a:solidFill>
            <a:schemeClr val="bg1"/>
          </a:solidFill>
          <a:ln w="28575">
            <a:solidFill>
              <a:schemeClr val="accent2"/>
            </a:solidFill>
            <a:prstDash val="solid"/>
          </a:ln>
        </p:spPr>
      </p:sp>
      <p:pic>
        <p:nvPicPr>
          <p:cNvPr id="5" name="ikon-plug" descr="preencoded.png">    </p:cNvPr>
          <p:cNvPicPr>
            <a:picLocks noChangeAspect="1"/>
          </p:cNvPicPr>
          <p:nvPr/>
        </p:nvPicPr>
        <p:blipFill>
          <a:blip r:embed="rId1"/>
          <a:stretch>
            <a:fillRect/>
          </a:stretch>
        </p:blipFill>
        <p:spPr>
          <a:xfrm>
            <a:off x="960120" y="1737360"/>
            <a:ext cx="274320" cy="274320"/>
          </a:xfrm>
          <a:prstGeom prst="rect">
            <a:avLst/>
          </a:prstGeom>
        </p:spPr>
      </p:pic>
      <p:sp>
        <p:nvSpPr>
          <p:cNvPr id="6" name="Text 3"/>
          <p:cNvSpPr txBox="1"/>
          <p:nvPr/>
        </p:nvSpPr>
        <p:spPr>
          <a:xfrm>
            <a:off x="822960" y="22860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Perangkat keras</a:t>
            </a:r>
            <a:endParaRPr lang="en-US" sz="1900" dirty="0"/>
          </a:p>
        </p:txBody>
      </p:sp>
      <p:sp>
        <p:nvSpPr>
          <p:cNvPr id="7" name="Text 4"/>
          <p:cNvSpPr txBox="1"/>
          <p:nvPr/>
        </p:nvSpPr>
        <p:spPr>
          <a:xfrm>
            <a:off x="822960" y="2743200"/>
            <a:ext cx="4838548" cy="556260"/>
          </a:xfrm>
          <a:prstGeom prst="rect">
            <a:avLst/>
          </a:prstGeom>
          <a:noFill/>
          <a:ln/>
        </p:spPr>
        <p:txBody>
          <a:bodyPr wrap="square" lIns="0" tIns="0" rIns="0" bIns="0" rtlCol="0" anchor="t"/>
          <a:lstStyle/>
          <a:p>
            <a:pPr indent="0" marL="0">
              <a:buNone/>
            </a:pPr>
            <a:r>
              <a:rPr lang="en-US" sz="1500" dirty="0">
                <a:solidFill>
                  <a:schemeClr val="tx1"/>
                </a:solidFill>
              </a:rPr>
              <a:t>Mengapa sensor analog di ADC1? Berapa arus total sistem?</a:t>
            </a:r>
            <a:endParaRPr lang="en-US" sz="1500" dirty="0"/>
          </a:p>
        </p:txBody>
      </p:sp>
      <p:sp>
        <p:nvSpPr>
          <p:cNvPr id="8" name="kartu"/>
          <p:cNvSpPr/>
          <p:nvPr/>
        </p:nvSpPr>
        <p:spPr>
          <a:xfrm>
            <a:off x="6255868" y="1325880"/>
            <a:ext cx="5387188" cy="2156460"/>
          </a:xfrm>
          <a:prstGeom prst="roundRect">
            <a:avLst>
              <a:gd name="adj" fmla="val 5088"/>
            </a:avLst>
          </a:prstGeom>
          <a:solidFill>
            <a:schemeClr val="bg2"/>
          </a:solidFill>
          <a:ln w="9525">
            <a:solidFill>
              <a:schemeClr val="bg2"/>
            </a:solidFill>
            <a:prstDash val="solid"/>
          </a:ln>
        </p:spPr>
      </p:sp>
      <p:sp>
        <p:nvSpPr>
          <p:cNvPr id="9" name="pad"/>
          <p:cNvSpPr/>
          <p:nvPr/>
        </p:nvSpPr>
        <p:spPr>
          <a:xfrm>
            <a:off x="6530188" y="1600200"/>
            <a:ext cx="548640" cy="548640"/>
          </a:xfrm>
          <a:prstGeom prst="ellipse">
            <a:avLst/>
          </a:prstGeom>
          <a:solidFill>
            <a:schemeClr val="bg1"/>
          </a:solidFill>
          <a:ln w="28575">
            <a:solidFill>
              <a:schemeClr val="accent2"/>
            </a:solidFill>
            <a:prstDash val="solid"/>
          </a:ln>
        </p:spPr>
      </p:sp>
      <p:pic>
        <p:nvPicPr>
          <p:cNvPr id="10" name="ikon-code" descr="preencoded.png">    </p:cNvPr>
          <p:cNvPicPr>
            <a:picLocks noChangeAspect="1"/>
          </p:cNvPicPr>
          <p:nvPr/>
        </p:nvPicPr>
        <p:blipFill>
          <a:blip r:embed="rId2"/>
          <a:stretch>
            <a:fillRect/>
          </a:stretch>
        </p:blipFill>
        <p:spPr>
          <a:xfrm>
            <a:off x="6667348" y="1737360"/>
            <a:ext cx="274320" cy="274320"/>
          </a:xfrm>
          <a:prstGeom prst="rect">
            <a:avLst/>
          </a:prstGeom>
        </p:spPr>
      </p:pic>
      <p:sp>
        <p:nvSpPr>
          <p:cNvPr id="11" name="Text 7"/>
          <p:cNvSpPr txBox="1"/>
          <p:nvPr/>
        </p:nvSpPr>
        <p:spPr>
          <a:xfrm>
            <a:off x="6530188" y="22860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Firmware</a:t>
            </a:r>
            <a:endParaRPr lang="en-US" sz="1900" dirty="0"/>
          </a:p>
        </p:txBody>
      </p:sp>
      <p:sp>
        <p:nvSpPr>
          <p:cNvPr id="12" name="Text 8"/>
          <p:cNvSpPr txBox="1"/>
          <p:nvPr/>
        </p:nvSpPr>
        <p:spPr>
          <a:xfrm>
            <a:off x="6530188" y="2743200"/>
            <a:ext cx="4838548" cy="556260"/>
          </a:xfrm>
          <a:prstGeom prst="rect">
            <a:avLst/>
          </a:prstGeom>
          <a:noFill/>
          <a:ln/>
        </p:spPr>
        <p:txBody>
          <a:bodyPr wrap="square" lIns="0" tIns="0" rIns="0" bIns="0" rtlCol="0" anchor="t"/>
          <a:lstStyle/>
          <a:p>
            <a:pPr indent="0" marL="0">
              <a:buNone/>
            </a:pPr>
            <a:r>
              <a:rPr lang="en-US" sz="1500" dirty="0">
                <a:solidFill>
                  <a:schemeClr val="tx1"/>
                </a:solidFill>
              </a:rPr>
              <a:t>Gambarkan FSM-mu. Mengapa </a:t>
            </a:r>
            <a:r>
              <a:rPr lang="en-US" sz="1500" dirty="0">
                <a:solidFill>
                  <a:srgbClr val="A35F14"/>
                </a:solidFill>
                <a:latin typeface="Consolas" pitchFamily="34" charset="0"/>
                <a:ea typeface="Consolas" pitchFamily="34" charset="-122"/>
                <a:cs typeface="Consolas" pitchFamily="34" charset="-120"/>
              </a:rPr>
              <a:t>millis()</a:t>
            </a:r>
            <a:r>
              <a:rPr lang="en-US" sz="1500" dirty="0">
                <a:solidFill>
                  <a:schemeClr val="tx1"/>
                </a:solidFill>
              </a:rPr>
              <a:t>, bukan </a:t>
            </a:r>
            <a:r>
              <a:rPr lang="en-US" sz="1500" dirty="0">
                <a:solidFill>
                  <a:srgbClr val="A35F14"/>
                </a:solidFill>
                <a:latin typeface="Consolas" pitchFamily="34" charset="0"/>
                <a:ea typeface="Consolas" pitchFamily="34" charset="-122"/>
                <a:cs typeface="Consolas" pitchFamily="34" charset="-120"/>
              </a:rPr>
              <a:t>delay()</a:t>
            </a:r>
            <a:r>
              <a:rPr lang="en-US" sz="1500" dirty="0">
                <a:solidFill>
                  <a:schemeClr val="tx1"/>
                </a:solidFill>
              </a:rPr>
              <a:t>?</a:t>
            </a:r>
            <a:endParaRPr lang="en-US" sz="1500" dirty="0"/>
          </a:p>
        </p:txBody>
      </p:sp>
      <p:sp>
        <p:nvSpPr>
          <p:cNvPr id="13" name="kartu"/>
          <p:cNvSpPr/>
          <p:nvPr/>
        </p:nvSpPr>
        <p:spPr>
          <a:xfrm>
            <a:off x="548640" y="3802380"/>
            <a:ext cx="5387188" cy="2156460"/>
          </a:xfrm>
          <a:prstGeom prst="roundRect">
            <a:avLst>
              <a:gd name="adj" fmla="val 5088"/>
            </a:avLst>
          </a:prstGeom>
          <a:solidFill>
            <a:schemeClr val="bg2"/>
          </a:solidFill>
          <a:ln w="9525">
            <a:solidFill>
              <a:schemeClr val="bg2"/>
            </a:solidFill>
            <a:prstDash val="solid"/>
          </a:ln>
        </p:spPr>
      </p:sp>
      <p:sp>
        <p:nvSpPr>
          <p:cNvPr id="14" name="pad"/>
          <p:cNvSpPr/>
          <p:nvPr/>
        </p:nvSpPr>
        <p:spPr>
          <a:xfrm>
            <a:off x="822960" y="4076700"/>
            <a:ext cx="548640" cy="548640"/>
          </a:xfrm>
          <a:prstGeom prst="ellipse">
            <a:avLst/>
          </a:prstGeom>
          <a:solidFill>
            <a:schemeClr val="bg1"/>
          </a:solidFill>
          <a:ln w="28575">
            <a:solidFill>
              <a:schemeClr val="accent2"/>
            </a:solidFill>
            <a:prstDash val="solid"/>
          </a:ln>
        </p:spPr>
      </p:sp>
      <p:pic>
        <p:nvPicPr>
          <p:cNvPr id="15" name="ikon-shield" descr="preencoded.png">    </p:cNvPr>
          <p:cNvPicPr>
            <a:picLocks noChangeAspect="1"/>
          </p:cNvPicPr>
          <p:nvPr/>
        </p:nvPicPr>
        <p:blipFill>
          <a:blip r:embed="rId3"/>
          <a:stretch>
            <a:fillRect/>
          </a:stretch>
        </p:blipFill>
        <p:spPr>
          <a:xfrm>
            <a:off x="960120" y="4213860"/>
            <a:ext cx="274320" cy="274320"/>
          </a:xfrm>
          <a:prstGeom prst="rect">
            <a:avLst/>
          </a:prstGeom>
        </p:spPr>
      </p:pic>
      <p:sp>
        <p:nvSpPr>
          <p:cNvPr id="16" name="Text 11"/>
          <p:cNvSpPr txBox="1"/>
          <p:nvPr/>
        </p:nvSpPr>
        <p:spPr>
          <a:xfrm>
            <a:off x="822960" y="47625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Keandalan</a:t>
            </a:r>
            <a:endParaRPr lang="en-US" sz="1900" dirty="0"/>
          </a:p>
        </p:txBody>
      </p:sp>
      <p:sp>
        <p:nvSpPr>
          <p:cNvPr id="17" name="Text 12"/>
          <p:cNvSpPr txBox="1"/>
          <p:nvPr/>
        </p:nvSpPr>
        <p:spPr>
          <a:xfrm>
            <a:off x="822960" y="5219700"/>
            <a:ext cx="4838548" cy="556260"/>
          </a:xfrm>
          <a:prstGeom prst="rect">
            <a:avLst/>
          </a:prstGeom>
          <a:noFill/>
          <a:ln/>
        </p:spPr>
        <p:txBody>
          <a:bodyPr wrap="square" lIns="0" tIns="0" rIns="0" bIns="0" rtlCol="0" anchor="t"/>
          <a:lstStyle/>
          <a:p>
            <a:pPr indent="0" marL="0">
              <a:buNone/>
            </a:pPr>
            <a:r>
              <a:rPr lang="en-US" sz="1500" dirty="0">
                <a:solidFill>
                  <a:schemeClr val="tx1"/>
                </a:solidFill>
              </a:rPr>
              <a:t>Apa yang terjadi bila sensor dicabut atau Wi-Fi putus?</a:t>
            </a:r>
            <a:endParaRPr lang="en-US" sz="1500" dirty="0"/>
          </a:p>
        </p:txBody>
      </p:sp>
      <p:sp>
        <p:nvSpPr>
          <p:cNvPr id="18" name="kartu"/>
          <p:cNvSpPr/>
          <p:nvPr/>
        </p:nvSpPr>
        <p:spPr>
          <a:xfrm>
            <a:off x="6255868" y="3802380"/>
            <a:ext cx="5387188" cy="2156460"/>
          </a:xfrm>
          <a:prstGeom prst="roundRect">
            <a:avLst>
              <a:gd name="adj" fmla="val 5088"/>
            </a:avLst>
          </a:prstGeom>
          <a:solidFill>
            <a:schemeClr val="bg2"/>
          </a:solidFill>
          <a:ln w="9525">
            <a:solidFill>
              <a:schemeClr val="bg2"/>
            </a:solidFill>
            <a:prstDash val="solid"/>
          </a:ln>
        </p:spPr>
      </p:sp>
      <p:sp>
        <p:nvSpPr>
          <p:cNvPr id="19" name="pad"/>
          <p:cNvSpPr/>
          <p:nvPr/>
        </p:nvSpPr>
        <p:spPr>
          <a:xfrm>
            <a:off x="6530188" y="4076700"/>
            <a:ext cx="548640" cy="548640"/>
          </a:xfrm>
          <a:prstGeom prst="ellipse">
            <a:avLst/>
          </a:prstGeom>
          <a:solidFill>
            <a:schemeClr val="bg1"/>
          </a:solidFill>
          <a:ln w="28575">
            <a:solidFill>
              <a:schemeClr val="accent2"/>
            </a:solidFill>
            <a:prstDash val="solid"/>
          </a:ln>
        </p:spPr>
      </p:sp>
      <p:pic>
        <p:nvPicPr>
          <p:cNvPr id="20" name="ikon-pen" descr="preencoded.png">    </p:cNvPr>
          <p:cNvPicPr>
            <a:picLocks noChangeAspect="1"/>
          </p:cNvPicPr>
          <p:nvPr/>
        </p:nvPicPr>
        <p:blipFill>
          <a:blip r:embed="rId4"/>
          <a:stretch>
            <a:fillRect/>
          </a:stretch>
        </p:blipFill>
        <p:spPr>
          <a:xfrm>
            <a:off x="6667348" y="4213860"/>
            <a:ext cx="274320" cy="274320"/>
          </a:xfrm>
          <a:prstGeom prst="rect">
            <a:avLst/>
          </a:prstGeom>
        </p:spPr>
      </p:pic>
      <p:sp>
        <p:nvSpPr>
          <p:cNvPr id="21" name="Text 15"/>
          <p:cNvSpPr txBox="1"/>
          <p:nvPr/>
        </p:nvSpPr>
        <p:spPr>
          <a:xfrm>
            <a:off x="6530188" y="4762500"/>
            <a:ext cx="4838548" cy="411480"/>
          </a:xfrm>
          <a:prstGeom prst="rect">
            <a:avLst/>
          </a:prstGeom>
          <a:noFill/>
          <a:ln/>
        </p:spPr>
        <p:txBody>
          <a:bodyPr wrap="square" lIns="0" tIns="0" rIns="0" bIns="0" rtlCol="0" anchor="t"/>
          <a:lstStyle/>
          <a:p>
            <a:pPr indent="0" marL="0">
              <a:buNone/>
            </a:pPr>
            <a:r>
              <a:rPr lang="en-US" sz="1900" b="1" dirty="0">
                <a:solidFill>
                  <a:schemeClr val="tx2"/>
                </a:solidFill>
              </a:rPr>
              <a:t>Uji pemahaman</a:t>
            </a:r>
            <a:endParaRPr lang="en-US" sz="1900" dirty="0"/>
          </a:p>
        </p:txBody>
      </p:sp>
      <p:sp>
        <p:nvSpPr>
          <p:cNvPr id="22" name="Text 16"/>
          <p:cNvSpPr txBox="1"/>
          <p:nvPr/>
        </p:nvSpPr>
        <p:spPr>
          <a:xfrm>
            <a:off x="6530188" y="5219700"/>
            <a:ext cx="4838548" cy="556260"/>
          </a:xfrm>
          <a:prstGeom prst="rect">
            <a:avLst/>
          </a:prstGeom>
          <a:noFill/>
          <a:ln/>
        </p:spPr>
        <p:txBody>
          <a:bodyPr wrap="square" lIns="0" tIns="0" rIns="0" bIns="0" rtlCol="0" anchor="t"/>
          <a:lstStyle/>
          <a:p>
            <a:pPr indent="0" marL="0">
              <a:buNone/>
            </a:pPr>
            <a:r>
              <a:rPr lang="en-US" sz="1500" dirty="0">
                <a:solidFill>
                  <a:schemeClr val="tx1"/>
                </a:solidFill>
              </a:rPr>
              <a:t>Ubah ambang menjadi 30 °C, lalu unggah ulang sekarang.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Struktur Folder Pengumpulan</a:t>
            </a:r>
            <a:endParaRPr lang="en-US" sz="3000" dirty="0"/>
          </a:p>
        </p:txBody>
      </p:sp>
      <p:pic>
        <p:nvPicPr>
          <p:cNvPr id="3" name="gambar" descr="/home/claude/work/slides/img/p16/p16-struktur-folder.png">    </p:cNvPr>
          <p:cNvPicPr>
            <a:picLocks noChangeAspect="1"/>
          </p:cNvPicPr>
          <p:nvPr/>
        </p:nvPicPr>
        <p:blipFill>
          <a:blip r:embed="rId1"/>
          <a:stretch>
            <a:fillRect/>
          </a:stretch>
        </p:blipFill>
        <p:spPr>
          <a:xfrm>
            <a:off x="2212091" y="1280160"/>
            <a:ext cx="7767514" cy="48920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Ketentuan Pengumpulan</a:t>
            </a:r>
            <a:endParaRPr lang="en-US" sz="3000" dirty="0"/>
          </a:p>
        </p:txBody>
      </p:sp>
      <p:graphicFrame>
        <p:nvGraphicFramePr>
          <p:cNvPr id="13" name="tabel"/>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8321040"/>
              </a:tblGrid>
              <a:tr h="0">
                <a:tc>
                  <a:txBody>
                    <a:bodyPr/>
                    <a:lstStyle/>
                    <a:p>
                      <a:pPr indent="0" marL="0">
                        <a:buNone/>
                      </a:pPr>
                      <a:r>
                        <a:rPr lang="en-US" sz="1600" b="1" dirty="0">
                          <a:solidFill>
                            <a:schemeClr val="bg1"/>
                          </a:solidFill>
                        </a:rPr>
                        <a:t>Berkas</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Ketentuan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accent1"/>
                    </a:solidFill>
                  </a:tcPr>
                </a:tc>
              </a:tr>
              <a:tr h="0">
                <a:tc>
                  <a:txBody>
                    <a:bodyPr/>
                    <a:lstStyle/>
                    <a:p>
                      <a:pPr indent="0" marL="0">
                        <a:buNone/>
                      </a:pPr>
                      <a:r>
                        <a:rPr lang="en-US" sz="1600" dirty="0">
                          <a:solidFill>
                            <a:schemeClr val="tx1"/>
                          </a:solidFill>
                        </a:rPr>
                        <a:t>Repositori atau ZIP</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kelompok-NN-nama-proyek; tanpa .pio/; rahasia.h tidak diunggah</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Laporan akhir</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PDF sesuai templat, ±15–25 halaman di luar lampiran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Video demo</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3–5 menit, alat asli, narasi; simpan tautannya saja</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Slide</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PDF di folder dokumen/</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Tenggat</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H-1 pukul 23.59; dinilai commit terakhir sebelum tenggat</a:t>
                      </a:r>
                      <a:endParaRPr lang="en-US" sz="1600" dirty="0"/>
                    </a:p>
                  </a:txBody>
                  <a:tcPr marL="101600" marR="101600" marT="63500" marB="63500" anchor="ctr">
                    <a:lnL w="9525" cap="flat" cmpd="sng" algn="ctr">
                      <a:solidFill>
                        <a:srgbClr val="D5E2DA"/>
                      </a:solidFill>
                      <a:prstDash val="solid"/>
                      <a:round/>
                      <a:headEnd type="none" w="med" len="med"/>
                      <a:tailEnd type="none" w="med" len="med"/>
                    </a:lnL>
                    <a:lnR w="9525" cap="flat" cmpd="sng" algn="ctr">
                      <a:solidFill>
                        <a:srgbClr val="D5E2DA"/>
                      </a:solidFill>
                      <a:prstDash val="solid"/>
                      <a:round/>
                      <a:headEnd type="none" w="med" len="med"/>
                      <a:tailEnd type="none" w="med" len="med"/>
                    </a:lnR>
                    <a:lnT w="9525" cap="flat" cmpd="sng" algn="ctr">
                      <a:solidFill>
                        <a:srgbClr val="D5E2DA"/>
                      </a:solidFill>
                      <a:prstDash val="solid"/>
                      <a:round/>
                      <a:headEnd type="none" w="med" len="med"/>
                      <a:tailEnd type="none" w="med" len="med"/>
                    </a:lnT>
                    <a:lnB w="9525" cap="flat" cmpd="sng" algn="ctr">
                      <a:solidFill>
                        <a:srgbClr val="D5E2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Integritas Akademik dan AI</a:t>
            </a:r>
            <a:endParaRPr lang="en-US" sz="3000" dirty="0"/>
          </a:p>
        </p:txBody>
      </p:sp>
      <p:sp>
        <p:nvSpPr>
          <p:cNvPr id="3" name="kartu"/>
          <p:cNvSpPr/>
          <p:nvPr/>
        </p:nvSpPr>
        <p:spPr>
          <a:xfrm>
            <a:off x="548640" y="1600200"/>
            <a:ext cx="11094415" cy="1828800"/>
          </a:xfrm>
          <a:prstGeom prst="roundRect">
            <a:avLst>
              <a:gd name="adj" fmla="val 6000"/>
            </a:avLst>
          </a:prstGeom>
          <a:solidFill>
            <a:srgbClr val="FBEDEB"/>
          </a:solidFill>
          <a:ln w="9525">
            <a:solidFill>
              <a:schemeClr val="bg2"/>
            </a:solidFill>
            <a:prstDash val="solid"/>
          </a:ln>
        </p:spPr>
      </p:sp>
      <p:sp>
        <p:nvSpPr>
          <p:cNvPr id="4" name="pad"/>
          <p:cNvSpPr/>
          <p:nvPr/>
        </p:nvSpPr>
        <p:spPr>
          <a:xfrm>
            <a:off x="914400" y="2057400"/>
            <a:ext cx="914400" cy="914400"/>
          </a:xfrm>
          <a:prstGeom prst="ellipse">
            <a:avLst/>
          </a:prstGeom>
          <a:solidFill>
            <a:schemeClr val="bg1"/>
          </a:solidFill>
          <a:ln w="28575">
            <a:solidFill>
              <a:schemeClr val="accent2"/>
            </a:solidFill>
            <a:prstDash val="solid"/>
          </a:ln>
        </p:spPr>
      </p:sp>
      <p:pic>
        <p:nvPicPr>
          <p:cNvPr id="5" name="ikon-shield" descr="preencoded.png">    </p:cNvPr>
          <p:cNvPicPr>
            <a:picLocks noChangeAspect="1"/>
          </p:cNvPicPr>
          <p:nvPr/>
        </p:nvPicPr>
        <p:blipFill>
          <a:blip r:embed="rId1"/>
          <a:stretch>
            <a:fillRect/>
          </a:stretch>
        </p:blipFill>
        <p:spPr>
          <a:xfrm>
            <a:off x="1143000" y="2286000"/>
            <a:ext cx="457200" cy="457200"/>
          </a:xfrm>
          <a:prstGeom prst="rect">
            <a:avLst/>
          </a:prstGeom>
        </p:spPr>
      </p:pic>
      <p:sp>
        <p:nvSpPr>
          <p:cNvPr id="6" name="Text 3"/>
          <p:cNvSpPr txBox="1"/>
          <p:nvPr/>
        </p:nvSpPr>
        <p:spPr>
          <a:xfrm>
            <a:off x="2103120" y="1600200"/>
            <a:ext cx="9265615" cy="1828800"/>
          </a:xfrm>
          <a:prstGeom prst="rect">
            <a:avLst/>
          </a:prstGeom>
          <a:noFill/>
          <a:ln/>
        </p:spPr>
        <p:txBody>
          <a:bodyPr wrap="square" lIns="0" tIns="0" rIns="0" bIns="0" rtlCol="0" anchor="ctr"/>
          <a:lstStyle/>
          <a:p>
            <a:pPr indent="0" marL="0">
              <a:buNone/>
            </a:pPr>
            <a:r>
              <a:rPr lang="en-US" sz="2400" dirty="0">
                <a:solidFill>
                  <a:schemeClr val="tx1"/>
                </a:solidFill>
              </a:rPr>
              <a:t>AI boleh membantu, tetapi kamu </a:t>
            </a:r>
            <a:r>
              <a:rPr lang="en-US" sz="2400" b="1" dirty="0">
                <a:solidFill>
                  <a:schemeClr val="tx1"/>
                </a:solidFill>
              </a:rPr>
              <a:t>wajib memahami dan bisa menjelaskan</a:t>
            </a:r>
            <a:r>
              <a:rPr lang="en-US" sz="2400" dirty="0">
                <a:solidFill>
                  <a:schemeClr val="tx1"/>
                </a:solidFill>
              </a:rPr>
              <a:t> seluruh kode.</a:t>
            </a:r>
            <a:endParaRPr lang="en-US" sz="2400" dirty="0"/>
          </a:p>
        </p:txBody>
      </p:sp>
      <p:sp>
        <p:nvSpPr>
          <p:cNvPr id="7" name="daftar-poin"/>
          <p:cNvSpPr txBox="1"/>
          <p:nvPr/>
        </p:nvSpPr>
        <p:spPr>
          <a:xfrm>
            <a:off x="548640" y="3749040"/>
            <a:ext cx="11094415" cy="2423160"/>
          </a:xfrm>
          <a:prstGeom prst="rect">
            <a:avLst/>
          </a:prstGeom>
          <a:noFill/>
          <a:ln/>
        </p:spPr>
        <p:txBody>
          <a:bodyPr wrap="square" lIns="25400" tIns="25400" rIns="50800" bIns="25400" rtlCol="0" anchor="t"/>
          <a:lstStyle/>
          <a:p>
            <a:pPr marL="279400" indent="-279400">
              <a:spcAft>
                <a:spcPts val="1000"/>
              </a:spcAft>
              <a:buSzPct val="100000"/>
              <a:buChar char="•"/>
            </a:pPr>
            <a:r>
              <a:rPr lang="en-US" sz="1900" dirty="0">
                <a:solidFill>
                  <a:schemeClr val="tx1"/>
                </a:solidFill>
              </a:rPr>
              <a:t>Cantumkan alat AI, untuk apa, dan bagian yang terdampak</a:t>
            </a:r>
            <a:endParaRPr lang="en-US" sz="1900" dirty="0"/>
          </a:p>
          <a:p>
            <a:pPr marL="279400" indent="-279400">
              <a:spcAft>
                <a:spcPts val="1000"/>
              </a:spcAft>
              <a:buSzPct val="100000"/>
              <a:buChar char="•"/>
            </a:pPr>
            <a:r>
              <a:rPr lang="en-US" sz="1900" dirty="0">
                <a:solidFill>
                  <a:schemeClr val="tx1"/>
                </a:solidFill>
              </a:rPr>
              <a:t>Waspadai kode core 2.x (</a:t>
            </a:r>
            <a:r>
              <a:rPr lang="en-US" sz="1900" dirty="0">
                <a:solidFill>
                  <a:srgbClr val="A35F14"/>
                </a:solidFill>
                <a:latin typeface="Consolas" pitchFamily="34" charset="0"/>
                <a:ea typeface="Consolas" pitchFamily="34" charset="-122"/>
                <a:cs typeface="Consolas" pitchFamily="34" charset="-120"/>
              </a:rPr>
              <a:t>ledcSetup</a:t>
            </a:r>
            <a:r>
              <a:rPr lang="en-US" sz="1900" dirty="0">
                <a:solidFill>
                  <a:schemeClr val="tx1"/>
                </a:solidFill>
              </a:rPr>
              <a:t>) dan referensi palsu</a:t>
            </a:r>
            <a:endParaRPr lang="en-US" sz="1900" dirty="0"/>
          </a:p>
          <a:p>
            <a:pPr marL="279400" indent="-279400">
              <a:spcAft>
                <a:spcPts val="1000"/>
              </a:spcAft>
              <a:buSzPct val="100000"/>
              <a:buChar char="•"/>
            </a:pPr>
            <a:r>
              <a:rPr lang="en-US" sz="1900" dirty="0">
                <a:solidFill>
                  <a:schemeClr val="tx1"/>
                </a:solidFill>
              </a:rPr>
              <a:t>Sebut sumber kode dari luar beserta lisensinya</a:t>
            </a:r>
            <a:endParaRPr lang="en-US" sz="1900" dirty="0"/>
          </a:p>
          <a:p>
            <a:pPr marL="279400" indent="-279400">
              <a:spcAft>
                <a:spcPts val="1000"/>
              </a:spcAft>
              <a:buSzPct val="100000"/>
              <a:buChar char="•"/>
            </a:pPr>
            <a:r>
              <a:rPr lang="en-US" sz="1900" dirty="0">
                <a:solidFill>
                  <a:schemeClr val="tx1"/>
                </a:solidFill>
              </a:rPr>
              <a:t>Dilarang: joki, menyalin proyek lain, memalsukan data atau video</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Kuis Cepat</a:t>
            </a:r>
            <a:endParaRPr lang="en-US" sz="3000" dirty="0"/>
          </a:p>
        </p:txBody>
      </p:sp>
      <p:sp>
        <p:nvSpPr>
          <p:cNvPr id="3" name="pad"/>
          <p:cNvSpPr/>
          <p:nvPr/>
        </p:nvSpPr>
        <p:spPr>
          <a:xfrm>
            <a:off x="548640" y="1371600"/>
            <a:ext cx="685800" cy="685800"/>
          </a:xfrm>
          <a:prstGeom prst="ellipse">
            <a:avLst/>
          </a:prstGeom>
          <a:solidFill>
            <a:schemeClr val="bg1"/>
          </a:solidFill>
          <a:ln w="28575">
            <a:solidFill>
              <a:schemeClr val="accent2"/>
            </a:solidFill>
            <a:prstDash val="solid"/>
          </a:ln>
        </p:spPr>
      </p:sp>
      <p:pic>
        <p:nvPicPr>
          <p:cNvPr id="4" name="ikon-question" descr="preencoded.png">    </p:cNvPr>
          <p:cNvPicPr>
            <a:picLocks noChangeAspect="1"/>
          </p:cNvPicPr>
          <p:nvPr/>
        </p:nvPicPr>
        <p:blipFill>
          <a:blip r:embed="rId1"/>
          <a:stretch>
            <a:fillRect/>
          </a:stretch>
        </p:blipFill>
        <p:spPr>
          <a:xfrm>
            <a:off x="720090" y="1543050"/>
            <a:ext cx="342900" cy="342900"/>
          </a:xfrm>
          <a:prstGeom prst="rect">
            <a:avLst/>
          </a:prstGeom>
        </p:spPr>
      </p:pic>
      <p:sp>
        <p:nvSpPr>
          <p:cNvPr id="5" name="Text 2"/>
          <p:cNvSpPr txBox="1"/>
          <p:nvPr/>
        </p:nvSpPr>
        <p:spPr>
          <a:xfrm>
            <a:off x="1463040" y="1325880"/>
            <a:ext cx="10180015" cy="914400"/>
          </a:xfrm>
          <a:prstGeom prst="rect">
            <a:avLst/>
          </a:prstGeom>
          <a:noFill/>
          <a:ln/>
        </p:spPr>
        <p:txBody>
          <a:bodyPr wrap="square" lIns="0" tIns="0" rIns="0" bIns="0" rtlCol="0" anchor="ctr"/>
          <a:lstStyle/>
          <a:p>
            <a:pPr indent="0" marL="0">
              <a:buNone/>
            </a:pPr>
            <a:r>
              <a:rPr lang="en-US" sz="2200" b="1" dirty="0">
                <a:solidFill>
                  <a:schemeClr val="tx1"/>
                </a:solidFill>
              </a:rPr>
              <a:t>Lima menit sebelum giliran, alatmu mati dan belum pulih. Langkah paling tepat?</a:t>
            </a:r>
            <a:endParaRPr lang="en-US" sz="2200" dirty="0"/>
          </a:p>
        </p:txBody>
      </p:sp>
      <p:sp>
        <p:nvSpPr>
          <p:cNvPr id="6" name="kartu"/>
          <p:cNvSpPr/>
          <p:nvPr/>
        </p:nvSpPr>
        <p:spPr>
          <a:xfrm>
            <a:off x="548640" y="2514600"/>
            <a:ext cx="5410048" cy="1143000"/>
          </a:xfrm>
          <a:prstGeom prst="roundRect">
            <a:avLst>
              <a:gd name="adj" fmla="val 9600"/>
            </a:avLst>
          </a:prstGeom>
          <a:solidFill>
            <a:schemeClr val="bg2"/>
          </a:solidFill>
          <a:ln w="9525">
            <a:solidFill>
              <a:schemeClr val="bg2"/>
            </a:solidFill>
            <a:prstDash val="solid"/>
          </a:ln>
        </p:spPr>
      </p:sp>
      <p:sp>
        <p:nvSpPr>
          <p:cNvPr id="7" name="Text 4"/>
          <p:cNvSpPr txBox="1"/>
          <p:nvPr/>
        </p:nvSpPr>
        <p:spPr>
          <a:xfrm>
            <a:off x="731520" y="2514600"/>
            <a:ext cx="548640" cy="1143000"/>
          </a:xfrm>
          <a:prstGeom prst="rect">
            <a:avLst/>
          </a:prstGeom>
          <a:noFill/>
          <a:ln/>
        </p:spPr>
        <p:txBody>
          <a:bodyPr wrap="square" lIns="0" tIns="0" rIns="0" bIns="0" rtlCol="0" anchor="ctr"/>
          <a:lstStyle/>
          <a:p>
            <a:pPr indent="0" marL="0">
              <a:buNone/>
            </a:pPr>
            <a:r>
              <a:rPr lang="en-US" sz="2600" b="1" dirty="0">
                <a:solidFill>
                  <a:schemeClr val="accent2"/>
                </a:solidFill>
              </a:rPr>
              <a:t>A</a:t>
            </a:r>
            <a:endParaRPr lang="en-US" sz="2600" dirty="0"/>
          </a:p>
        </p:txBody>
      </p:sp>
      <p:sp>
        <p:nvSpPr>
          <p:cNvPr id="8" name="Text 5"/>
          <p:cNvSpPr txBox="1"/>
          <p:nvPr/>
        </p:nvSpPr>
        <p:spPr>
          <a:xfrm>
            <a:off x="1325880" y="2514600"/>
            <a:ext cx="4449928" cy="1143000"/>
          </a:xfrm>
          <a:prstGeom prst="rect">
            <a:avLst/>
          </a:prstGeom>
          <a:noFill/>
          <a:ln/>
        </p:spPr>
        <p:txBody>
          <a:bodyPr wrap="square" lIns="0" tIns="0" rIns="0" bIns="0" rtlCol="0" anchor="ctr"/>
          <a:lstStyle/>
          <a:p>
            <a:pPr indent="0" marL="0">
              <a:buNone/>
            </a:pPr>
            <a:r>
              <a:rPr lang="en-US" sz="1800" dirty="0">
                <a:solidFill>
                  <a:schemeClr val="tx1"/>
                </a:solidFill>
              </a:rPr>
              <a:t>Merakit ulang semua kabel di depan penguji</a:t>
            </a:r>
            <a:endParaRPr lang="en-US" sz="1800" dirty="0"/>
          </a:p>
        </p:txBody>
      </p:sp>
      <p:sp>
        <p:nvSpPr>
          <p:cNvPr id="9" name="kartu"/>
          <p:cNvSpPr/>
          <p:nvPr/>
        </p:nvSpPr>
        <p:spPr>
          <a:xfrm>
            <a:off x="6233008" y="2514600"/>
            <a:ext cx="5410048" cy="1143000"/>
          </a:xfrm>
          <a:prstGeom prst="roundRect">
            <a:avLst>
              <a:gd name="adj" fmla="val 9600"/>
            </a:avLst>
          </a:prstGeom>
          <a:solidFill>
            <a:schemeClr val="bg2"/>
          </a:solidFill>
          <a:ln w="9525">
            <a:solidFill>
              <a:schemeClr val="bg2"/>
            </a:solidFill>
            <a:prstDash val="solid"/>
          </a:ln>
        </p:spPr>
      </p:sp>
      <p:sp>
        <p:nvSpPr>
          <p:cNvPr id="10" name="Text 7"/>
          <p:cNvSpPr txBox="1"/>
          <p:nvPr/>
        </p:nvSpPr>
        <p:spPr>
          <a:xfrm>
            <a:off x="6415888" y="2514600"/>
            <a:ext cx="548640" cy="1143000"/>
          </a:xfrm>
          <a:prstGeom prst="rect">
            <a:avLst/>
          </a:prstGeom>
          <a:noFill/>
          <a:ln/>
        </p:spPr>
        <p:txBody>
          <a:bodyPr wrap="square" lIns="0" tIns="0" rIns="0" bIns="0" rtlCol="0" anchor="ctr"/>
          <a:lstStyle/>
          <a:p>
            <a:pPr indent="0" marL="0">
              <a:buNone/>
            </a:pPr>
            <a:r>
              <a:rPr lang="en-US" sz="2600" b="1" dirty="0">
                <a:solidFill>
                  <a:schemeClr val="accent2"/>
                </a:solidFill>
              </a:rPr>
              <a:t>B</a:t>
            </a:r>
            <a:endParaRPr lang="en-US" sz="2600" dirty="0"/>
          </a:p>
        </p:txBody>
      </p:sp>
      <p:sp>
        <p:nvSpPr>
          <p:cNvPr id="11" name="Text 8"/>
          <p:cNvSpPr txBox="1"/>
          <p:nvPr/>
        </p:nvSpPr>
        <p:spPr>
          <a:xfrm>
            <a:off x="7010248" y="2514600"/>
            <a:ext cx="4449928" cy="1143000"/>
          </a:xfrm>
          <a:prstGeom prst="rect">
            <a:avLst/>
          </a:prstGeom>
          <a:noFill/>
          <a:ln/>
        </p:spPr>
        <p:txBody>
          <a:bodyPr wrap="square" lIns="0" tIns="0" rIns="0" bIns="0" rtlCol="0" anchor="ctr"/>
          <a:lstStyle/>
          <a:p>
            <a:pPr indent="0" marL="0">
              <a:buNone/>
            </a:pPr>
            <a:r>
              <a:rPr lang="en-US" sz="1800" dirty="0">
                <a:solidFill>
                  <a:schemeClr val="tx1"/>
                </a:solidFill>
              </a:rPr>
              <a:t>Beralih ke Rencana B: Wokwi dengan kode yang sama</a:t>
            </a:r>
            <a:endParaRPr lang="en-US" sz="1800" dirty="0"/>
          </a:p>
        </p:txBody>
      </p:sp>
      <p:sp>
        <p:nvSpPr>
          <p:cNvPr id="12" name="kartu"/>
          <p:cNvSpPr/>
          <p:nvPr/>
        </p:nvSpPr>
        <p:spPr>
          <a:xfrm>
            <a:off x="548640" y="3931920"/>
            <a:ext cx="5410048" cy="1143000"/>
          </a:xfrm>
          <a:prstGeom prst="roundRect">
            <a:avLst>
              <a:gd name="adj" fmla="val 9600"/>
            </a:avLst>
          </a:prstGeom>
          <a:solidFill>
            <a:schemeClr val="bg2"/>
          </a:solidFill>
          <a:ln w="9525">
            <a:solidFill>
              <a:schemeClr val="bg2"/>
            </a:solidFill>
            <a:prstDash val="solid"/>
          </a:ln>
        </p:spPr>
      </p:sp>
      <p:sp>
        <p:nvSpPr>
          <p:cNvPr id="13" name="Text 10"/>
          <p:cNvSpPr txBox="1"/>
          <p:nvPr/>
        </p:nvSpPr>
        <p:spPr>
          <a:xfrm>
            <a:off x="731520" y="3931920"/>
            <a:ext cx="548640" cy="1143000"/>
          </a:xfrm>
          <a:prstGeom prst="rect">
            <a:avLst/>
          </a:prstGeom>
          <a:noFill/>
          <a:ln/>
        </p:spPr>
        <p:txBody>
          <a:bodyPr wrap="square" lIns="0" tIns="0" rIns="0" bIns="0" rtlCol="0" anchor="ctr"/>
          <a:lstStyle/>
          <a:p>
            <a:pPr indent="0" marL="0">
              <a:buNone/>
            </a:pPr>
            <a:r>
              <a:rPr lang="en-US" sz="2600" b="1" dirty="0">
                <a:solidFill>
                  <a:schemeClr val="accent2"/>
                </a:solidFill>
              </a:rPr>
              <a:t>C</a:t>
            </a:r>
            <a:endParaRPr lang="en-US" sz="2600" dirty="0"/>
          </a:p>
        </p:txBody>
      </p:sp>
      <p:sp>
        <p:nvSpPr>
          <p:cNvPr id="14" name="Text 11"/>
          <p:cNvSpPr txBox="1"/>
          <p:nvPr/>
        </p:nvSpPr>
        <p:spPr>
          <a:xfrm>
            <a:off x="1325880" y="3931920"/>
            <a:ext cx="4449928" cy="1143000"/>
          </a:xfrm>
          <a:prstGeom prst="rect">
            <a:avLst/>
          </a:prstGeom>
          <a:noFill/>
          <a:ln/>
        </p:spPr>
        <p:txBody>
          <a:bodyPr wrap="square" lIns="0" tIns="0" rIns="0" bIns="0" rtlCol="0" anchor="ctr"/>
          <a:lstStyle/>
          <a:p>
            <a:pPr indent="0" marL="0">
              <a:buNone/>
            </a:pPr>
            <a:r>
              <a:rPr lang="en-US" sz="1800" dirty="0">
                <a:solidFill>
                  <a:schemeClr val="tx1"/>
                </a:solidFill>
              </a:rPr>
              <a:t>Meminta giliran diundur ke pekan depan</a:t>
            </a:r>
            <a:endParaRPr lang="en-US" sz="1800" dirty="0"/>
          </a:p>
        </p:txBody>
      </p:sp>
      <p:sp>
        <p:nvSpPr>
          <p:cNvPr id="15" name="kartu"/>
          <p:cNvSpPr/>
          <p:nvPr/>
        </p:nvSpPr>
        <p:spPr>
          <a:xfrm>
            <a:off x="6233008" y="3931920"/>
            <a:ext cx="5410048" cy="1143000"/>
          </a:xfrm>
          <a:prstGeom prst="roundRect">
            <a:avLst>
              <a:gd name="adj" fmla="val 9600"/>
            </a:avLst>
          </a:prstGeom>
          <a:solidFill>
            <a:schemeClr val="bg2"/>
          </a:solidFill>
          <a:ln w="9525">
            <a:solidFill>
              <a:schemeClr val="bg2"/>
            </a:solidFill>
            <a:prstDash val="solid"/>
          </a:ln>
        </p:spPr>
      </p:sp>
      <p:sp>
        <p:nvSpPr>
          <p:cNvPr id="16" name="Text 13"/>
          <p:cNvSpPr txBox="1"/>
          <p:nvPr/>
        </p:nvSpPr>
        <p:spPr>
          <a:xfrm>
            <a:off x="6415888" y="3931920"/>
            <a:ext cx="548640" cy="1143000"/>
          </a:xfrm>
          <a:prstGeom prst="rect">
            <a:avLst/>
          </a:prstGeom>
          <a:noFill/>
          <a:ln/>
        </p:spPr>
        <p:txBody>
          <a:bodyPr wrap="square" lIns="0" tIns="0" rIns="0" bIns="0" rtlCol="0" anchor="ctr"/>
          <a:lstStyle/>
          <a:p>
            <a:pPr indent="0" marL="0">
              <a:buNone/>
            </a:pPr>
            <a:r>
              <a:rPr lang="en-US" sz="2600" b="1" dirty="0">
                <a:solidFill>
                  <a:schemeClr val="accent2"/>
                </a:solidFill>
              </a:rPr>
              <a:t>D</a:t>
            </a:r>
            <a:endParaRPr lang="en-US" sz="2600" dirty="0"/>
          </a:p>
        </p:txBody>
      </p:sp>
      <p:sp>
        <p:nvSpPr>
          <p:cNvPr id="17" name="Text 14"/>
          <p:cNvSpPr txBox="1"/>
          <p:nvPr/>
        </p:nvSpPr>
        <p:spPr>
          <a:xfrm>
            <a:off x="7010248" y="3931920"/>
            <a:ext cx="4449928" cy="1143000"/>
          </a:xfrm>
          <a:prstGeom prst="rect">
            <a:avLst/>
          </a:prstGeom>
          <a:noFill/>
          <a:ln/>
        </p:spPr>
        <p:txBody>
          <a:bodyPr wrap="square" lIns="0" tIns="0" rIns="0" bIns="0" rtlCol="0" anchor="ctr"/>
          <a:lstStyle/>
          <a:p>
            <a:pPr indent="0" marL="0">
              <a:buNone/>
            </a:pPr>
            <a:r>
              <a:rPr lang="en-US" sz="1800" dirty="0">
                <a:solidFill>
                  <a:schemeClr val="tx1"/>
                </a:solidFill>
              </a:rPr>
              <a:t>Presentasi tanpa demo sama sekali</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Rangkuman</a:t>
            </a:r>
            <a:endParaRPr lang="en-US" sz="3200" dirty="0"/>
          </a:p>
        </p:txBody>
      </p:sp>
      <p:sp>
        <p:nvSpPr>
          <p:cNvPr id="3" name="pad"/>
          <p:cNvSpPr/>
          <p:nvPr/>
        </p:nvSpPr>
        <p:spPr>
          <a:xfrm>
            <a:off x="548640" y="1645920"/>
            <a:ext cx="457200" cy="457200"/>
          </a:xfrm>
          <a:prstGeom prst="ellipse">
            <a:avLst/>
          </a:prstGeom>
          <a:solidFill>
            <a:schemeClr val="tx2"/>
          </a:solidFill>
          <a:ln w="28575">
            <a:solidFill>
              <a:schemeClr val="accent2"/>
            </a:solidFill>
            <a:prstDash val="solid"/>
          </a:ln>
        </p:spPr>
      </p:sp>
      <p:pic>
        <p:nvPicPr>
          <p:cNvPr id="4" name="ikon-check" descr="preencoded.png">    </p:cNvPr>
          <p:cNvPicPr>
            <a:picLocks noChangeAspect="1"/>
          </p:cNvPicPr>
          <p:nvPr/>
        </p:nvPicPr>
        <p:blipFill>
          <a:blip r:embed="rId1"/>
          <a:stretch>
            <a:fillRect/>
          </a:stretch>
        </p:blipFill>
        <p:spPr>
          <a:xfrm>
            <a:off x="667512" y="1764792"/>
            <a:ext cx="219456" cy="219456"/>
          </a:xfrm>
          <a:prstGeom prst="rect">
            <a:avLst/>
          </a:prstGeom>
        </p:spPr>
      </p:pic>
      <p:sp>
        <p:nvSpPr>
          <p:cNvPr id="5" name="Text 2"/>
          <p:cNvSpPr txBox="1"/>
          <p:nvPr/>
        </p:nvSpPr>
        <p:spPr>
          <a:xfrm>
            <a:off x="1280160" y="1417320"/>
            <a:ext cx="10362895" cy="914400"/>
          </a:xfrm>
          <a:prstGeom prst="rect">
            <a:avLst/>
          </a:prstGeom>
          <a:noFill/>
          <a:ln/>
        </p:spPr>
        <p:txBody>
          <a:bodyPr wrap="square" lIns="0" tIns="0" rIns="0" bIns="0" rtlCol="0" anchor="ctr"/>
          <a:lstStyle/>
          <a:p>
            <a:pPr indent="0" marL="0">
              <a:buNone/>
            </a:pPr>
            <a:r>
              <a:rPr lang="en-US" sz="2000" dirty="0">
                <a:solidFill>
                  <a:schemeClr val="bg1"/>
                </a:solidFill>
              </a:rPr>
              <a:t>UAS = demo alat + presentasi + tanya jawab, ±30 menit per kelompok</a:t>
            </a:r>
            <a:endParaRPr lang="en-US" sz="2000" dirty="0"/>
          </a:p>
        </p:txBody>
      </p:sp>
      <p:sp>
        <p:nvSpPr>
          <p:cNvPr id="6" name="pad"/>
          <p:cNvSpPr/>
          <p:nvPr/>
        </p:nvSpPr>
        <p:spPr>
          <a:xfrm>
            <a:off x="548640" y="2560320"/>
            <a:ext cx="457200" cy="457200"/>
          </a:xfrm>
          <a:prstGeom prst="ellipse">
            <a:avLst/>
          </a:prstGeom>
          <a:solidFill>
            <a:schemeClr val="tx2"/>
          </a:solidFill>
          <a:ln w="28575">
            <a:solidFill>
              <a:schemeClr val="accent2"/>
            </a:solidFill>
            <a:prstDash val="solid"/>
          </a:ln>
        </p:spPr>
      </p:sp>
      <p:pic>
        <p:nvPicPr>
          <p:cNvPr id="7" name="ikon-check" descr="preencoded.png">    </p:cNvPr>
          <p:cNvPicPr>
            <a:picLocks noChangeAspect="1"/>
          </p:cNvPicPr>
          <p:nvPr/>
        </p:nvPicPr>
        <p:blipFill>
          <a:blip r:embed="rId2"/>
          <a:stretch>
            <a:fillRect/>
          </a:stretch>
        </p:blipFill>
        <p:spPr>
          <a:xfrm>
            <a:off x="667512" y="2679192"/>
            <a:ext cx="219456" cy="219456"/>
          </a:xfrm>
          <a:prstGeom prst="rect">
            <a:avLst/>
          </a:prstGeom>
        </p:spPr>
      </p:pic>
      <p:sp>
        <p:nvSpPr>
          <p:cNvPr id="8" name="Text 4"/>
          <p:cNvSpPr txBox="1"/>
          <p:nvPr/>
        </p:nvSpPr>
        <p:spPr>
          <a:xfrm>
            <a:off x="1280160" y="2331720"/>
            <a:ext cx="10362895" cy="914400"/>
          </a:xfrm>
          <a:prstGeom prst="rect">
            <a:avLst/>
          </a:prstGeom>
          <a:noFill/>
          <a:ln/>
        </p:spPr>
        <p:txBody>
          <a:bodyPr wrap="square" lIns="0" tIns="0" rIns="0" bIns="0" rtlCol="0" anchor="ctr"/>
          <a:lstStyle/>
          <a:p>
            <a:pPr indent="0" marL="0">
              <a:buNone/>
            </a:pPr>
            <a:r>
              <a:rPr lang="en-US" sz="2000" dirty="0">
                <a:solidFill>
                  <a:schemeClr val="bg1"/>
                </a:solidFill>
              </a:rPr>
              <a:t>Siapkan tiga lapis demo: </a:t>
            </a:r>
            <a:r>
              <a:rPr lang="en-US" sz="2000" b="1" dirty="0">
                <a:solidFill>
                  <a:schemeClr val="bg1"/>
                </a:solidFill>
              </a:rPr>
              <a:t>board asli → Wokwi → video</a:t>
            </a:r>
            <a:endParaRPr lang="en-US" sz="2000" dirty="0"/>
          </a:p>
        </p:txBody>
      </p:sp>
      <p:sp>
        <p:nvSpPr>
          <p:cNvPr id="9" name="pad"/>
          <p:cNvSpPr/>
          <p:nvPr/>
        </p:nvSpPr>
        <p:spPr>
          <a:xfrm>
            <a:off x="548640" y="3474720"/>
            <a:ext cx="457200" cy="457200"/>
          </a:xfrm>
          <a:prstGeom prst="ellipse">
            <a:avLst/>
          </a:prstGeom>
          <a:solidFill>
            <a:schemeClr val="tx2"/>
          </a:solidFill>
          <a:ln w="28575">
            <a:solidFill>
              <a:schemeClr val="accent2"/>
            </a:solidFill>
            <a:prstDash val="solid"/>
          </a:ln>
        </p:spPr>
      </p:sp>
      <p:pic>
        <p:nvPicPr>
          <p:cNvPr id="10" name="ikon-check" descr="preencoded.png">    </p:cNvPr>
          <p:cNvPicPr>
            <a:picLocks noChangeAspect="1"/>
          </p:cNvPicPr>
          <p:nvPr/>
        </p:nvPicPr>
        <p:blipFill>
          <a:blip r:embed="rId3"/>
          <a:stretch>
            <a:fillRect/>
          </a:stretch>
        </p:blipFill>
        <p:spPr>
          <a:xfrm>
            <a:off x="667512" y="3593592"/>
            <a:ext cx="219456" cy="219456"/>
          </a:xfrm>
          <a:prstGeom prst="rect">
            <a:avLst/>
          </a:prstGeom>
        </p:spPr>
      </p:pic>
      <p:sp>
        <p:nvSpPr>
          <p:cNvPr id="11" name="Text 6"/>
          <p:cNvSpPr txBox="1"/>
          <p:nvPr/>
        </p:nvSpPr>
        <p:spPr>
          <a:xfrm>
            <a:off x="1280160" y="3246120"/>
            <a:ext cx="10362895" cy="914400"/>
          </a:xfrm>
          <a:prstGeom prst="rect">
            <a:avLst/>
          </a:prstGeom>
          <a:noFill/>
          <a:ln/>
        </p:spPr>
        <p:txBody>
          <a:bodyPr wrap="square" lIns="0" tIns="0" rIns="0" bIns="0" rtlCol="0" anchor="ctr"/>
          <a:lstStyle/>
          <a:p>
            <a:pPr indent="0" marL="0">
              <a:buNone/>
            </a:pPr>
            <a:r>
              <a:rPr lang="en-US" sz="2000" dirty="0">
                <a:solidFill>
                  <a:schemeClr val="bg1"/>
                </a:solidFill>
              </a:rPr>
              <a:t>Enam kriteria berbobot; presentasi dinilai </a:t>
            </a:r>
            <a:r>
              <a:rPr lang="en-US" sz="2000" b="1" dirty="0">
                <a:solidFill>
                  <a:schemeClr val="bg1"/>
                </a:solidFill>
              </a:rPr>
              <a:t>per individu</a:t>
            </a:r>
            <a:endParaRPr lang="en-US" sz="2000" dirty="0"/>
          </a:p>
        </p:txBody>
      </p:sp>
      <p:sp>
        <p:nvSpPr>
          <p:cNvPr id="12" name="pad"/>
          <p:cNvSpPr/>
          <p:nvPr/>
        </p:nvSpPr>
        <p:spPr>
          <a:xfrm>
            <a:off x="548640" y="4389120"/>
            <a:ext cx="457200" cy="457200"/>
          </a:xfrm>
          <a:prstGeom prst="ellipse">
            <a:avLst/>
          </a:prstGeom>
          <a:solidFill>
            <a:schemeClr val="tx2"/>
          </a:solidFill>
          <a:ln w="28575">
            <a:solidFill>
              <a:schemeClr val="accent2"/>
            </a:solidFill>
            <a:prstDash val="solid"/>
          </a:ln>
        </p:spPr>
      </p:sp>
      <p:pic>
        <p:nvPicPr>
          <p:cNvPr id="13" name="ikon-check" descr="preencoded.png">    </p:cNvPr>
          <p:cNvPicPr>
            <a:picLocks noChangeAspect="1"/>
          </p:cNvPicPr>
          <p:nvPr/>
        </p:nvPicPr>
        <p:blipFill>
          <a:blip r:embed="rId4"/>
          <a:stretch>
            <a:fillRect/>
          </a:stretch>
        </p:blipFill>
        <p:spPr>
          <a:xfrm>
            <a:off x="667512" y="4507992"/>
            <a:ext cx="219456" cy="219456"/>
          </a:xfrm>
          <a:prstGeom prst="rect">
            <a:avLst/>
          </a:prstGeom>
        </p:spPr>
      </p:pic>
      <p:sp>
        <p:nvSpPr>
          <p:cNvPr id="14" name="Text 8"/>
          <p:cNvSpPr txBox="1"/>
          <p:nvPr/>
        </p:nvSpPr>
        <p:spPr>
          <a:xfrm>
            <a:off x="1280160" y="4160520"/>
            <a:ext cx="10362895" cy="914400"/>
          </a:xfrm>
          <a:prstGeom prst="rect">
            <a:avLst/>
          </a:prstGeom>
          <a:noFill/>
          <a:ln/>
        </p:spPr>
        <p:txBody>
          <a:bodyPr wrap="square" lIns="0" tIns="0" rIns="0" bIns="0" rtlCol="0" anchor="ctr"/>
          <a:lstStyle/>
          <a:p>
            <a:pPr indent="0" marL="0">
              <a:buNone/>
            </a:pPr>
            <a:r>
              <a:rPr lang="en-US" sz="2000" dirty="0">
                <a:solidFill>
                  <a:schemeClr val="bg1"/>
                </a:solidFill>
              </a:rPr>
              <a:t>Kumpulkan repositori, laporan, video, dan slide paling lambat </a:t>
            </a:r>
            <a:r>
              <a:rPr lang="en-US" sz="2000" b="1" dirty="0">
                <a:solidFill>
                  <a:schemeClr val="bg1"/>
                </a:solidFill>
              </a:rPr>
              <a:t>H-1</a:t>
            </a:r>
            <a:endParaRPr lang="en-US" sz="2000" dirty="0"/>
          </a:p>
        </p:txBody>
      </p:sp>
      <p:sp>
        <p:nvSpPr>
          <p:cNvPr id="15" name="pad"/>
          <p:cNvSpPr/>
          <p:nvPr/>
        </p:nvSpPr>
        <p:spPr>
          <a:xfrm>
            <a:off x="548640" y="5303520"/>
            <a:ext cx="457200" cy="457200"/>
          </a:xfrm>
          <a:prstGeom prst="ellipse">
            <a:avLst/>
          </a:prstGeom>
          <a:solidFill>
            <a:schemeClr val="tx2"/>
          </a:solidFill>
          <a:ln w="28575">
            <a:solidFill>
              <a:schemeClr val="accent2"/>
            </a:solidFill>
            <a:prstDash val="solid"/>
          </a:ln>
        </p:spPr>
      </p:sp>
      <p:pic>
        <p:nvPicPr>
          <p:cNvPr id="16" name="ikon-check" descr="preencoded.png">    </p:cNvPr>
          <p:cNvPicPr>
            <a:picLocks noChangeAspect="1"/>
          </p:cNvPicPr>
          <p:nvPr/>
        </p:nvPicPr>
        <p:blipFill>
          <a:blip r:embed="rId5"/>
          <a:stretch>
            <a:fillRect/>
          </a:stretch>
        </p:blipFill>
        <p:spPr>
          <a:xfrm>
            <a:off x="667512" y="5422392"/>
            <a:ext cx="219456" cy="219456"/>
          </a:xfrm>
          <a:prstGeom prst="rect">
            <a:avLst/>
          </a:prstGeom>
        </p:spPr>
      </p:pic>
      <p:sp>
        <p:nvSpPr>
          <p:cNvPr id="17" name="Text 10"/>
          <p:cNvSpPr txBox="1"/>
          <p:nvPr/>
        </p:nvSpPr>
        <p:spPr>
          <a:xfrm>
            <a:off x="1280160" y="5074920"/>
            <a:ext cx="10362895" cy="914400"/>
          </a:xfrm>
          <a:prstGeom prst="rect">
            <a:avLst/>
          </a:prstGeom>
          <a:noFill/>
          <a:ln/>
        </p:spPr>
        <p:txBody>
          <a:bodyPr wrap="square" lIns="0" tIns="0" rIns="0" bIns="0" rtlCol="0" anchor="ctr"/>
          <a:lstStyle/>
          <a:p>
            <a:pPr indent="0" marL="0">
              <a:buNone/>
            </a:pPr>
            <a:r>
              <a:rPr lang="en-US" sz="2000" dirty="0">
                <a:solidFill>
                  <a:schemeClr val="bg1"/>
                </a:solidFill>
              </a:rPr>
              <a:t>AI boleh dipakai, asalkan </a:t>
            </a:r>
            <a:r>
              <a:rPr lang="en-US" sz="2000" b="1" dirty="0">
                <a:solidFill>
                  <a:schemeClr val="bg1"/>
                </a:solidFill>
              </a:rPr>
              <a:t>dicantumkan dan dipahami</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F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Penutup Semester</a:t>
            </a:r>
            <a:endParaRPr lang="en-US" sz="3200" dirty="0"/>
          </a:p>
        </p:txBody>
      </p:sp>
      <p:sp>
        <p:nvSpPr>
          <p:cNvPr id="3" name="kartu"/>
          <p:cNvSpPr/>
          <p:nvPr/>
        </p:nvSpPr>
        <p:spPr>
          <a:xfrm>
            <a:off x="548640" y="1508760"/>
            <a:ext cx="3484778" cy="4389120"/>
          </a:xfrm>
          <a:prstGeom prst="roundRect">
            <a:avLst>
              <a:gd name="adj" fmla="val 3149"/>
            </a:avLst>
          </a:prstGeom>
          <a:solidFill>
            <a:srgbClr val="17503B"/>
          </a:solidFill>
          <a:ln w="12700">
            <a:solidFill>
              <a:srgbClr val="17503B"/>
            </a:solidFill>
            <a:prstDash val="solid"/>
          </a:ln>
        </p:spPr>
      </p:sp>
      <p:sp>
        <p:nvSpPr>
          <p:cNvPr id="4" name="pad"/>
          <p:cNvSpPr/>
          <p:nvPr/>
        </p:nvSpPr>
        <p:spPr>
          <a:xfrm>
            <a:off x="822960" y="1783080"/>
            <a:ext cx="640080" cy="640080"/>
          </a:xfrm>
          <a:prstGeom prst="ellipse">
            <a:avLst/>
          </a:prstGeom>
          <a:solidFill>
            <a:srgbClr val="FFFFFF"/>
          </a:solidFill>
          <a:ln w="28575">
            <a:solidFill>
              <a:schemeClr val="accent2"/>
            </a:solidFill>
            <a:prstDash val="solid"/>
          </a:ln>
        </p:spPr>
      </p:sp>
      <p:pic>
        <p:nvPicPr>
          <p:cNvPr id="5" name="ikon-graduation" descr="preencoded.png">    </p:cNvPr>
          <p:cNvPicPr>
            <a:picLocks noChangeAspect="1"/>
          </p:cNvPicPr>
          <p:nvPr/>
        </p:nvPicPr>
        <p:blipFill>
          <a:blip r:embed="rId1"/>
          <a:stretch>
            <a:fillRect/>
          </a:stretch>
        </p:blipFill>
        <p:spPr>
          <a:xfrm>
            <a:off x="982980" y="1943100"/>
            <a:ext cx="320040" cy="320040"/>
          </a:xfrm>
          <a:prstGeom prst="rect">
            <a:avLst/>
          </a:prstGeom>
        </p:spPr>
      </p:pic>
      <p:sp>
        <p:nvSpPr>
          <p:cNvPr id="6" name="Text 3"/>
          <p:cNvSpPr txBox="1"/>
          <p:nvPr/>
        </p:nvSpPr>
        <p:spPr>
          <a:xfrm>
            <a:off x="822960" y="2560320"/>
            <a:ext cx="2936138" cy="457200"/>
          </a:xfrm>
          <a:prstGeom prst="rect">
            <a:avLst/>
          </a:prstGeom>
          <a:noFill/>
          <a:ln/>
        </p:spPr>
        <p:txBody>
          <a:bodyPr wrap="square" lIns="0" tIns="0" rIns="0" bIns="0" rtlCol="0" anchor="ctr"/>
          <a:lstStyle/>
          <a:p>
            <a:pPr indent="0" marL="0">
              <a:buNone/>
            </a:pPr>
            <a:r>
              <a:rPr lang="en-US" sz="2100" b="1" dirty="0">
                <a:solidFill>
                  <a:schemeClr val="bg1"/>
                </a:solidFill>
              </a:rPr>
              <a:t>Sudah Kamu Kuasai</a:t>
            </a:r>
            <a:endParaRPr lang="en-US" sz="2100" dirty="0"/>
          </a:p>
        </p:txBody>
      </p:sp>
      <p:sp>
        <p:nvSpPr>
          <p:cNvPr id="7" name="daftar-poin"/>
          <p:cNvSpPr txBox="1"/>
          <p:nvPr/>
        </p:nvSpPr>
        <p:spPr>
          <a:xfrm>
            <a:off x="822960" y="3063240"/>
            <a:ext cx="2936138" cy="2651760"/>
          </a:xfrm>
          <a:prstGeom prst="rect">
            <a:avLst/>
          </a:prstGeom>
          <a:noFill/>
          <a:ln/>
        </p:spPr>
        <p:txBody>
          <a:bodyPr wrap="square" lIns="25400" tIns="25400" rIns="50800" bIns="25400" rtlCol="0" anchor="t"/>
          <a:lstStyle/>
          <a:p>
            <a:pPr marL="279400" indent="-279400">
              <a:spcAft>
                <a:spcPts val="1000"/>
              </a:spcAft>
              <a:buSzPct val="100000"/>
              <a:buChar char="•"/>
            </a:pPr>
            <a:r>
              <a:rPr lang="en-US" sz="1600" dirty="0">
                <a:solidFill>
                  <a:schemeClr val="bg1"/>
                </a:solidFill>
              </a:rPr>
              <a:t>GPIO, waktu, ADC, PWM, komunikasi serial</a:t>
            </a:r>
            <a:endParaRPr lang="en-US" sz="1600" dirty="0"/>
          </a:p>
          <a:p>
            <a:pPr marL="279400" indent="-279400">
              <a:spcAft>
                <a:spcPts val="1000"/>
              </a:spcAft>
              <a:buSzPct val="100000"/>
              <a:buChar char="•"/>
            </a:pPr>
            <a:r>
              <a:rPr lang="en-US" sz="1600" dirty="0">
                <a:solidFill>
                  <a:schemeClr val="bg1"/>
                </a:solidFill>
              </a:rPr>
              <a:t>FSM, FreeRTOS, IoT, hemat daya</a:t>
            </a:r>
            <a:endParaRPr lang="en-US" sz="1600" dirty="0"/>
          </a:p>
        </p:txBody>
      </p:sp>
      <p:sp>
        <p:nvSpPr>
          <p:cNvPr id="8" name="kartu"/>
          <p:cNvSpPr/>
          <p:nvPr/>
        </p:nvSpPr>
        <p:spPr>
          <a:xfrm>
            <a:off x="4353458" y="1508760"/>
            <a:ext cx="3484778" cy="4389120"/>
          </a:xfrm>
          <a:prstGeom prst="roundRect">
            <a:avLst>
              <a:gd name="adj" fmla="val 3149"/>
            </a:avLst>
          </a:prstGeom>
          <a:solidFill>
            <a:srgbClr val="17503B"/>
          </a:solidFill>
          <a:ln w="12700">
            <a:solidFill>
              <a:srgbClr val="17503B"/>
            </a:solidFill>
            <a:prstDash val="solid"/>
          </a:ln>
        </p:spPr>
      </p:sp>
      <p:sp>
        <p:nvSpPr>
          <p:cNvPr id="9" name="pad"/>
          <p:cNvSpPr/>
          <p:nvPr/>
        </p:nvSpPr>
        <p:spPr>
          <a:xfrm>
            <a:off x="4627778" y="1783080"/>
            <a:ext cx="640080" cy="640080"/>
          </a:xfrm>
          <a:prstGeom prst="ellipse">
            <a:avLst/>
          </a:prstGeom>
          <a:solidFill>
            <a:srgbClr val="FFFFFF"/>
          </a:solidFill>
          <a:ln w="28575">
            <a:solidFill>
              <a:schemeClr val="accent2"/>
            </a:solidFill>
            <a:prstDash val="solid"/>
          </a:ln>
        </p:spPr>
      </p:sp>
      <p:pic>
        <p:nvPicPr>
          <p:cNvPr id="10" name="ikon-route" descr="preencoded.png">    </p:cNvPr>
          <p:cNvPicPr>
            <a:picLocks noChangeAspect="1"/>
          </p:cNvPicPr>
          <p:nvPr/>
        </p:nvPicPr>
        <p:blipFill>
          <a:blip r:embed="rId2"/>
          <a:stretch>
            <a:fillRect/>
          </a:stretch>
        </p:blipFill>
        <p:spPr>
          <a:xfrm>
            <a:off x="4787798" y="1943100"/>
            <a:ext cx="320040" cy="320040"/>
          </a:xfrm>
          <a:prstGeom prst="rect">
            <a:avLst/>
          </a:prstGeom>
        </p:spPr>
      </p:pic>
      <p:sp>
        <p:nvSpPr>
          <p:cNvPr id="11" name="Text 7"/>
          <p:cNvSpPr txBox="1"/>
          <p:nvPr/>
        </p:nvSpPr>
        <p:spPr>
          <a:xfrm>
            <a:off x="4627778" y="2560320"/>
            <a:ext cx="2936138" cy="457200"/>
          </a:xfrm>
          <a:prstGeom prst="rect">
            <a:avLst/>
          </a:prstGeom>
          <a:noFill/>
          <a:ln/>
        </p:spPr>
        <p:txBody>
          <a:bodyPr wrap="square" lIns="0" tIns="0" rIns="0" bIns="0" rtlCol="0" anchor="ctr"/>
          <a:lstStyle/>
          <a:p>
            <a:pPr indent="0" marL="0">
              <a:buNone/>
            </a:pPr>
            <a:r>
              <a:rPr lang="en-US" sz="2100" b="1" dirty="0">
                <a:solidFill>
                  <a:schemeClr val="bg1"/>
                </a:solidFill>
              </a:rPr>
              <a:t>Langkah Berikutnya</a:t>
            </a:r>
            <a:endParaRPr lang="en-US" sz="2100" dirty="0"/>
          </a:p>
        </p:txBody>
      </p:sp>
      <p:sp>
        <p:nvSpPr>
          <p:cNvPr id="12" name="daftar-poin"/>
          <p:cNvSpPr txBox="1"/>
          <p:nvPr/>
        </p:nvSpPr>
        <p:spPr>
          <a:xfrm>
            <a:off x="4627778" y="3063240"/>
            <a:ext cx="2936138" cy="2651760"/>
          </a:xfrm>
          <a:prstGeom prst="rect">
            <a:avLst/>
          </a:prstGeom>
          <a:noFill/>
          <a:ln/>
        </p:spPr>
        <p:txBody>
          <a:bodyPr wrap="square" lIns="25400" tIns="25400" rIns="50800" bIns="25400" rtlCol="0" anchor="t"/>
          <a:lstStyle/>
          <a:p>
            <a:pPr marL="279400" indent="-279400">
              <a:spcAft>
                <a:spcPts val="1000"/>
              </a:spcAft>
              <a:buSzPct val="100000"/>
              <a:buChar char="•"/>
            </a:pPr>
            <a:r>
              <a:rPr lang="en-US" sz="1600" dirty="0">
                <a:solidFill>
                  <a:schemeClr val="bg1"/>
                </a:solidFill>
              </a:rPr>
              <a:t>Rapikan portofolio di GitHub</a:t>
            </a:r>
            <a:endParaRPr lang="en-US" sz="1600" dirty="0"/>
          </a:p>
          <a:p>
            <a:pPr marL="279400" indent="-279400">
              <a:spcAft>
                <a:spcPts val="1000"/>
              </a:spcAft>
              <a:buSzPct val="100000"/>
              <a:buChar char="•"/>
            </a:pPr>
            <a:r>
              <a:rPr lang="en-US" sz="1600" dirty="0">
                <a:solidFill>
                  <a:schemeClr val="bg1"/>
                </a:solidFill>
              </a:rPr>
              <a:t>Pelajari ESP-IDF dan desain PCB</a:t>
            </a:r>
            <a:endParaRPr lang="en-US" sz="1600" dirty="0"/>
          </a:p>
        </p:txBody>
      </p:sp>
      <p:sp>
        <p:nvSpPr>
          <p:cNvPr id="13" name="kartu"/>
          <p:cNvSpPr/>
          <p:nvPr/>
        </p:nvSpPr>
        <p:spPr>
          <a:xfrm>
            <a:off x="8158277" y="1508760"/>
            <a:ext cx="3484778" cy="4389120"/>
          </a:xfrm>
          <a:prstGeom prst="roundRect">
            <a:avLst>
              <a:gd name="adj" fmla="val 3149"/>
            </a:avLst>
          </a:prstGeom>
          <a:solidFill>
            <a:srgbClr val="17503B"/>
          </a:solidFill>
          <a:ln w="12700">
            <a:solidFill>
              <a:srgbClr val="17503B"/>
            </a:solidFill>
            <a:prstDash val="solid"/>
          </a:ln>
        </p:spPr>
      </p:sp>
      <p:sp>
        <p:nvSpPr>
          <p:cNvPr id="14" name="pad"/>
          <p:cNvSpPr/>
          <p:nvPr/>
        </p:nvSpPr>
        <p:spPr>
          <a:xfrm>
            <a:off x="8432597" y="1783080"/>
            <a:ext cx="640080" cy="640080"/>
          </a:xfrm>
          <a:prstGeom prst="ellipse">
            <a:avLst/>
          </a:prstGeom>
          <a:solidFill>
            <a:srgbClr val="FFFFFF"/>
          </a:solidFill>
          <a:ln w="28575">
            <a:solidFill>
              <a:schemeClr val="accent2"/>
            </a:solidFill>
            <a:prstDash val="solid"/>
          </a:ln>
        </p:spPr>
      </p:sp>
      <p:pic>
        <p:nvPicPr>
          <p:cNvPr id="15" name="ikon-heart" descr="preencoded.png">    </p:cNvPr>
          <p:cNvPicPr>
            <a:picLocks noChangeAspect="1"/>
          </p:cNvPicPr>
          <p:nvPr/>
        </p:nvPicPr>
        <p:blipFill>
          <a:blip r:embed="rId3"/>
          <a:stretch>
            <a:fillRect/>
          </a:stretch>
        </p:blipFill>
        <p:spPr>
          <a:xfrm>
            <a:off x="8592617" y="1943100"/>
            <a:ext cx="320040" cy="320040"/>
          </a:xfrm>
          <a:prstGeom prst="rect">
            <a:avLst/>
          </a:prstGeom>
        </p:spPr>
      </p:pic>
      <p:sp>
        <p:nvSpPr>
          <p:cNvPr id="16" name="Text 11"/>
          <p:cNvSpPr txBox="1"/>
          <p:nvPr/>
        </p:nvSpPr>
        <p:spPr>
          <a:xfrm>
            <a:off x="8432597" y="2560320"/>
            <a:ext cx="2936138" cy="457200"/>
          </a:xfrm>
          <a:prstGeom prst="rect">
            <a:avLst/>
          </a:prstGeom>
          <a:noFill/>
          <a:ln/>
        </p:spPr>
        <p:txBody>
          <a:bodyPr wrap="square" lIns="0" tIns="0" rIns="0" bIns="0" rtlCol="0" anchor="ctr"/>
          <a:lstStyle/>
          <a:p>
            <a:pPr indent="0" marL="0">
              <a:buNone/>
            </a:pPr>
            <a:r>
              <a:rPr lang="en-US" sz="2100" b="1" dirty="0">
                <a:solidFill>
                  <a:schemeClr val="bg1"/>
                </a:solidFill>
              </a:rPr>
              <a:t>Terima Kasih</a:t>
            </a:r>
            <a:endParaRPr lang="en-US" sz="2100" dirty="0"/>
          </a:p>
        </p:txBody>
      </p:sp>
      <p:sp>
        <p:nvSpPr>
          <p:cNvPr id="17" name="daftar-poin"/>
          <p:cNvSpPr txBox="1"/>
          <p:nvPr/>
        </p:nvSpPr>
        <p:spPr>
          <a:xfrm>
            <a:off x="8432597" y="3063240"/>
            <a:ext cx="2936138" cy="2651760"/>
          </a:xfrm>
          <a:prstGeom prst="rect">
            <a:avLst/>
          </a:prstGeom>
          <a:noFill/>
          <a:ln/>
        </p:spPr>
        <p:txBody>
          <a:bodyPr wrap="square" lIns="25400" tIns="25400" rIns="50800" bIns="25400" rtlCol="0" anchor="t"/>
          <a:lstStyle/>
          <a:p>
            <a:pPr marL="279400" indent="-279400">
              <a:spcAft>
                <a:spcPts val="1000"/>
              </a:spcAft>
              <a:buSzPct val="100000"/>
              <a:buChar char="•"/>
            </a:pPr>
            <a:r>
              <a:rPr lang="en-US" sz="1600" dirty="0">
                <a:solidFill>
                  <a:schemeClr val="bg1"/>
                </a:solidFill>
              </a:rPr>
              <a:t>Isi kuesioner evaluasi perkuliahan</a:t>
            </a:r>
            <a:endParaRPr lang="en-US" sz="1600" dirty="0"/>
          </a:p>
          <a:p>
            <a:pPr marL="279400" indent="-279400">
              <a:spcAft>
                <a:spcPts val="1000"/>
              </a:spcAft>
              <a:buSzPct val="100000"/>
              <a:buChar char="•"/>
            </a:pPr>
            <a:r>
              <a:rPr lang="en-US" sz="1600" dirty="0">
                <a:solidFill>
                  <a:schemeClr val="bg1"/>
                </a:solidFill>
              </a:rPr>
              <a:t>Laporkan salah ketik lewat issue GitHub</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FAF"/>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istem Tertanam PCB">
  <a:themeElements>
    <a:clrScheme name="Sistem Tertanam PCB">
      <a:dk1>
        <a:srgbClr val="13261D"/>
      </a:dk1>
      <a:lt1>
        <a:srgbClr val="FFFFFF"/>
      </a:lt1>
      <a:dk2>
        <a:srgbClr val="0F3D2C"/>
      </a:dk2>
      <a:lt2>
        <a:srgbClr val="EEF5F1"/>
      </a:lt2>
      <a:accent1>
        <a:srgbClr val="1F6F50"/>
      </a:accent1>
      <a:accent2>
        <a:srgbClr val="C27C2C"/>
      </a:accent2>
      <a:accent3>
        <a:srgbClr val="1F6FD1"/>
      </a:accent3>
      <a:accent4>
        <a:srgbClr val="C0392B"/>
      </a:accent4>
      <a:accent5>
        <a:srgbClr val="5F6F67"/>
      </a:accent5>
      <a:accent6>
        <a:srgbClr val="D9A441"/>
      </a:accent6>
      <a:hlink>
        <a:srgbClr val="1F6FD1"/>
      </a:hlink>
      <a:folHlink>
        <a:srgbClr val="7B3FBF"/>
      </a:folHlink>
    </a:clrScheme>
    <a:fontScheme name="Sistem Tertanam PC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Sistem Tertanam (Embedded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16: UAS: Demo dan Presentasi Proyek Akhir</dc:title>
  <dc:subject>Sistem Tertanam — Pertemuan 16</dc:subject>
  <dc:creator>Anton Prafanto</dc:creator>
  <cp:lastModifiedBy>Anton Prafanto</cp:lastModifiedBy>
  <cp:revision>1</cp:revision>
  <dcterms:created xsi:type="dcterms:W3CDTF">2026-10-16T12:40:12Z</dcterms:created>
  <dcterms:modified xsi:type="dcterms:W3CDTF">2026-10-16T12:40:12Z</dcterms:modified>
</cp:coreProperties>
</file>