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9140877a-ab8a-8bb1-216c-510ea08e96c0}">
          <p14:sldIdLst>
            <p14:sldId id="256"/>
            <p14:sldId id="257"/>
            <p14:sldId id="258"/>
          </p14:sldIdLst>
        </p14:section>
        <p14:section name="Hemat Daya" id="{aa3f29f9-44a6-aae0-fd5c-75b25ba80a8e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Baterai" id="{15448285-f536-1c8d-ad33-ee5d0395c3a6}">
          <p14:sldIdLst>
            <p14:sldId id="266"/>
            <p14:sldId id="267"/>
            <p14:sldId id="268"/>
            <p14:sldId id="269"/>
          </p14:sldIdLst>
        </p14:section>
        <p14:section name="Keandalan" id="{39a3c510-c825-f527-64af-f3210abd9512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enutup" id="{3fd29bdd-d481-a1d2-188c-a943b82ee9a1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kalau kalian memasang sensor ketinggian air di sungai tanpa stopkontak, berapa lama baterainya harus bertahan? Lalu: apa yang terjadi kalau program alat itu macet saat tidak ada orang di sana?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setiap mahasiswa sudah melihat ESP32 di-reset otomatis oleh watchdog (Praktikum 4, bisa di Wokwi) dan memahami mengapa deep sleep = mulai dari setup().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1–3 tentang daya (±50 menit), bagian 4–5 tentang keandalan (±50 menit), lalu praktikum.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ponsel: layar padam = tidur ringan, tetapi pesan tetap masuk. Perangkat IoT di lapangan juga cukup bekerja beberapa detik lalu tidur.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Sumbu logaritmik: tiap garis 10x. Angka cip dari ESP32 Series Datasheet v5.3 Tabel 4-2: modem-sleep 20–68 mA, light sleep 0,8 mA, deep sleep 10 µA (ULP aktif 150 µA), hibernation 5 µA, power off 1 µA. Arus Wi-Fi dari datasheet WROOM-32E. Garis merah: arus diam regulator 1117 di board (LM1117 tipikal 5 mA). Light sleep melanjutkan program; deep sleep mulai dari setup().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satpam: rumah gelap, hanya satpam di pos jaga (domain RTC) yang terjaga dengan jam weker (timer RTC), bel pintu (RTC GPIO), dan buku saku (memori RTC 16 KB). Menurut dokumentasi ESP-IDF: yang tetap menyala hanya RTC controller, ULP, RTC FAST dan SLOW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setelah bangun, ESP32 melewati boot lagi (log ROM: rst:0x5 DEEPSLEEP_RESET), lalu setup(). loop() tidak pernah dijalankan pada program ini. Pertanyaan pancingan: di mana kita menaruh kode "kerja" kalau loop() tidak pernah jalan?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 asli juga punya variabelBiasa di SRAM yang selalu bernilai 1 setiap bangun, sebagai pembanding. Bootloader memuat ulang memori RTC pada setiap reset yang bukan bangun dari deep sleep. Catatan: QEMU tidak mendukung deep sleep (panic saat esp_deep_sleep_start), jadi praktikum ini sebaiknya di board asli.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EXT0/EXT1 hanya untuk RTC GPIO: 0, 2, 4, 12–15, 25–27, 32–39. Setelah bangun, tanyakan penyebabnya dengan esp_sleep_get_wakeup_cause(). Sumber bangun boleh lebih dari satu sekaligus, misalnya tombol + timer cadangan.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Dokumentasi ESP-IDF Sleep Modes: pull-up/pull-down EXT0 diatur dengan rtc_gpio_pullup_en()/rtc_gpio_pulldown_en() sebelum esp_deep_sleep_start(); setelah bangun pin berstatus RTC IO sehingga perlu rtc_gpio_deinit(). Mengapa menunggu tombol dilepas? Kalau tidur saat tombol masih ditekan, ESP32 langsung bangun lagi.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uang saku: sebulan sekali makan di restoran, tiap hari jajan kecil. Rata-rata harian = total dibagi jumlah hari.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Langkah: 120 mA × 3 s = 360 mA·s; 0,01 mA × 597 s = 5,97 mA·s; (360 + 5,97)/600 ≈ 0,61 mA; 2.000/0,61 ≈ 3.279 jam ≈ 137 hari. Pancingan: berapa kalau kirim tiap 30 menit? (≈ 0,21 mA, ≈ 397 hari). Pada cip ideal, tidur hanya ±1,6% muatan: persingkat fase aktif.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Lembar data TI LM1117 (SNOS412Q): quiescent current tipikal 5 mA, maks 10 mA; dropout 1,1 V pada 100 mA, jadi kurang cocok untuk satu sel Li-ion 3,7 V. Untuk produk baterai sungguhan pakai regulator berarus diam rendah. Ajak mahasiswa yang punya multimeter mengukur arus board saat bangun dan tidur.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Frekuensi CPU ESP32 dari PLL: 240, 160, 80 MHz; dari kristal 40 MHz: 40, 20, 10 MHz. Angka modem-sleep 80 MHz vs 240 MHz dari datasheet Tabel 4-2. Satu sambungan Wi-Fi untuk lima data lebih hemat daripada lima sambungan.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papan tulis (SRAM) vs buku catatan (flash): papan tulis cepat tetapi terhapus saat kelas usai; buku awet tetapi kertasnya bisa sobek kalau terlalu sering dihapus.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RTC_DATA_ATTR hanya bertahan saat deep sleep; reset lain (EN, ESP.restart(), watchdog) membuat bootloader memuat ulang nilai awal. NVS bertahan pada semua kejadian selama flash tidak dihapus penuh. Sebutkan juga RTC_NOINIT_ATTR sebagai pengetahuan tambahan.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NVS meratakan keausan: nilai baru ditulis di tempat kosong berikutnya, nilai lama ditandai terhapus. Tetapi menulis 10 kali per detik = 864.000 tulisan per hari. Praktikum memakai perintah Serial lihat / interval 250 / hapus / restart; hasilnya sudah diuji di QEMU: setelah restart, interval tetap 250 ms dan jumlah nyala bertambah.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dead man's switch masinis: tombol harus ditekan berkala, kalau tidak kereta mengerem otomatis. Watchdog tidak perlu tahu mengapa program macet; cukup tahu program berhenti melapor.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Arduino-ESP32 3.3: TWDT aktif sejak boot, 5 detik, panic → reboot; Interrupt Watchdog 300 ms. Hasil QEMU: setelah "macet", muncul "task_wdt: Task watchdog got triggered ... loopTask (CPU 1)", ESP32 reboot, lalu esp_reset_reason() = TASK_WDT dan penghitung NVS bertambah menjadi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esp_system.h: ESP_RST_EXT "not applicable for ESP32", sehingga tombol EN (CHIP_PU) biasanya terbaca POWERON. Brownout: penyebab umum kabel/port USB lemah saat Wi-Fi memancar (puncak ±379 mA); lembar data modul menyarankan catu ≥ 0,5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fail-safe: pompa default mati, interval default 500 ms. Watchdog bukan pengganti perbaikan bug: jangan sekadar memperpanjang batasnya.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Dokumentasi Wokwi: RTC hanya disimulasikan sebagian (pull-up/pull-down RTC), ULP tidak; watchdog disimulasikan. Jadi Praktikum 1–2 sebaiknya di board asli. Di Wokwi, uji NVS dengan perintah restart, jangan menghentikan simulasi.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C (0). Tombol EN adalah reset penuh; bootloader memuat ulang memori RTC dengan nilai awal. Nilai hanya bertahan bila bangun dari deep sleep. Soal tambahan: aktif 2 s @100 mA + tidur 58 s @0,05 mA → (200 + 2,9)/60 ≈ 3,4 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catatan jujur: board DevKit tidur pada beberapa mA, jadi ukur sendiri sebelum menjanjikan umur baterai di proyek 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Pertemuan 15 menggabungkan semua materi menjadi satu sistem; minta mahasiswa memikirkan apakah proyeknya bertenaga baterai dan butuh watchdog.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14 · Hemat Daya &amp; Keandalan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14 · Hemat Daya &amp; Keandalan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14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Hemat Daya dan Keandalan Sistem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Deep sleep, umur baterai, NVS, dan watchdog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batter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Membandingkan </a:t>
            </a:r>
            <a:r>
              <a:rPr lang="en-US" sz="2000" b="1" dirty="0">
                <a:solidFill>
                  <a:schemeClr val="tx1"/>
                </a:solidFill>
              </a:rPr>
              <a:t>mode daya</a:t>
            </a:r>
            <a:r>
              <a:rPr lang="en-US" sz="2000" dirty="0">
                <a:solidFill>
                  <a:schemeClr val="tx1"/>
                </a:solidFill>
              </a:rPr>
              <a:t> ESP32 beserta arusnya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mo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Membuat program </a:t>
            </a:r>
            <a:r>
              <a:rPr lang="en-US" sz="2000" b="1" dirty="0">
                <a:solidFill>
                  <a:schemeClr val="tx1"/>
                </a:solidFill>
              </a:rPr>
              <a:t>deep sleep</a:t>
            </a:r>
            <a:r>
              <a:rPr lang="en-US" sz="2000" dirty="0">
                <a:solidFill>
                  <a:schemeClr val="tx1"/>
                </a:solidFill>
              </a:rPr>
              <a:t> yang bangun oleh timer/tombol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tachomet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Menghitung </a:t>
            </a:r>
            <a:r>
              <a:rPr lang="en-US" sz="2000" b="1" dirty="0">
                <a:solidFill>
                  <a:schemeClr val="tx1"/>
                </a:solidFill>
              </a:rPr>
              <a:t>umur baterai</a:t>
            </a:r>
            <a:r>
              <a:rPr lang="en-US" sz="2000" dirty="0">
                <a:solidFill>
                  <a:schemeClr val="tx1"/>
                </a:solidFill>
              </a:rPr>
              <a:t> dari arus rata-rata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memor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Menyimpan pengaturan di </a:t>
            </a:r>
            <a:r>
              <a:rPr lang="en-US" sz="2000" b="1" dirty="0">
                <a:solidFill>
                  <a:schemeClr val="tx1"/>
                </a:solidFill>
              </a:rPr>
              <a:t>NVS</a:t>
            </a:r>
            <a:r>
              <a:rPr lang="en-US" sz="2000" dirty="0">
                <a:solidFill>
                  <a:schemeClr val="tx1"/>
                </a:solidFill>
              </a:rPr>
              <a:t> (Preferences) dengan aman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shiel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Memakai </a:t>
            </a:r>
            <a:r>
              <a:rPr lang="en-US" sz="2000" b="1" dirty="0">
                <a:solidFill>
                  <a:schemeClr val="tx1"/>
                </a:solidFill>
              </a:rPr>
              <a:t>watchdog</a:t>
            </a:r>
            <a:r>
              <a:rPr lang="en-US" sz="2000" dirty="0">
                <a:solidFill>
                  <a:schemeClr val="tx1"/>
                </a:solidFill>
              </a:rPr>
              <a:t> dan kebiasaan andal lainnya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Mengapa hemat daya dan mode daya ESP32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Deep sleep dan sumber bangun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Menghitung umur baterai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NVS: data yang tidak hilang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Watchdog dan pertahanan berlapis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Praktikum 1–4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Mode Daya dan Deep Sleep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Bekerja sebentar, tidur lama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Tangga Mode Daya ESP32</a:t>
            </a:r>
            <a:endParaRPr lang="en-US" sz="3000" dirty="0"/>
          </a:p>
        </p:txBody>
      </p:sp>
      <p:pic>
        <p:nvPicPr>
          <p:cNvPr id="3" name="gambar" descr="/home/claude/work/slides/img/p14/p14-tangga-mode-day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561" y="1280160"/>
            <a:ext cx="7884573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Dari Wi-Fi menerima (±112 mA) ke deep sleep (10 µA): arus turun lebih dari 10.000 kali.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Apa yang Tetap Hidup Saat Deep Sleep?</a:t>
            </a:r>
            <a:endParaRPr lang="en-US" sz="3000" dirty="0"/>
          </a:p>
        </p:txBody>
      </p:sp>
      <p:pic>
        <p:nvPicPr>
          <p:cNvPr id="3" name="gambar" descr="/home/claude/work/slides/img/p14/p14-yang-hidup-saat-deep-sl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450" y="1280160"/>
            <a:ext cx="872679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Bangun = Mulai Lagi dari Awal</a:t>
            </a:r>
            <a:endParaRPr lang="en-US" sz="3000" dirty="0"/>
          </a:p>
        </p:txBody>
      </p:sp>
      <p:pic>
        <p:nvPicPr>
          <p:cNvPr id="3" name="gambar" descr="/home/claude/work/slides/img/p14/p14-alur-deep-sl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869" y="1280160"/>
            <a:ext cx="10801957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1: Deep Sleep dengan Timer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891153"/>
          </a:xfrm>
          <a:prstGeom prst="roundRect">
            <a:avLst>
              <a:gd name="adj" fmla="val 2350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kode/01-deep-sleep-timer/src/main.cpp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324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RTC_DATA_ATTR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jumlahBoot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memori RTC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jumlahBoot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"Boot ke-%d\n"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jumlahBoot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kerja singkat ...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esp_sleep_enable_timer_wakeup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10ULL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esp_deep_sleep_start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tidak kembali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tidak pernah jalan</a:t>
            </a:r>
            <a:endParaRPr lang="en-US" sz="15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RTC_DATA_ATTR</a:t>
            </a:r>
            <a:r>
              <a:rPr lang="en-US" sz="1700" dirty="0">
                <a:solidFill>
                  <a:schemeClr val="tx1"/>
                </a:solidFill>
              </a:rPr>
              <a:t>: bertahan selama deep sleep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Satuan timer: </a:t>
            </a:r>
            <a:r>
              <a:rPr lang="en-US" sz="1700" b="1" dirty="0">
                <a:solidFill>
                  <a:schemeClr val="tx1"/>
                </a:solidFill>
              </a:rPr>
              <a:t>mikrodetik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Serial.flush()</a:t>
            </a:r>
            <a:r>
              <a:rPr lang="en-US" sz="1700" dirty="0">
                <a:solidFill>
                  <a:schemeClr val="tx1"/>
                </a:solidFill>
              </a:rPr>
              <a:t> sebelum tidur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Tombol EN → nilai RTC kembali ke awal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Sumber Bangun dari Deep Sleep</a:t>
            </a:r>
            <a:endParaRPr lang="en-US" sz="3000" dirty="0"/>
          </a:p>
        </p:txBody>
      </p:sp>
      <p:graphicFrame>
        <p:nvGraphicFramePr>
          <p:cNvPr id="10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Sumber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Fungsi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Catatan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Timer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esp_sleep_enable_timer_wakeup(us)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Satuan mikrodetik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EXT0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esp_sleep_enable_ext0_wakeup(pin, lvl)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Satu RTC GPIO, pull-up RTC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EXT1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esp_sleep_enable_ext1_wakeup_io(mask, mode)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ANY_HIGH atau ALL_LOW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Sentuh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touchSleepWakeUpEnable(pin, ambang)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kanal sentuh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ULP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esp_sleep_enable_ulp_wakeup()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Lanjutan, ±150 µA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2: Bangun dengan Tombol (EXT0)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2859278"/>
          </a:xfrm>
          <a:prstGeom prst="roundRect">
            <a:avLst>
              <a:gd name="adj" fmla="val 3198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kode/02-bangun-tombol/src/main.cpp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292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rtc_gpio_deinit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PIN_BANGUN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setelah bangun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PIN_BANGUN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INPUT_PULLUP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tunggu tombol dilepas (maks. 3 s) ...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esp_sleep_enable_timer_wakeup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60ULL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1000000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rtc_gpio_pullup_en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PIN_BANGUN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aktif saat tidur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rtc_gpio_pulldown_dis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PIN_BANGUN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esp_sleep_enable_ext0_wakeup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PIN_BANGUN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esp_deep_sleep_start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Hanya </a:t>
            </a:r>
            <a:r>
              <a:rPr lang="en-US" sz="1700" b="1" dirty="0">
                <a:solidFill>
                  <a:schemeClr val="tx1"/>
                </a:solidFill>
              </a:rPr>
              <a:t>RTC GPIO</a:t>
            </a:r>
            <a:r>
              <a:rPr lang="en-US" sz="1700" dirty="0">
                <a:solidFill>
                  <a:schemeClr val="tx1"/>
                </a:solidFill>
              </a:rPr>
              <a:t>; kursus memakai GPIO 33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Pull-up diatur dengan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rtc_gpio_pullup_en()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Paling andal: 10 kΩ eksternal ke 3V3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Tunggu tombol dilepas, </a:t>
            </a:r>
            <a:r>
              <a:rPr lang="en-US" sz="1700" b="1" dirty="0">
                <a:solidFill>
                  <a:schemeClr val="tx1"/>
                </a:solidFill>
              </a:rPr>
              <a:t>dengan batas waktu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Menghitung Umur Baterai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Rata-rata berbobot waktu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Arus Rata-Rata dan Umur Baterai</a:t>
            </a:r>
            <a:endParaRPr lang="en-US" sz="3000" dirty="0"/>
          </a:p>
        </p:txBody>
      </p:sp>
      <p:pic>
        <p:nvPicPr>
          <p:cNvPr id="3" name="gambar" descr="/home/claude/work/slides/img/p14/p14-grafik-arus-bater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1495"/>
            <a:ext cx="11094415" cy="42493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Catatan Jujur: Board DevKit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60020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war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600200"/>
            <a:ext cx="9265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Arus deep sleep </a:t>
            </a:r>
            <a:r>
              <a:rPr lang="en-US" sz="2400" b="1" dirty="0">
                <a:solidFill>
                  <a:schemeClr val="tx1"/>
                </a:solidFill>
              </a:rPr>
              <a:t>10 µA</a:t>
            </a:r>
            <a:r>
              <a:rPr lang="en-US" sz="2400" dirty="0">
                <a:solidFill>
                  <a:schemeClr val="tx1"/>
                </a:solidFill>
              </a:rPr>
              <a:t> milik cip, bukan board.</a:t>
            </a:r>
            <a:endParaRPr lang="en-US" sz="2400" dirty="0"/>
          </a:p>
        </p:txBody>
      </p:sp>
      <p:sp>
        <p:nvSpPr>
          <p:cNvPr id="7" name="daftar-poin"/>
          <p:cNvSpPr txBox="1"/>
          <p:nvPr/>
        </p:nvSpPr>
        <p:spPr>
          <a:xfrm>
            <a:off x="548640" y="3749040"/>
            <a:ext cx="11094415" cy="2423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Regulator keluarga 1117: arus diam tipikal </a:t>
            </a:r>
            <a:r>
              <a:rPr lang="en-US" sz="1900" b="1" dirty="0">
                <a:solidFill>
                  <a:schemeClr val="tx1"/>
                </a:solidFill>
              </a:rPr>
              <a:t>5 mA</a:t>
            </a:r>
            <a:r>
              <a:rPr lang="en-US" sz="1900" dirty="0">
                <a:solidFill>
                  <a:schemeClr val="tx1"/>
                </a:solidFill>
              </a:rPr>
              <a:t> (LM1117, TI)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LED daya dan cip USB-UART ikut menyerap arus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Board tidur ±5 mA → 2.000 mAh hanya ±15 hari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Ukur sendiri: multimeter seri, mulai rentang mA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Tips Menurunkan Konsumsi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52781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80213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wif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3929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8793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Matikan Wi-Fi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4513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WiFi.mode(WIFI_OFF)</a:t>
            </a:r>
            <a:r>
              <a:rPr lang="en-US" sz="1500" dirty="0">
                <a:solidFill>
                  <a:schemeClr val="tx1"/>
                </a:solidFill>
              </a:rPr>
              <a:t> saat tidak perlu.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6255868" y="152781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30188" y="180213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tachomet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93929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0188" y="248793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Turunkan CPU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94513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setCpuFrequencyMhz(80)</a:t>
            </a:r>
            <a:r>
              <a:rPr lang="en-US" sz="1500" dirty="0">
                <a:solidFill>
                  <a:schemeClr val="tx1"/>
                </a:solidFill>
              </a:rPr>
              <a:t>: 20–31 mA vs 30–68 mA.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48640" y="377190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22960" y="404622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uploa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833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73202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Kirim berkelompok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18922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Kumpulkan data di RTC, kirim sekaligus.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6255868" y="377190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ad"/>
          <p:cNvSpPr/>
          <p:nvPr/>
        </p:nvSpPr>
        <p:spPr>
          <a:xfrm>
            <a:off x="6530188" y="404622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20" name="ikon-stopwatc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1833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0188" y="473202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Persingkat bangun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30188" y="518922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Batas waktu Wi-Fi, hindari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1500" dirty="0">
                <a:solidFill>
                  <a:schemeClr val="tx1"/>
                </a:solidFill>
              </a:rPr>
              <a:t> panjang.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Menyimpan Data dan Keandalan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NVS, watchdog, dan pertahanan berlapis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Mana yang Bertahan?</a:t>
            </a:r>
            <a:endParaRPr lang="en-US" sz="3000" dirty="0"/>
          </a:p>
        </p:txBody>
      </p:sp>
      <p:pic>
        <p:nvPicPr>
          <p:cNvPr id="3" name="gambar" descr="/home/claude/work/slides/img/p14/p14-rtc-vs-nv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179" y="1280160"/>
            <a:ext cx="10941337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3: Pengaturan di NVS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272028"/>
          </a:xfrm>
          <a:prstGeom prst="roundRect">
            <a:avLst>
              <a:gd name="adj" fmla="val 2795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kode/03-simpan-pengaturan-nvs/src/main.cpp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70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&lt;Preferences.h&gt;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Preferences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pengaturan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pengaturan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"pengaturan"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pengaturan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getUInt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"interval"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validasi: di luar 100-5000 ms -&gt; pakai 500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tulis bila berubah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pengaturan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putUInt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"interval"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pengaturan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Namespace</a:t>
            </a:r>
            <a:r>
              <a:rPr lang="en-US" sz="1700" dirty="0">
                <a:solidFill>
                  <a:schemeClr val="tx1"/>
                </a:solidFill>
              </a:rPr>
              <a:t> dan </a:t>
            </a:r>
            <a:r>
              <a:rPr lang="en-US" sz="1700" i="1" dirty="0">
                <a:solidFill>
                  <a:schemeClr val="tx1"/>
                </a:solidFill>
              </a:rPr>
              <a:t>key</a:t>
            </a:r>
            <a:r>
              <a:rPr lang="en-US" sz="1700" dirty="0">
                <a:solidFill>
                  <a:schemeClr val="tx1"/>
                </a:solidFill>
              </a:rPr>
              <a:t> maks. </a:t>
            </a:r>
            <a:r>
              <a:rPr lang="en-US" sz="1700" b="1" dirty="0">
                <a:solidFill>
                  <a:schemeClr val="tx1"/>
                </a:solidFill>
              </a:rPr>
              <a:t>15 karakter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getUInt(key, bawaan)</a:t>
            </a:r>
            <a:r>
              <a:rPr lang="en-US" sz="1700" dirty="0">
                <a:solidFill>
                  <a:schemeClr val="tx1"/>
                </a:solidFill>
              </a:rPr>
              <a:t> → nilai bawaan aman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Tulis </a:t>
            </a:r>
            <a:r>
              <a:rPr lang="en-US" sz="1700" b="1" dirty="0">
                <a:solidFill>
                  <a:schemeClr val="tx1"/>
                </a:solidFill>
              </a:rPr>
              <a:t>hanya bila berubah</a:t>
            </a:r>
            <a:r>
              <a:rPr lang="en-US" sz="1700" dirty="0">
                <a:solidFill>
                  <a:schemeClr val="tx1"/>
                </a:solidFill>
              </a:rPr>
              <a:t>: flash bisa aus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Partisi NVS bawaan Arduino: 20 KB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Watchdog: Pedal Kewaspadaan Program</a:t>
            </a:r>
            <a:endParaRPr lang="en-US" sz="3000" dirty="0"/>
          </a:p>
        </p:txBody>
      </p:sp>
      <p:pic>
        <p:nvPicPr>
          <p:cNvPr id="3" name="gambar" descr="/home/claude/work/slides/img/p14/p14-diagram-waktu-watch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6621"/>
            <a:ext cx="11094415" cy="46191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4: Task Watchdog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176778"/>
          </a:xfrm>
          <a:prstGeom prst="roundRect">
            <a:avLst>
              <a:gd name="adj" fmla="val 2878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kode/04-watchdog/src/main.cpp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 setup()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esp_task_wdt_config_t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timeout_ms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batas 3 detik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idle_core_mask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idle task inti 0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trigger_panic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habis -&gt; reset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esp_task_wdt_reconfigure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esp_task_wdt_add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awasi loopTask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 loop()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esp_task_wdt_reset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"beri makan"</a:t>
            </a:r>
            <a:endParaRPr lang="en-US" sz="15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Bawaan: TWDT 5 s, hanya </a:t>
            </a:r>
            <a:r>
              <a:rPr lang="en-US" sz="1700" i="1" dirty="0">
                <a:solidFill>
                  <a:schemeClr val="tx1"/>
                </a:solidFill>
              </a:rPr>
              <a:t>idle task</a:t>
            </a:r>
            <a:r>
              <a:rPr lang="en-US" sz="1700" dirty="0">
                <a:solidFill>
                  <a:schemeClr val="tx1"/>
                </a:solidFill>
              </a:rPr>
              <a:t> inti 0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1700" dirty="0">
                <a:solidFill>
                  <a:schemeClr val="tx1"/>
                </a:solidFill>
              </a:rPr>
              <a:t> diawasi bila didaftarkan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Cara singkat: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enableLoopWDT()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Beri makan hanya saat program benar-benar maju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Mengetahui Penyebab Reset</a:t>
            </a:r>
            <a:endParaRPr lang="en-US" sz="3000" dirty="0"/>
          </a:p>
        </p:txBody>
      </p:sp>
      <p:graphicFrame>
        <p:nvGraphicFramePr>
          <p:cNvPr id="21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67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Nilai esp_reset_reason()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Arti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ESP_RST_POWERON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Catu baru tersambung (tombol EN juga, di ESP32)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ESP_RST_SW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ESP.restart() dari program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ESP_RST_PANIC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Program crash (exception/panic)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ESP_RST_TASK_WDT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Task Watchdog: program macet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ESP_RST_DEEPSLEEP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Bangun dari deep sleep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ESP_RST_BROWNOUT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Tegangan catu sempat turun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Pertahanan Berlapis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nomor"/>
          <p:cNvSpPr/>
          <p:nvPr/>
        </p:nvSpPr>
        <p:spPr>
          <a:xfrm>
            <a:off x="777240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Validasi input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Cek rentang nilai dari Serial, jaringan, sensor, dan NVS.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3390824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nomor"/>
          <p:cNvSpPr/>
          <p:nvPr/>
        </p:nvSpPr>
        <p:spPr>
          <a:xfrm>
            <a:off x="3619424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9424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Batas waktu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9424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Setiap penantian punya batas, pakai millis().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6233008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nomor"/>
          <p:cNvSpPr/>
          <p:nvPr/>
        </p:nvSpPr>
        <p:spPr>
          <a:xfrm>
            <a:off x="6461608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Nilai bawaan aman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hilang atau rusak → nilai yang tidak membahayakan.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9075191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nomor"/>
          <p:cNvSpPr/>
          <p:nvPr/>
        </p:nvSpPr>
        <p:spPr>
          <a:xfrm>
            <a:off x="9303791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3791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Catat penyebab reset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esp_reset_reason() + NVS; watchdog jaring terakhir.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Hari Ini</a:t>
            </a:r>
            <a:endParaRPr lang="en-US" sz="3000" dirty="0"/>
          </a:p>
        </p:txBody>
      </p:sp>
      <p:graphicFrame>
        <p:nvGraphicFramePr>
          <p:cNvPr id="23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512064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Praktikum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Inti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Wokwi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· Deep sleep timer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RTC_DATA_ATTR, penyebab bangun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Terbatas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 · Bangun tombol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EXT0 GPIO 33 + pull-up RTC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Terbatas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 · Pengaturan NVS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Preferences + perintah Serial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Bisa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 · Watchdog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TWDT 3 s + esp_reset_reason()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Bisa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RTC_DATA_ATTR int n</a:t>
            </a:r>
            <a:r>
              <a:rPr lang="en-US" sz="2200" b="1" dirty="0">
                <a:solidFill>
                  <a:schemeClr val="tx1"/>
                </a:solidFill>
              </a:rPr>
              <a:t> bernilai 7, lalu tombol EN ditekan saat ESP32 tidur. Berapa n saat setup() dimulai?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8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0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Acak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Bekerja sebentar, tidur lama: deep sleep cip ±10 µA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91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3317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Bangun dari deep sleep = mulai lagi dari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935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2461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Umur baterai ≈ kapasitas / arus rata-rata berbobot waktu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0799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41605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NVS bertahan saat catu dicabut; tulis hanya bila perlu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42239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50749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Watchdog + validasi + batas waktu + nilai bawaan aman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15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Kerjakan latihan stasiun cuaca hemat daya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Hitung umur baterai rancangan proyekmu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15: Integrasi Sistem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Tentukan ide proyek akhir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14: Hemat Daya dan Keandalan Sistem</dc:title>
  <dc:subject>Sistem Tertanam — Pertemuan 14</dc:subject>
  <dc:creator>Anton Prafanto</dc:creator>
  <cp:lastModifiedBy>Anton Prafanto</cp:lastModifiedBy>
  <cp:revision>1</cp:revision>
  <dcterms:created xsi:type="dcterms:W3CDTF">2026-10-16T11:17:02Z</dcterms:created>
  <dcterms:modified xsi:type="dcterms:W3CDTF">2026-10-16T11:17:02Z</dcterms:modified>
</cp:coreProperties>
</file>