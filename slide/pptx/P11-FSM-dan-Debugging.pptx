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a9af2bb6-07cc-c069-3b3f-3eca0179230a}">
          <p14:sldIdLst>
            <p14:sldId id="256"/>
            <p14:sldId id="257"/>
            <p14:sldId id="258"/>
          </p14:sldIdLst>
        </p14:section>
        <p14:section name="FSM" id="{94877c78-0860-da3b-6b9f-a096458434a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Rapi" id="{dbba4458-8741-9b49-297a-00c696a43bc1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rash" id="{ec0c2837-d052-3f3c-b3ec-09f1f522e38a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Penutup" id="{7ae3ffa1-0c91-b69b-f2c5-88a154e1bb53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pertanyaan: siapa yang pernah takut mengubah kodenya sendiri karena takut semuanya rusak? Hari ini kita belajar menata logika (FSM), merapikan berkas, dan men-debug secara sistematis.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akhir sesi: mahasiswa bisa menggambar diagram keadaan sebelum menulis kode, dan bisa menunjuk fungsi + baris penyebab crash dari backtrace.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Tanyakan: apa yang terjadi bila tombol ditekan saat delay(8000) berjalan? Jawab: tidak terbaca. Hitung kombinasi bendera: 3 bendera = 8 kombinasi, 5 bendera = 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Notasi label transisi: peristiwa [syarat] / aksi. Minta mahasiswa menambah satu keadaan, misalnya GANGGUAN saat palang macet.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Siklus normal 8 + 2 + 5 = 15 detik. Tombol saat hijau hanya mencatat permintaan; hijau dipersingkat tetapi minimal 3 detik demi keselamatan pengendara.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Setiap baris = satu kasus uji. Pertanyaan pancingan: apa yang terjadi bila tombol ditekan saat kuning? (Dicatat, lalu langsung terlayani saat merah.)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dengan int fase = 0: nama jelas, kompilator menolak nilai asal. Pengurangan unsigned tetap benar saat millis() meluap setelah ±49,7 hari.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aturan emas. Hubungkan dengan Latihan 5: bug muncul justru karena keadaan diubah langsung tanpa masukKeadaan(), sehingga waktuMasuk tidak diperbarui.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Keadaan HIJAU, KUNING, MERAH tidak disentuh sama sekali. Ini inti keunggulan FSM: perubahan terlokalisasi. Cara masuk ke mode malam dijadikan Latihan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Wokwi tidak mengenal folder: semua berkas sejajar, sketch.ino = main.cpp. Tunjukkan cara membuat berkas baru di VS Code (klik kanan folder) dan di Wokwi (tombol segitiga di samping tab, New file...).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Galat umum: "No such file" (header belum dibuat), "undefined reference" (.cpp tidak dikompilasi), "multiple definition" (variabel biasa didefinisikan di .h). Konstanta pakai constexpr.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dokter: keluhan, pemeriksaan, diagnosis, terapi, kontrol. Membagi dua: 100 baris cukup 7 langkah karena 2^7 = 128 ≥ 100; 1.000 baris cukup 10 langkah.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Atur di platformio.ini: build_flags = -DCORE_DEBUG_LEVEL=3. Tampil bila level pesan ≤ angka itu. Contoh keluaran asli: [  1828][I][main.cpp:53] setup(): ... Wokwi web tidak membaca platformio.ini.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Serial lambat: 115200 baud = ±11.520 karakter/detik, satu baris 60 karakter ±5,2 ms. Ubah satu hal setiap kali menguji.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Keluaran asli QEMU untuk perintah baca. EXCVADDR 0x4 = pointer null + offset anggota nilai. Baris biru adalah tambahan filter esp32_exception_decoder; decoder memakai firmware.elf, jadi jangan ubah kode setelah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ESP-IDF Programming Guide, Fatal Errors. Setelah crash, esp_reset_reason() memberi tahu penyebab reset: PANIC, TASK_WDT, BROWNOUT, dan seterusnya.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Library Keypad memasang INPUT_PULLUP di baris dan menggerakkan kolom sebagai OUTPUT bergantian (lihat Keypad.cpp). GPIO 21/22 sengaja dikosongkan untuk LCD I2C.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Emulator tidak sama persis dengan cip asli: rekursi berakhir Cache error di QEMU, sedangkan di board asli Stack canary watchpoint triggered. Pengujian akhir tetap di perangkat keras.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B. Alamat 0 + offset 4 = anggota kedua struct (int nilai) dibaca lewat pointer yang masih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11 · FSM dan Debugging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11 · FSM dan Debugging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11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Merancang Firmware Rapi: FSM dan Debugging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Dari kode spageti ke mesin keadaan, lalu membaca pesan crash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rando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mengapa kode </a:t>
            </a:r>
            <a:r>
              <a:rPr lang="en-US" sz="2000" b="1" dirty="0">
                <a:solidFill>
                  <a:schemeClr val="tx1"/>
                </a:solidFill>
              </a:rPr>
              <a:t>spageti</a:t>
            </a:r>
            <a:r>
              <a:rPr lang="en-US" sz="2000" dirty="0">
                <a:solidFill>
                  <a:schemeClr val="tx1"/>
                </a:solidFill>
              </a:rPr>
              <a:t> sulit dirawat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sitema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Merancang </a:t>
            </a:r>
            <a:r>
              <a:rPr lang="en-US" sz="2000" b="1" dirty="0">
                <a:solidFill>
                  <a:schemeClr val="tx1"/>
                </a:solidFill>
              </a:rPr>
              <a:t>FSM</a:t>
            </a:r>
            <a:r>
              <a:rPr lang="en-US" sz="2000" dirty="0">
                <a:solidFill>
                  <a:schemeClr val="tx1"/>
                </a:solidFill>
              </a:rPr>
              <a:t>: keadaan, peristiwa, transisi, aksi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od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Menulis FSM </a:t>
            </a:r>
            <a:r>
              <a:rPr lang="en-US" sz="2000" i="1" dirty="0">
                <a:solidFill>
                  <a:schemeClr val="tx1"/>
                </a:solidFill>
              </a:rPr>
              <a:t>non-blocking</a:t>
            </a:r>
            <a:r>
              <a:rPr lang="en-US" sz="2000" dirty="0">
                <a:solidFill>
                  <a:schemeClr val="tx1"/>
                </a:solidFill>
              </a:rPr>
              <a:t> dan memecah kode ke </a:t>
            </a:r>
            <a:r>
              <a:rPr lang="en-US" sz="2000" b="1" dirty="0">
                <a:solidFill>
                  <a:schemeClr val="tx1"/>
                </a:solidFill>
              </a:rPr>
              <a:t>.h/.cpp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bu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Men-</a:t>
            </a:r>
            <a:r>
              <a:rPr lang="en-US" sz="2000" i="1" dirty="0">
                <a:solidFill>
                  <a:schemeClr val="tx1"/>
                </a:solidFill>
              </a:rPr>
              <a:t>debug</a:t>
            </a:r>
            <a:r>
              <a:rPr lang="en-US" sz="2000" dirty="0">
                <a:solidFill>
                  <a:schemeClr val="tx1"/>
                </a:solidFill>
              </a:rPr>
              <a:t> dengan log,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assert()</a:t>
            </a:r>
            <a:r>
              <a:rPr lang="en-US" sz="2000" dirty="0">
                <a:solidFill>
                  <a:schemeClr val="tx1"/>
                </a:solidFill>
              </a:rPr>
              <a:t>, membagi dua, </a:t>
            </a:r>
            <a:r>
              <a:rPr lang="en-US" sz="2000" i="1" dirty="0">
                <a:solidFill>
                  <a:schemeClr val="tx1"/>
                </a:solidFill>
              </a:rPr>
              <a:t>rubber duck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searc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Membaca pesan </a:t>
            </a:r>
            <a:r>
              <a:rPr lang="en-US" sz="2000" b="1" dirty="0">
                <a:solidFill>
                  <a:schemeClr val="tx1"/>
                </a:solidFill>
              </a:rPr>
              <a:t>Guru Meditation Error</a:t>
            </a:r>
            <a:r>
              <a:rPr lang="en-US" sz="2000" dirty="0">
                <a:solidFill>
                  <a:schemeClr val="tx1"/>
                </a:solidFill>
              </a:rPr>
              <a:t> dan </a:t>
            </a:r>
            <a:r>
              <a:rPr lang="en-US" sz="2000" i="1" dirty="0">
                <a:solidFill>
                  <a:schemeClr val="tx1"/>
                </a:solidFill>
              </a:rPr>
              <a:t>backtrace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Peta Materi Hari Ini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Kode spageti vs FSM</a:t>
            </a:r>
            <a:endParaRPr lang="en-US" sz="1900" dirty="0"/>
          </a:p>
        </p:txBody>
      </p:sp>
      <p:sp>
        <p:nvSpPr>
          <p:cNvPr id="6" name="kartu"/>
          <p:cNvSpPr/>
          <p:nvPr/>
        </p:nvSpPr>
        <p:spPr>
          <a:xfrm>
            <a:off x="548640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Keadaan, peristiwa, transisi, aksi</a:t>
            </a:r>
            <a:endParaRPr lang="en-US" sz="1900" dirty="0"/>
          </a:p>
        </p:txBody>
      </p:sp>
      <p:sp>
        <p:nvSpPr>
          <p:cNvPr id="9" name="kartu"/>
          <p:cNvSpPr/>
          <p:nvPr/>
        </p:nvSpPr>
        <p:spPr>
          <a:xfrm>
            <a:off x="548640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FSM di C++: enum class + switch</a:t>
            </a:r>
            <a:endParaRPr lang="en-US" sz="19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93192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Modul .h dan .cpp</a:t>
            </a:r>
            <a:endParaRPr lang="en-US" sz="1900" dirty="0"/>
          </a:p>
        </p:txBody>
      </p:sp>
      <p:sp>
        <p:nvSpPr>
          <p:cNvPr id="15" name="kartu"/>
          <p:cNvSpPr/>
          <p:nvPr/>
        </p:nvSpPr>
        <p:spPr>
          <a:xfrm>
            <a:off x="6278728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93128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Debugging sistematis</a:t>
            </a:r>
            <a:endParaRPr lang="en-US" sz="1900" dirty="0"/>
          </a:p>
        </p:txBody>
      </p:sp>
      <p:sp>
        <p:nvSpPr>
          <p:cNvPr id="18" name="kartu"/>
          <p:cNvSpPr/>
          <p:nvPr/>
        </p:nvSpPr>
        <p:spPr>
          <a:xfrm>
            <a:off x="6278728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193128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Membaca pesan crash</a:t>
            </a:r>
            <a:endParaRPr lang="en-US" sz="1900" dirty="0"/>
          </a:p>
        </p:txBody>
      </p:sp>
      <p:sp>
        <p:nvSpPr>
          <p:cNvPr id="21" name="kartu"/>
          <p:cNvSpPr/>
          <p:nvPr/>
        </p:nvSpPr>
        <p:spPr>
          <a:xfrm>
            <a:off x="6278728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6160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07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193128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Praktikum 1–3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Dari Spageti ke FSM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Menata logika menjadi keadaan dan transisi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Kode Spageti vs Mesin Keadaan</a:t>
            </a:r>
            <a:endParaRPr lang="en-US" sz="3000" dirty="0"/>
          </a:p>
        </p:txBody>
      </p:sp>
      <p:pic>
        <p:nvPicPr>
          <p:cNvPr id="3" name="gambar" descr="/home/claude/work/slides/img/p11/p11-spaghetti-vs-f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208" y="1280160"/>
            <a:ext cx="8209280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Ikon: Font Awesome Free (CC BY 4.0)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Anatomi FSM: Gerbang Tol</a:t>
            </a:r>
            <a:endParaRPr lang="en-US" sz="3000" dirty="0"/>
          </a:p>
        </p:txBody>
      </p:sp>
      <p:pic>
        <p:nvPicPr>
          <p:cNvPr id="3" name="gambar" descr="/home/claude/work/slides/img/p11/p11-anatomi-f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8773" y="1280160"/>
            <a:ext cx="913415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 Keadaan Lampu Lalu Lintas</a:t>
            </a:r>
            <a:endParaRPr lang="en-US" sz="3000" dirty="0"/>
          </a:p>
        </p:txBody>
      </p:sp>
      <p:pic>
        <p:nvPicPr>
          <p:cNvPr id="3" name="gambar" descr="/home/claude/work/slides/img/p11/p11-fsm-lalu-lin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126" y="1280160"/>
            <a:ext cx="9545444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Tabel Transisi = Daftar Uji</a:t>
            </a:r>
            <a:endParaRPr lang="en-US" sz="3000" dirty="0"/>
          </a:p>
        </p:txBody>
      </p:sp>
      <p:graphicFrame>
        <p:nvGraphicFramePr>
          <p:cNvPr id="9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32918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Keadaan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Peristiwa [syarat]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Aksi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Berikutnya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HIJAU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lama ≥ 8 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kuning nyala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KUNING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HIJAU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[ada penyeberang] dan lama ≥ 3 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kuning nyala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KUNING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HIJAU/KUNING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tombol ditekan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catat permintaan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(tetap)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KUNING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lama ≥ 2 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merah nyala, hapus permintaan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MERAH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MERAH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lama ≥ 5 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hijau nyala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HIJAU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MERAH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tombol ditekan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"silakan menyeberang"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(tetap)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Pola FSM: enum class + switch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4367403"/>
          </a:xfrm>
          <a:prstGeom prst="roundRect">
            <a:avLst>
              <a:gd name="adj" fmla="val 2094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80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HIJAU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KUNING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MERAH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HIJAU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waktuMasuk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lama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waktuMasuk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tombolDitekan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adaPenyeberang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HIJAU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lama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LAMA_HIJAU_MS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masukKeadaan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KUNING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"habis"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KUNING, MERAH: pola sama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class</a:t>
            </a:r>
            <a:r>
              <a:rPr lang="en-US" sz="1700" dirty="0">
                <a:solidFill>
                  <a:schemeClr val="tx1"/>
                </a:solidFill>
              </a:rPr>
              <a:t>: daftar keadaan bernama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lama</a:t>
            </a:r>
            <a:r>
              <a:rPr lang="en-US" sz="1700" dirty="0">
                <a:solidFill>
                  <a:schemeClr val="tx1"/>
                </a:solidFill>
              </a:rPr>
              <a:t> = waktu sejak masuk keadaan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700" dirty="0">
                <a:solidFill>
                  <a:schemeClr val="tx1"/>
                </a:solidFill>
              </a:rPr>
              <a:t>: satu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700" dirty="0">
                <a:solidFill>
                  <a:schemeClr val="tx1"/>
                </a:solidFill>
              </a:rPr>
              <a:t> per keadaan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Tanpa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r>
              <a:rPr lang="en-US" sz="1700" dirty="0">
                <a:solidFill>
                  <a:schemeClr val="tx1"/>
                </a:solidFill>
              </a:rPr>
              <a:t>: tombol selalu terbaca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Fungsi Masuk-Keadaan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478403"/>
          </a:xfrm>
          <a:prstGeom prst="roundRect">
            <a:avLst>
              <a:gd name="adj" fmla="val 2629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91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masukKeadaan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baru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alasan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baru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waktuMasuk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"lama" mulai dari 0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baru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MERAH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lampuTampilkan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Warna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MERAH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adaPenyeberang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permintaan terlayani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HIJAU, KUNING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"KEADAAN -&gt; %s (%s)\n"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namaKeadaan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baru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alasan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Jangan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r>
              <a:rPr lang="en-US" sz="1700" dirty="0">
                <a:solidFill>
                  <a:schemeClr val="tx1"/>
                </a:solidFill>
              </a:rPr>
              <a:t> di dalam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Ubah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keadaan</a:t>
            </a:r>
            <a:r>
              <a:rPr lang="en-US" sz="1700" dirty="0">
                <a:solidFill>
                  <a:schemeClr val="tx1"/>
                </a:solidFill>
              </a:rPr>
              <a:t> </a:t>
            </a:r>
            <a:r>
              <a:rPr lang="en-US" sz="1700" b="1" dirty="0">
                <a:solidFill>
                  <a:schemeClr val="tx1"/>
                </a:solidFill>
              </a:rPr>
              <a:t>hanya</a:t>
            </a:r>
            <a:r>
              <a:rPr lang="en-US" sz="1700" dirty="0">
                <a:solidFill>
                  <a:schemeClr val="tx1"/>
                </a:solidFill>
              </a:rPr>
              <a:t> lewat fungsi ini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Akhiri setiap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700" dirty="0">
                <a:solidFill>
                  <a:schemeClr val="tx1"/>
                </a:solidFill>
              </a:rPr>
              <a:t> dengan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Log otomatis setiap pindah keadaan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Fitur Baru = Keadaan Baru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442210"/>
            <a:ext cx="2567864" cy="2339340"/>
          </a:xfrm>
          <a:prstGeom prst="roundRect">
            <a:avLst>
              <a:gd name="adj" fmla="val 469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nomor"/>
          <p:cNvSpPr/>
          <p:nvPr/>
        </p:nvSpPr>
        <p:spPr>
          <a:xfrm>
            <a:off x="777240" y="2670810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67081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5661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Tambah nama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42410"/>
            <a:ext cx="2110664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KEDIP_MALAM</a:t>
            </a:r>
            <a:r>
              <a:rPr lang="en-US" sz="1500" dirty="0">
                <a:solidFill>
                  <a:schemeClr val="tx1"/>
                </a:solidFill>
              </a:rPr>
              <a:t> di </a:t>
            </a: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class Keadaan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3390824" y="2442210"/>
            <a:ext cx="2567864" cy="2339340"/>
          </a:xfrm>
          <a:prstGeom prst="roundRect">
            <a:avLst>
              <a:gd name="adj" fmla="val 469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nomor"/>
          <p:cNvSpPr/>
          <p:nvPr/>
        </p:nvSpPr>
        <p:spPr>
          <a:xfrm>
            <a:off x="3619424" y="2670810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9424" y="267081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19424" y="335661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Tambah case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19424" y="4042410"/>
            <a:ext cx="2110664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Kuning berkedip tiap 500 ms tanpa </a:t>
            </a: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delay()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6233008" y="2442210"/>
            <a:ext cx="2567864" cy="2339340"/>
          </a:xfrm>
          <a:prstGeom prst="roundRect">
            <a:avLst>
              <a:gd name="adj" fmla="val 469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nomor"/>
          <p:cNvSpPr/>
          <p:nvPr/>
        </p:nvSpPr>
        <p:spPr>
          <a:xfrm>
            <a:off x="6461608" y="2670810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267081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61608" y="335661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Aksi masuk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4042410"/>
            <a:ext cx="2110664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Tambah satu </a:t>
            </a: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500" dirty="0">
                <a:solidFill>
                  <a:schemeClr val="tx1"/>
                </a:solidFill>
              </a:rPr>
              <a:t> di </a:t>
            </a: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masukKeadaan()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9075191" y="2442210"/>
            <a:ext cx="2567864" cy="2339340"/>
          </a:xfrm>
          <a:prstGeom prst="roundRect">
            <a:avLst>
              <a:gd name="adj" fmla="val 469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nomor"/>
          <p:cNvSpPr/>
          <p:nvPr/>
        </p:nvSpPr>
        <p:spPr>
          <a:xfrm>
            <a:off x="9303791" y="2670810"/>
            <a:ext cx="548640" cy="54864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3791" y="267081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335661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Nama log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4042410"/>
            <a:ext cx="2110664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Tambah satu </a:t>
            </a: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500" dirty="0">
                <a:solidFill>
                  <a:schemeClr val="tx1"/>
                </a:solidFill>
              </a:rPr>
              <a:t> di </a:t>
            </a: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namaKeadaan()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Kode Rapi dan Debugging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Modul .h/.cpp, log, assert, membagi dua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Memecah Kode menjadi Modul</a:t>
            </a:r>
            <a:endParaRPr lang="en-US" sz="3000" dirty="0"/>
          </a:p>
        </p:txBody>
      </p:sp>
      <p:pic>
        <p:nvPicPr>
          <p:cNvPr id="3" name="gambar" descr="/home/claude/work/slides/img/p11/p11-struktur-mod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7374" y="1280160"/>
            <a:ext cx="8876948" cy="4617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Ikon: Font Awesome Free (CC BY 4.0)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.h = Menu, .cpp = Dapur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276856"/>
            <a:ext cx="5364328" cy="2670048"/>
          </a:xfrm>
          <a:prstGeom prst="roundRect">
            <a:avLst>
              <a:gd name="adj" fmla="val 4110"/>
            </a:avLst>
          </a:prstGeom>
          <a:solidFill>
            <a:srgbClr val="F3F5F4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250545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lis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64718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50545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.h (berkas kepala)</a:t>
            </a:r>
            <a:endParaRPr lang="en-US" sz="22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236976"/>
            <a:ext cx="4815688" cy="157276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Deklarasi fungsi dan tipe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Diawali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Disimpan di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lampuTampilkan(Warna w);</a:t>
            </a:r>
            <a:endParaRPr lang="en-US" sz="1800" dirty="0"/>
          </a:p>
        </p:txBody>
      </p:sp>
      <p:sp>
        <p:nvSpPr>
          <p:cNvPr id="8" name="kartu"/>
          <p:cNvSpPr/>
          <p:nvPr/>
        </p:nvSpPr>
        <p:spPr>
          <a:xfrm>
            <a:off x="6278728" y="2276856"/>
            <a:ext cx="5364328" cy="2670048"/>
          </a:xfrm>
          <a:prstGeom prst="roundRect">
            <a:avLst>
              <a:gd name="adj" fmla="val 4110"/>
            </a:avLst>
          </a:prstGeom>
          <a:solidFill>
            <a:srgbClr val="EEF5F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53048" y="250545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o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264718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84568" y="250545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.cpp (berkas sumber)</a:t>
            </a:r>
            <a:endParaRPr lang="en-US" sz="2200" dirty="0"/>
          </a:p>
        </p:txBody>
      </p:sp>
      <p:sp>
        <p:nvSpPr>
          <p:cNvPr id="12" name="daftar-poin"/>
          <p:cNvSpPr txBox="1"/>
          <p:nvPr/>
        </p:nvSpPr>
        <p:spPr>
          <a:xfrm>
            <a:off x="6553048" y="3236976"/>
            <a:ext cx="4815688" cy="157276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Isi fungsi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Variabel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800" dirty="0">
                <a:solidFill>
                  <a:schemeClr val="tx1"/>
                </a:solidFill>
              </a:rPr>
              <a:t> = rahasia modul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Disimpan di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digitalWrite(PIN_MERAH, ...);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Alur Debugging yang Sistematis</a:t>
            </a:r>
            <a:endParaRPr lang="en-US" sz="3000" dirty="0"/>
          </a:p>
        </p:txBody>
      </p:sp>
      <p:pic>
        <p:nvPicPr>
          <p:cNvPr id="3" name="gambar" descr="/home/claude/work/slides/img/p11/p11-alur-debugg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055" y="1280160"/>
            <a:ext cx="10533585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Makro Log dan CORE_DEBUG_LEVEL</a:t>
            </a:r>
            <a:endParaRPr lang="en-US" sz="3000" dirty="0"/>
          </a:p>
        </p:txBody>
      </p:sp>
      <p:graphicFrame>
        <p:nvGraphicFramePr>
          <p:cNvPr id="17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2377440"/>
                <a:gridCol w="5120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Level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Nama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Makro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Contoh pemakaian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Semua log mati (produk jadi)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ERROR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log_e()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Sensor tidak menjawab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WARN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log_w()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Nilai janggal, belum fatal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INFO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log_i()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Program mulai, koneksi berhasil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DEBUG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log_d()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Detail untuk men-debug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VERBOSE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log_v()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Sangat rinci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Empat Alat Debugging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52781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80213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ermin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3929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8793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Serial terstruktur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4513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Tag + waktu + nilai; cetak saat berubah saja.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6255868" y="152781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30188" y="180213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shiel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93929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0188" y="248793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assert()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530188" y="294513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Jaring pengaman untuk kondisi yang mustahil.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548640" y="377190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22960" y="404622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searc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1833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73202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Membagi dua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18922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Buang separuh kemungkinan setiap langkah.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6255868" y="3771900"/>
            <a:ext cx="5387188" cy="1924050"/>
          </a:xfrm>
          <a:prstGeom prst="roundRect">
            <a:avLst>
              <a:gd name="adj" fmla="val 570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pad"/>
          <p:cNvSpPr/>
          <p:nvPr/>
        </p:nvSpPr>
        <p:spPr>
          <a:xfrm>
            <a:off x="6530188" y="404622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20" name="ikon-comment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48" y="41833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30188" y="473202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Rubber duck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530188" y="5189220"/>
            <a:ext cx="48385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Jelaskan kode baris demi baris.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Membaca Pesan Crash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Guru Meditation Error, register, dan backtrace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Anatomi Guru Meditation Error</a:t>
            </a:r>
            <a:endParaRPr lang="en-US" sz="3000" dirty="0"/>
          </a:p>
        </p:txBody>
      </p:sp>
      <p:pic>
        <p:nvPicPr>
          <p:cNvPr id="3" name="gambar" descr="/home/claude/work/slides/img/p11/p11-anatomi-guru-medi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919" y="1280160"/>
            <a:ext cx="9821856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Pesan Crash yang Sering Muncul</a:t>
            </a:r>
            <a:endParaRPr lang="en-US" sz="3000" dirty="0"/>
          </a:p>
        </p:txBody>
      </p:sp>
      <p:graphicFrame>
        <p:nvGraphicFramePr>
          <p:cNvPr id="21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5661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Pesan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Arti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Penyebab umum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LoadProhibited / StoreProhibited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Akses alamat terlarang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Pointer null atau rusak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IntegerDivideByZero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Bagi bilangan bulat dengan nol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Pembagi bernilai 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Stack canary watchpoint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Stack task meluap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Rekursi, larik lokal besar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Task watchdog got triggered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Task tidak memberi makan watchdog 5 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Perulangan tanpa jeda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Brownout detector was triggered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Tegangan catu turun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Servo/Wi-Fi, catu lemah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assert failed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assert() gagal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Bug logika tertangkap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2: Pin Keypad yang Aman</a:t>
            </a:r>
            <a:endParaRPr lang="en-US" sz="3000" dirty="0"/>
          </a:p>
        </p:txBody>
      </p:sp>
      <p:sp>
        <p:nvSpPr>
          <p:cNvPr id="3" name="daftar-poin"/>
          <p:cNvSpPr txBox="1"/>
          <p:nvPr/>
        </p:nvSpPr>
        <p:spPr>
          <a:xfrm>
            <a:off x="548640" y="1325880"/>
            <a:ext cx="540333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Baris R1–R4 → GPIO 13, 14, 27, 26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Kolom C1–C4 → GPIO 25, 33, 32, 23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Baris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INPUT_PULLUP</a:t>
            </a:r>
            <a:r>
              <a:rPr lang="en-US" sz="2000" dirty="0">
                <a:solidFill>
                  <a:schemeClr val="tx1"/>
                </a:solidFill>
              </a:rPr>
              <a:t>, kolom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r>
              <a:rPr lang="en-US" sz="2000" dirty="0">
                <a:solidFill>
                  <a:schemeClr val="tx1"/>
                </a:solidFill>
              </a:rPr>
              <a:t> → bukan GPIO 34–39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Hindari </a:t>
            </a:r>
            <a:r>
              <a:rPr lang="en-US" sz="2000" i="1" dirty="0">
                <a:solidFill>
                  <a:schemeClr val="tx1"/>
                </a:solidFill>
              </a:rPr>
              <a:t>strapping</a:t>
            </a:r>
            <a:r>
              <a:rPr lang="en-US" sz="2000" dirty="0">
                <a:solidFill>
                  <a:schemeClr val="tx1"/>
                </a:solidFill>
              </a:rPr>
              <a:t> 0, 2, 5, 12, 15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Servo GPIO 19, V+ ke VIN (5 V)</a:t>
            </a:r>
            <a:endParaRPr lang="en-US" sz="2000" dirty="0"/>
          </a:p>
        </p:txBody>
      </p:sp>
      <p:pic>
        <p:nvPicPr>
          <p:cNvPr id="4" name="gambar" descr="/home/claude/repo/pertemuan-11-fsm-debugging/gambar/p11-rangkaian-kunci-pin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7736" y="1445153"/>
            <a:ext cx="5325319" cy="42877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17736" y="5778607"/>
            <a:ext cx="5325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Gambar komponen: @wokwi/elements (MIT)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3: Hasil Tiap Perintah</a:t>
            </a:r>
            <a:endParaRPr lang="en-US" sz="3000" dirty="0"/>
          </a:p>
        </p:txBody>
      </p:sp>
      <p:graphicFrame>
        <p:nvGraphicFramePr>
          <p:cNvPr id="23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Perintah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Pesan (QEMU)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Penyebab menurut decoder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bagi0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IntegerDivideByZero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crashBagiNol(), baris 103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baca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LoadProhibited, EXCVADDR 0x00000004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crashBacaNull(), baris 114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assert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assert failed … main.cpp:140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cekSuhu(int), baris 140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macet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Task watchdog got triggered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crashMacet(), baris 132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rekursi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sisa stack 6172 → 892 byte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±176 byte per panggilan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null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QEMU diam; board: StoreProhibited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crashTulisNull()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Crash LoadProhibited dengan EXCVADDR 0x00000004 paling mungkin berarti …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Pembagian dengan nol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Membaca anggota struct lewat pointer null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Tegangan catu turun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Perulangan tanpa jeda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6479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FSM: tepat satu </a:t>
            </a:r>
            <a:r>
              <a:rPr lang="en-US" sz="2000" b="1" dirty="0">
                <a:solidFill>
                  <a:schemeClr val="bg1"/>
                </a:solidFill>
              </a:rPr>
              <a:t>keadaan</a:t>
            </a:r>
            <a:r>
              <a:rPr lang="en-US" sz="2000" dirty="0">
                <a:solidFill>
                  <a:schemeClr val="bg1"/>
                </a:solidFill>
              </a:rPr>
              <a:t> aktif; berpindah karena </a:t>
            </a:r>
            <a:r>
              <a:rPr lang="en-US" sz="2000" b="1" dirty="0">
                <a:solidFill>
                  <a:schemeClr val="bg1"/>
                </a:solidFill>
              </a:rPr>
              <a:t>peristiwa</a:t>
            </a:r>
            <a:r>
              <a:rPr lang="en-US" sz="2000" dirty="0">
                <a:solidFill>
                  <a:schemeClr val="bg1"/>
                </a:solidFill>
              </a:rPr>
              <a:t> dan </a:t>
            </a:r>
            <a:r>
              <a:rPr lang="en-US" sz="2000" b="1" dirty="0">
                <a:solidFill>
                  <a:schemeClr val="bg1"/>
                </a:solidFill>
              </a:rPr>
              <a:t>syarat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791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3317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Pola C++: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class</a:t>
            </a:r>
            <a:r>
              <a:rPr lang="en-US" sz="2000" dirty="0">
                <a:solidFill>
                  <a:schemeClr val="bg1"/>
                </a:solidFill>
              </a:rPr>
              <a:t> +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2000" dirty="0">
                <a:solidFill>
                  <a:schemeClr val="bg1"/>
                </a:solidFill>
              </a:rPr>
              <a:t> +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masukKeadaan()</a:t>
            </a:r>
            <a:r>
              <a:rPr lang="en-US" sz="2000" dirty="0">
                <a:solidFill>
                  <a:schemeClr val="bg1"/>
                </a:solidFill>
              </a:rPr>
              <a:t> +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935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2461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Kode rapi: </a:t>
            </a:r>
            <a:r>
              <a:rPr lang="en-US" sz="2000" b="1" dirty="0">
                <a:solidFill>
                  <a:schemeClr val="bg1"/>
                </a:solidFill>
              </a:rPr>
              <a:t>.h</a:t>
            </a:r>
            <a:r>
              <a:rPr lang="en-US" sz="2000" dirty="0">
                <a:solidFill>
                  <a:schemeClr val="bg1"/>
                </a:solidFill>
              </a:rPr>
              <a:t> (menu) + </a:t>
            </a:r>
            <a:r>
              <a:rPr lang="en-US" sz="2000" b="1" dirty="0">
                <a:solidFill>
                  <a:schemeClr val="bg1"/>
                </a:solidFill>
              </a:rPr>
              <a:t>.cpp</a:t>
            </a:r>
            <a:r>
              <a:rPr lang="en-US" sz="2000" dirty="0">
                <a:solidFill>
                  <a:schemeClr val="bg1"/>
                </a:solidFill>
              </a:rPr>
              <a:t> (dapur), konstanta bernama, komentar "mengapa"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50799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41605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Debugging: log terstruktur,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log_x</a:t>
            </a:r>
            <a:r>
              <a:rPr lang="en-US" sz="2000" dirty="0">
                <a:solidFill>
                  <a:schemeClr val="bg1"/>
                </a:solidFill>
              </a:rPr>
              <a:t> +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CORE_DEBUG_LEVEL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assert()</a:t>
            </a:r>
            <a:r>
              <a:rPr lang="en-US" sz="2000" dirty="0">
                <a:solidFill>
                  <a:schemeClr val="bg1"/>
                </a:solidFill>
              </a:rPr>
              <a:t>, membagi dua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42239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507492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Crash: baca jenis galat, </a:t>
            </a:r>
            <a:r>
              <a:rPr lang="en-US" sz="2000" b="1" dirty="0">
                <a:solidFill>
                  <a:schemeClr val="bg1"/>
                </a:solidFill>
              </a:rPr>
              <a:t>PC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b="1" dirty="0">
                <a:solidFill>
                  <a:schemeClr val="bg1"/>
                </a:solidFill>
              </a:rPr>
              <a:t>EXCVADDR</a:t>
            </a:r>
            <a:r>
              <a:rPr lang="en-US" sz="2000" dirty="0">
                <a:solidFill>
                  <a:schemeClr val="bg1"/>
                </a:solidFill>
              </a:rPr>
              <a:t>, lalu </a:t>
            </a:r>
            <a:r>
              <a:rPr lang="en-US" sz="2000" i="1" dirty="0">
                <a:solidFill>
                  <a:schemeClr val="bg1"/>
                </a:solidFill>
              </a:rPr>
              <a:t>backtrace</a:t>
            </a:r>
            <a:r>
              <a:rPr lang="en-US" sz="2000" dirty="0">
                <a:solidFill>
                  <a:schemeClr val="bg1"/>
                </a:solidFill>
              </a:rPr>
              <a:t> hasil decoder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12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Latihan 1: mode malam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Latihan 5: detektif bug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modul Pertemuan 12: FreeRTOS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Ingat: loop() berjalan sebagai task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Butuh Bantuan?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panduan/06-mengatasi-masalah.md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Tanyakan di forum kelas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11: Merancang Firmware Rapi: FSM dan Debugging</dc:title>
  <dc:subject>Sistem Tertanam — Pertemuan 11</dc:subject>
  <dc:creator>Anton Prafanto</dc:creator>
  <cp:lastModifiedBy>Anton Prafanto</cp:lastModifiedBy>
  <cp:revision>1</cp:revision>
  <dcterms:created xsi:type="dcterms:W3CDTF">2026-10-16T12:58:40Z</dcterms:created>
  <dcterms:modified xsi:type="dcterms:W3CDTF">2026-10-16T12:58:40Z</dcterms:modified>
</cp:coreProperties>
</file>