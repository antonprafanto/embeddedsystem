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53d87f78-b326-02b8-5697-25bea52c14de}">
          <p14:sldIdLst>
            <p14:sldId id="256"/>
            <p14:sldId id="257"/>
          </p14:sldIdLst>
        </p14:section>
        <p14:section name="Konsep" id="{db610e8b-13e9-9408-d272-e4d635f6a16e}">
          <p14:sldIdLst>
            <p14:sldId id="258"/>
            <p14:sldId id="259"/>
            <p14:sldId id="260"/>
          </p14:sldIdLst>
        </p14:section>
        <p14:section name="Task" id="{cc9ae7f4-f2f2-1c67-06c2-43b2f04f3433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Komunikasi" id="{ef1745b9-4d82-2e7c-f3cb-d53e50677f24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Penutup" id="{ebaa2d08-90c3-687c-5ea8-4d412409f8a3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pertanyaan: bagaimana caranya LED tetap berkedip teratur saat ESP32 sedang menunggu balasan server? Ingatkan cara millis() (P05) dan FSM (P11), lalu katakan hari ini kita menyerahkan urusan giliran ke penjadwal.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akhir sesi: mahasiswa melihat sendiri dua task berjalan di dua inti (Praktikum 1) dan melihat huruf bercampur tanpa mutex (Praktikum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koki: koki yang kurang cakap menunggui air sampai mendidih sementara tempe gosong (super-loop). Koki cakap beralih ke kompor lain dan kembali tepat waktu (RTOS). Tunjuk panel A: kedipan terlambat selama menunggu server. Panel B: task Wi-Fi Blocked, LED tetap tepat waktu.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Definisi dari buku Mastering the FreeRTOS Real Time Kernel (Barry). Tekankan: real-time = tepat waktu dan dapat diperkirakan, bukan sekadar cepat. Tanyakan: lampu lalu lintas termasuk yang mana? (diskusi; tergantung akibatnya).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FreeRTOS sudah berjalan sejak ESP32 menyala; ESP-IDF memakai FreeRTOS berbasis v10.5.1 yang dimodifikasi untuk dua inti. delay() di Arduino-ESP32 = vTaskDelay(ms / portTICK_PERIOD_MS).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= kompor yang sedang ditangani koki; Ready = menunggu giliran koki; Blocked = air sedang dipanaskan, koki tidak perlu menunggui; Suspended = kompor dimatikan. Pertanyaan pancingan: keadaan mana yang membuat RTOS efisien? (Blocked).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Aturan penjadwal: jalankan task Ready berprioritas tertinggi. Prioritas 0–24 di Arduino-ESP32 (configMAX_PRIORITIES = 25). Tick 1.000 Hz = 1 ms. Prioritas sama bergantian (time slicing); prioritas lebih tinggi langsung merebut (preemption). IDLE prioritas 0. Ingatkan starvation: prioritas tinggi yang tidak pernah Blocked membuat yang lain kelaparan.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Inti 0 (PRO_CPU) bawaan untuk Wi-Fi, TCP/IP (prioritas 18), esp_timer (22). Inti 1 (APP_CPU) untuk loopTask dan arduino_events (19). Setiap inti punya task IDLE sendiri. Time slicing di ESP-IDF bersifat best effort; letakkan task berprioritas sama di inti yang sama bila urutan bergiliran penting.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Bahas tujuh parameter satu per satu. Nilai kembali pdPASS bila berhasil. xTaskCreate() tanpa parameter inti membuat task yang tidak terikat inti (tskNO_AFFINITY).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ESP-IDF Programming Guide v5.5, FreeRTOS (IDF): "task stack sizes are specified in bytes". Kesalahan ini sering terjadi saat menyalin contoh dari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vTaskDelayUntil() adalah nama lama yang masih bisa dipakai. Angka ±900 B diukur di Praktikum 1 (3.536 B → 2.628 B). delayMicroseconds() adalah busy-wait sungguhan.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Antrean = rel tiket pesanan di dapur (FIFO). xQueueSend menyalin data (bukan alamat). Timeout: 0 (tidak menunggu), pdMS_TO_TICKS(n), portMAX_DELAY (selamanya). Antrean penuh + timeout 0 → errQUEUE_FULL. Variabel global hanya aman untuk satu nilai 32-bit dengan satu penulis.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penghitung++ = baca, tambah, tulis. Dua task bersilang → satu tambahan hilang. Galatnya acak, sulit dilacak. Sumber daya bersama lain: Serial, OLED, bus I2C.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Buat mutex sebelum task dibuat; bagian kritis sesingkat mungkin; setiap Take yang berhasil wajib diikuti Give. Deadlock: dua task saling menunggu kunci; hindari dengan urutan pengambilan kunci yang sama atau timeout.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Pewarisan prioritas: bila task penting menunggu kunci yang dipegang task berprioritas rendah, prioritas pemegang kunci dinaikkan sementara agar cepat selesai.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TWDT Arduino-ESP32 3.3: aktif sejak boot, batas 5 detik, mengawasi IDLE0 saja, lalu restart (panic). loopTask tidak diawasi kecuali enableLoopWDT(). Di ISR: xQueueSendFromISR, xSemaphoreGiveFromISR, lalu portYIELD_FROM_ISR() bila ada task penting yang bangun.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Keluaran QEMU: Lapor 3.536 B → 2.628 B setelah printf pertama; Kedip 1.500 B dari 2.048 B; loopTask sisa 6.544 B dari 8.192 B. Pada eksperimen busy-wait, pesan task_wdt menyebut IDLE0 (CPU 0) dan CPU 0: Kedip.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Nilai t bertambah tepat 500 ms berkat xTaskDelayUntil. Dengan JEDA_TAMPIL_MS = 2000, isi antrean mencapai 4–5 dan muncul PERINGATAN antrean penuh; data yang tampil makin basi.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 UART Arduino-ESP32 mengunci per satu panggilan tulis, jadi satu printf pendek jarang terpotong; baris dari banyak panggilan (atau OLED/I2C) tetap perlu mutex. Eksperimen: jadikan xSemaphoreGive komentar → hanya satu baris tercetak, lalu macet.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B. Penjadwal selalu menjalankan task Ready berprioritas tertinggi. C hanya berlaku bila prioritasnya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 balik: kapan cukup memakai super-loop + millis()? (Proyek kecil tanpa penantian panjang.)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Pertemuan 13, pola antrean dipakai lagi: task sensor mengirim data ke task Wi-Fi/MQTT.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12 · FreeRTOS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12 · FreeRTOS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12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Multitasking dengan FreeRTOS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Satu koki, banyak kompor: task, antrean, dan mutex di ESP32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Tujuan Pembelajaran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syn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Membedakan </a:t>
            </a:r>
            <a:r>
              <a:rPr lang="en-US" sz="2000" b="1" dirty="0">
                <a:solidFill>
                  <a:schemeClr val="tx1"/>
                </a:solidFill>
              </a:rPr>
              <a:t>super-loop</a:t>
            </a:r>
            <a:r>
              <a:rPr lang="en-US" sz="2000" dirty="0">
                <a:solidFill>
                  <a:schemeClr val="tx1"/>
                </a:solidFill>
              </a:rPr>
              <a:t> dan </a:t>
            </a:r>
            <a:r>
              <a:rPr lang="en-US" sz="2000" b="1" dirty="0">
                <a:solidFill>
                  <a:schemeClr val="tx1"/>
                </a:solidFill>
              </a:rPr>
              <a:t>multitasking</a:t>
            </a:r>
            <a:r>
              <a:rPr lang="en-US" sz="2000" dirty="0">
                <a:solidFill>
                  <a:schemeClr val="tx1"/>
                </a:solidFill>
              </a:rPr>
              <a:t>, serta waktu nyata keras dan lunak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task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Menjelaskan </a:t>
            </a:r>
            <a:r>
              <a:rPr lang="en-US" sz="2000" b="1" dirty="0">
                <a:solidFill>
                  <a:schemeClr val="tx1"/>
                </a:solidFill>
              </a:rPr>
              <a:t>task</a:t>
            </a:r>
            <a:r>
              <a:rPr lang="en-US" sz="2000" dirty="0">
                <a:solidFill>
                  <a:schemeClr val="tx1"/>
                </a:solidFill>
              </a:rPr>
              <a:t>, keadaan task, prioritas, dan penjadwal di ESP32 dua inti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od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Membuat task dengan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xTaskCreatePinnedToCore()</a:t>
            </a:r>
            <a:r>
              <a:rPr lang="en-US" sz="2000" dirty="0">
                <a:solidFill>
                  <a:schemeClr val="tx1"/>
                </a:solidFill>
              </a:rPr>
              <a:t> dan memberi jeda yang benar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rout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Mengirim data dengan </a:t>
            </a:r>
            <a:r>
              <a:rPr lang="en-US" sz="2000" b="1" dirty="0">
                <a:solidFill>
                  <a:schemeClr val="tx1"/>
                </a:solidFill>
              </a:rPr>
              <a:t>antrean</a:t>
            </a:r>
            <a:r>
              <a:rPr lang="en-US" sz="2000" dirty="0">
                <a:solidFill>
                  <a:schemeClr val="tx1"/>
                </a:solidFill>
              </a:rPr>
              <a:t> dan melindungi sumber daya dengan </a:t>
            </a:r>
            <a:r>
              <a:rPr lang="en-US" sz="2000" b="1" dirty="0">
                <a:solidFill>
                  <a:schemeClr val="tx1"/>
                </a:solidFill>
              </a:rPr>
              <a:t>mutex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bu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9894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9834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Mengenali kesalahan umum: stack kekecilan, watchdog, dan API di ISR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Mengapa Butuh RTOS?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Satu koki yang mengurus banyak kompor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Super-Loop vs RTOS</a:t>
            </a:r>
            <a:endParaRPr lang="en-US" sz="3000" dirty="0"/>
          </a:p>
        </p:txBody>
      </p:sp>
      <p:pic>
        <p:nvPicPr>
          <p:cNvPr id="3" name="gambar" descr="/home/claude/work/slides/img/p12/p12-superloop-vs-r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7658" y="1280160"/>
            <a:ext cx="659638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Task yang menunggu masuk keadaan Blocked, sehingga CPU bebas dipakai task lain.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Waktu Nyata: Lunak vs Keras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324862"/>
            <a:ext cx="5364328" cy="2574036"/>
          </a:xfrm>
          <a:prstGeom prst="roundRect">
            <a:avLst>
              <a:gd name="adj" fmla="val 4263"/>
            </a:avLst>
          </a:prstGeom>
          <a:solidFill>
            <a:srgbClr val="F3F5F4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2553462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c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695194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553462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Soft real-time (lunak)</a:t>
            </a:r>
            <a:endParaRPr lang="en-US" sz="22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284982"/>
            <a:ext cx="4815688" cy="1476756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Batas waktu terlewati → sistem terasa lambat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Sistem masih bisa dipakai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Contoh: ketikan keyboard telat muncul</a:t>
            </a:r>
            <a:endParaRPr lang="en-US" sz="1800" dirty="0"/>
          </a:p>
        </p:txBody>
      </p:sp>
      <p:sp>
        <p:nvSpPr>
          <p:cNvPr id="8" name="kartu"/>
          <p:cNvSpPr/>
          <p:nvPr/>
        </p:nvSpPr>
        <p:spPr>
          <a:xfrm>
            <a:off x="6278728" y="2324862"/>
            <a:ext cx="5364328" cy="2574036"/>
          </a:xfrm>
          <a:prstGeom prst="roundRect">
            <a:avLst>
              <a:gd name="adj" fmla="val 4263"/>
            </a:avLst>
          </a:prstGeom>
          <a:solidFill>
            <a:srgbClr val="EEF5F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53048" y="2553462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war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2695194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84568" y="2553462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Hard real-time (keras)</a:t>
            </a:r>
            <a:endParaRPr lang="en-US" sz="2200" dirty="0"/>
          </a:p>
        </p:txBody>
      </p:sp>
      <p:sp>
        <p:nvSpPr>
          <p:cNvPr id="12" name="daftar-poin"/>
          <p:cNvSpPr txBox="1"/>
          <p:nvPr/>
        </p:nvSpPr>
        <p:spPr>
          <a:xfrm>
            <a:off x="6553048" y="3284982"/>
            <a:ext cx="4815688" cy="1476756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Batas waktu terlewati → </a:t>
            </a:r>
            <a:r>
              <a:rPr lang="en-US" sz="1800" b="1" dirty="0">
                <a:solidFill>
                  <a:schemeClr val="tx1"/>
                </a:solidFill>
              </a:rPr>
              <a:t>gagal total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Bisa membahayakan orang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Contoh: airbag mobil terlambat mengembang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Task dan Penjadwal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Prioritas, preemption, tick, dan dua inti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Bentuk Sebuah Task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224403"/>
          </a:xfrm>
          <a:prstGeom prst="roundRect">
            <a:avLst>
              <a:gd name="adj" fmla="val 2836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kode/01-dua-task/src/main.cpp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2657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taskKedip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r>
              <a:rPr lang="en-US" sz="17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tanpa akhir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vTaskDelay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pdMS_TO_TICKS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vTaskDelay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pdMS_TO_TICKS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tidak boleh sampai ke sini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Task = fungsi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nama(void *)</a:t>
            </a:r>
            <a:r>
              <a:rPr lang="en-US" sz="1700" dirty="0">
                <a:solidFill>
                  <a:schemeClr val="tx1"/>
                </a:solidFill>
              </a:rPr>
              <a:t> berisi perulangan tanpa akhir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Setiap task punya </a:t>
            </a:r>
            <a:r>
              <a:rPr lang="en-US" sz="1700" b="1" dirty="0">
                <a:solidFill>
                  <a:schemeClr val="tx1"/>
                </a:solidFill>
              </a:rPr>
              <a:t>stack</a:t>
            </a:r>
            <a:r>
              <a:rPr lang="en-US" sz="1700" dirty="0">
                <a:solidFill>
                  <a:schemeClr val="tx1"/>
                </a:solidFill>
              </a:rPr>
              <a:t> sendiri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vTaskDelay()</a:t>
            </a:r>
            <a:r>
              <a:rPr lang="en-US" sz="1700" dirty="0">
                <a:solidFill>
                  <a:schemeClr val="tx1"/>
                </a:solidFill>
              </a:rPr>
              <a:t> → task </a:t>
            </a:r>
            <a:r>
              <a:rPr lang="en-US" sz="1700" b="1" dirty="0">
                <a:solidFill>
                  <a:schemeClr val="tx1"/>
                </a:solidFill>
              </a:rPr>
              <a:t>Blocked</a:t>
            </a:r>
            <a:r>
              <a:rPr lang="en-US" sz="1700" dirty="0">
                <a:solidFill>
                  <a:schemeClr val="tx1"/>
                </a:solidFill>
              </a:rPr>
              <a:t>, CPU bebas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r>
              <a:rPr lang="en-US" sz="1700" dirty="0">
                <a:solidFill>
                  <a:schemeClr val="tx1"/>
                </a:solidFill>
              </a:rPr>
              <a:t>/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r>
              <a:rPr lang="en-US" sz="1700" dirty="0">
                <a:solidFill>
                  <a:schemeClr val="tx1"/>
                </a:solidFill>
              </a:rPr>
              <a:t> pun berjalan di task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loopTask</a:t>
            </a:r>
            <a:r>
              <a:rPr lang="en-US" sz="1700" dirty="0">
                <a:solidFill>
                  <a:schemeClr val="tx1"/>
                </a:solidFill>
              </a:rPr>
              <a:t> (8.192 B, prioritas 1, inti 1)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Siklus Hidup Task: Empat Keadaan</a:t>
            </a:r>
            <a:endParaRPr lang="en-US" sz="3000" dirty="0"/>
          </a:p>
        </p:txBody>
      </p:sp>
      <p:pic>
        <p:nvPicPr>
          <p:cNvPr id="3" name="gambar" descr="/home/claude/work/slides/img/p12/p12-siklus-hidup-t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9423" y="1280160"/>
            <a:ext cx="883285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Prioritas, Preemption, dan Time Slicing</a:t>
            </a:r>
            <a:endParaRPr lang="en-US" sz="3000" dirty="0"/>
          </a:p>
        </p:txBody>
      </p:sp>
      <p:pic>
        <p:nvPicPr>
          <p:cNvPr id="3" name="gambar" descr="/home/claude/work/slides/img/p12/p12-penjadwal-priori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9002" y="1280160"/>
            <a:ext cx="8493692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ESP32 Punya Dua Inti</a:t>
            </a:r>
            <a:endParaRPr lang="en-US" sz="3000" dirty="0"/>
          </a:p>
        </p:txBody>
      </p:sp>
      <p:pic>
        <p:nvPicPr>
          <p:cNvPr id="3" name="gambar" descr="/home/claude/work/slides/img/p12/p12-dua-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113" y="1280160"/>
            <a:ext cx="910147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Anatomi xTaskCreatePinnedToCore()</a:t>
            </a:r>
            <a:endParaRPr lang="en-US" sz="3000" dirty="0"/>
          </a:p>
        </p:txBody>
      </p:sp>
      <p:pic>
        <p:nvPicPr>
          <p:cNvPr id="3" name="gambar" descr="/home/claude/work/slides/img/p12/p12-anatomi-t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9093" y="1280160"/>
            <a:ext cx="737351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Ukuran Stack: Byte, Bukan Word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60020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memor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1600200"/>
            <a:ext cx="9265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Di ESP-IDF dan Arduino-ESP32, ukuran stack ditulis dalam </a:t>
            </a:r>
            <a:r>
              <a:rPr lang="en-US" sz="2400" b="1" dirty="0">
                <a:solidFill>
                  <a:schemeClr val="tx1"/>
                </a:solidFill>
              </a:rPr>
              <a:t>byte</a:t>
            </a:r>
            <a:r>
              <a:rPr lang="en-US" sz="2400" dirty="0">
                <a:solidFill>
                  <a:schemeClr val="tx1"/>
                </a:solidFill>
              </a:rPr>
              <a:t>. FreeRTOS asli memakai </a:t>
            </a:r>
            <a:r>
              <a:rPr lang="en-US" sz="2400" b="1" dirty="0">
                <a:solidFill>
                  <a:schemeClr val="tx1"/>
                </a:solidFill>
              </a:rPr>
              <a:t>word</a:t>
            </a:r>
            <a:r>
              <a:rPr lang="en-US" sz="2400" dirty="0">
                <a:solidFill>
                  <a:schemeClr val="tx1"/>
                </a:solidFill>
              </a:rPr>
              <a:t> (4 byte).</a:t>
            </a:r>
            <a:endParaRPr lang="en-US" sz="2400" dirty="0"/>
          </a:p>
        </p:txBody>
      </p:sp>
      <p:sp>
        <p:nvSpPr>
          <p:cNvPr id="7" name="daftar-poin"/>
          <p:cNvSpPr txBox="1"/>
          <p:nvPr/>
        </p:nvSpPr>
        <p:spPr>
          <a:xfrm>
            <a:off x="548640" y="3749040"/>
            <a:ext cx="11094415" cy="2423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Contoh internet </a:t>
            </a:r>
            <a:r>
              <a:rPr lang="en-US" sz="19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900" dirty="0">
                <a:solidFill>
                  <a:schemeClr val="tx1"/>
                </a:solidFill>
              </a:rPr>
              <a:t> = 4.000 byte di FreeRTOS asli, tetapi 1.000 byte di ESP32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Mulai dari 2.048–4.096 byte, lalu ukur sisanya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Nama task maks. 15 karakter; prioritas 0–24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Menunggu dengan Benar &amp; Mengukur Stack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891153"/>
          </a:xfrm>
          <a:prstGeom prst="roundRect">
            <a:avLst>
              <a:gd name="adj" fmla="val 2350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324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Jeda biasa: 500 ms sejak dipanggil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vTaskDelay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pdMS_TO_TICKS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Periode tetap: bangun tiap 500 ms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TickType_t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bangun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xTaskGetTickCount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bacaSensor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xTaskDelayUntil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bangun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pdMS_TO_TICKS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Sisa stack paling sedikit (byte)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UBaseType_t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sisa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uxTaskGetStackHighWaterMark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r>
              <a:rPr lang="en-US" sz="1700" dirty="0">
                <a:solidFill>
                  <a:schemeClr val="tx1"/>
                </a:solidFill>
              </a:rPr>
              <a:t> di ESP32 =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vTaskDelay()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Busy-wait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(millis() ...)</a:t>
            </a:r>
            <a:r>
              <a:rPr lang="en-US" sz="1700" dirty="0">
                <a:solidFill>
                  <a:schemeClr val="tx1"/>
                </a:solidFill>
              </a:rPr>
              <a:t> memonopoli CPU → hindari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xTaskDelayUntil()</a:t>
            </a:r>
            <a:r>
              <a:rPr lang="en-US" sz="1700" dirty="0">
                <a:solidFill>
                  <a:schemeClr val="tx1"/>
                </a:solidFill>
              </a:rPr>
              <a:t>: periode tidak bergeser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Satu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Serial.printf()</a:t>
            </a:r>
            <a:r>
              <a:rPr lang="en-US" sz="1700" dirty="0">
                <a:solidFill>
                  <a:schemeClr val="tx1"/>
                </a:solidFill>
              </a:rPr>
              <a:t> memakai ±900 B stack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Antrean dan Mutex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Berbagi data dan sumber daya dengan aman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Antrean (Queue): Produsen–Konsumen</a:t>
            </a:r>
            <a:endParaRPr lang="en-US" sz="3000" dirty="0"/>
          </a:p>
        </p:txBody>
      </p:sp>
      <p:pic>
        <p:nvPicPr>
          <p:cNvPr id="3" name="gambar" descr="/home/claude/work/slides/img/p12/p12-queue-produsen-konsu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6467"/>
            <a:ext cx="11094415" cy="469942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Race Condition</a:t>
            </a:r>
            <a:endParaRPr lang="en-US" sz="3000" dirty="0"/>
          </a:p>
        </p:txBody>
      </p:sp>
      <p:pic>
        <p:nvPicPr>
          <p:cNvPr id="3" name="gambar" descr="/home/claude/work/slides/img/p12/p12-race-cond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771" y="1280160"/>
            <a:ext cx="10736154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Mutex: Kunci Kamar Mandi</a:t>
            </a:r>
            <a:endParaRPr lang="en-US" sz="3000" dirty="0"/>
          </a:p>
        </p:txBody>
      </p:sp>
      <p:pic>
        <p:nvPicPr>
          <p:cNvPr id="3" name="gambar" descr="/home/claude/work/slides/img/p12/p12-mutex-kun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717" y="1280160"/>
            <a:ext cx="11080262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Semaphore Biner vs Mutex</a:t>
            </a:r>
            <a:endParaRPr lang="en-US" sz="3000" dirty="0"/>
          </a:p>
        </p:txBody>
      </p:sp>
      <p:graphicFrame>
        <p:nvGraphicFramePr>
          <p:cNvPr id="19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Semaphore biner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Mutex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Kegunaan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Memberi sinyal (mis. ISR → task)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Mengunci sumber daya bersama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Yang mengembalikan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Boleh task atau ISR lain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Task pemegang kunci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Pewarisan prioritas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Tidak ada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 dalam ISR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Boleh (xSemaphoreGiveFromISR)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Tidak boleh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Fungsi pembuat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xSemaphoreCreateBinary()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xSemaphoreCreateMutex()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Kesalahan yang Sering Terjadi</a:t>
            </a:r>
            <a:endParaRPr lang="en-US" sz="3000" dirty="0"/>
          </a:p>
        </p:txBody>
      </p:sp>
      <p:graphicFrame>
        <p:nvGraphicFramePr>
          <p:cNvPr id="20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56616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Gejala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Penyebab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Solusi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Restart: stack overflow in task …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Stack kekecilan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Perbesar, ukur sisa stack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Task watchdog got triggered (±5 s)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Busy-wait di inti 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vTaskDelay() di tiap perulangan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Crash saat interupsi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API biasa dipanggil di ISR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Pakai versi ...FromISR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Task prioritas rendah tak jalan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Prioritas tinggi tak pernah Blocked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Pastikan tiap task menunggu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Task should not return, Aborting now!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Fungsi task berakhir (return)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for (;;) atau vTaskDelete(NULL)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1: Dua Task di Dua Inti</a:t>
            </a:r>
            <a:endParaRPr lang="en-US" sz="3000" dirty="0"/>
          </a:p>
        </p:txBody>
      </p:sp>
      <p:sp>
        <p:nvSpPr>
          <p:cNvPr id="3" name="daftar-poin"/>
          <p:cNvSpPr txBox="1"/>
          <p:nvPr/>
        </p:nvSpPr>
        <p:spPr>
          <a:xfrm>
            <a:off x="548640" y="1325880"/>
            <a:ext cx="540333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LED + resistor 220 Ω di </a:t>
            </a:r>
            <a:r>
              <a:rPr lang="en-US" sz="2000" b="1" dirty="0">
                <a:solidFill>
                  <a:schemeClr val="tx1"/>
                </a:solidFill>
              </a:rPr>
              <a:t>GPIO 23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Task </a:t>
            </a:r>
            <a:r>
              <a:rPr lang="en-US" sz="2000" b="1" dirty="0">
                <a:solidFill>
                  <a:schemeClr val="tx1"/>
                </a:solidFill>
              </a:rPr>
              <a:t>Kedip</a:t>
            </a:r>
            <a:r>
              <a:rPr lang="en-US" sz="2000" dirty="0">
                <a:solidFill>
                  <a:schemeClr val="tx1"/>
                </a:solidFill>
              </a:rPr>
              <a:t> (inti 0): kedip tiap 0,5 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Task </a:t>
            </a:r>
            <a:r>
              <a:rPr lang="en-US" sz="2000" b="1" dirty="0">
                <a:solidFill>
                  <a:schemeClr val="tx1"/>
                </a:solidFill>
              </a:rPr>
              <a:t>Lapor</a:t>
            </a:r>
            <a:r>
              <a:rPr lang="en-US" sz="2000" dirty="0">
                <a:solidFill>
                  <a:schemeClr val="tx1"/>
                </a:solidFill>
              </a:rPr>
              <a:t> (inti 1): laporan tiap 2 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Hasil: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r>
              <a:rPr lang="en-US" sz="2000" dirty="0">
                <a:solidFill>
                  <a:schemeClr val="tx1"/>
                </a:solidFill>
              </a:rPr>
              <a:t> berjalan di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loopTask</a:t>
            </a:r>
            <a:r>
              <a:rPr lang="en-US" sz="2000" dirty="0">
                <a:solidFill>
                  <a:schemeClr val="tx1"/>
                </a:solidFill>
              </a:rPr>
              <a:t>, inti 1, prioritas 1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Eksperimen: ganti jeda dengan busy-wait → watchdog</a:t>
            </a:r>
            <a:endParaRPr lang="en-US" sz="2000" dirty="0"/>
          </a:p>
        </p:txBody>
      </p:sp>
      <p:pic>
        <p:nvPicPr>
          <p:cNvPr id="4" name="gambar" descr="/home/claude/repo/pertemuan-12-freertos/gambar/p12-rangkaian-dua-t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7736" y="2252293"/>
            <a:ext cx="5325319" cy="26734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7736" y="4971467"/>
            <a:ext cx="5325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Gambar: @wokwi/elements (MIT)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2: Antrean Sensor ke Tampilan</a:t>
            </a:r>
            <a:endParaRPr lang="en-US" sz="3000" dirty="0"/>
          </a:p>
        </p:txBody>
      </p:sp>
      <p:sp>
        <p:nvSpPr>
          <p:cNvPr id="3" name="daftar-poin"/>
          <p:cNvSpPr txBox="1"/>
          <p:nvPr/>
        </p:nvSpPr>
        <p:spPr>
          <a:xfrm>
            <a:off x="548640" y="1325880"/>
            <a:ext cx="540333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Potensiometer 10 kΩ di </a:t>
            </a:r>
            <a:r>
              <a:rPr lang="en-US" sz="2000" b="1" dirty="0">
                <a:solidFill>
                  <a:schemeClr val="tx1"/>
                </a:solidFill>
              </a:rPr>
              <a:t>GPIO 34</a:t>
            </a:r>
            <a:r>
              <a:rPr lang="en-US" sz="2000" dirty="0">
                <a:solidFill>
                  <a:schemeClr val="tx1"/>
                </a:solidFill>
              </a:rPr>
              <a:t>, VCC ke 3V3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Task </a:t>
            </a:r>
            <a:r>
              <a:rPr lang="en-US" sz="2000" b="1" dirty="0">
                <a:solidFill>
                  <a:schemeClr val="tx1"/>
                </a:solidFill>
              </a:rPr>
              <a:t>Baca</a:t>
            </a:r>
            <a:r>
              <a:rPr lang="en-US" sz="2000" dirty="0">
                <a:solidFill>
                  <a:schemeClr val="tx1"/>
                </a:solidFill>
              </a:rPr>
              <a:t> (produsen, prioritas 2) tepat tiap 500 ms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Task </a:t>
            </a:r>
            <a:r>
              <a:rPr lang="en-US" sz="2000" b="1" dirty="0">
                <a:solidFill>
                  <a:schemeClr val="tx1"/>
                </a:solidFill>
              </a:rPr>
              <a:t>Tampil</a:t>
            </a:r>
            <a:r>
              <a:rPr lang="en-US" sz="2000" dirty="0">
                <a:solidFill>
                  <a:schemeClr val="tx1"/>
                </a:solidFill>
              </a:rPr>
              <a:t> (konsumen) menunggu dengan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portMAX_DELAY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Eksperimen: konsumen lambat → antrean penuh</a:t>
            </a:r>
            <a:endParaRPr lang="en-US" sz="2000" dirty="0"/>
          </a:p>
        </p:txBody>
      </p:sp>
      <p:pic>
        <p:nvPicPr>
          <p:cNvPr id="4" name="gambar" descr="/home/claude/repo/pertemuan-12-freertos/gambar/p12-rangkaian-queue-sen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7736" y="2200223"/>
            <a:ext cx="5325319" cy="27775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7736" y="5023537"/>
            <a:ext cx="5325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Gambar: @wokwi/elements (MIT)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3: Tanpa vs Dengan Mutex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423160"/>
            <a:ext cx="5364328" cy="2377440"/>
          </a:xfrm>
          <a:prstGeom prst="roundRect">
            <a:avLst>
              <a:gd name="adj" fmla="val 4615"/>
            </a:avLst>
          </a:prstGeom>
          <a:solidFill>
            <a:srgbClr val="F3F5F4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rando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79349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651760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PAKAI_MUTEX = false</a:t>
            </a:r>
            <a:endParaRPr lang="en-US" sz="22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383280"/>
            <a:ext cx="4815688" cy="1280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Dua task mencetak huruf demi huruf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Contoh: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[A0[1] TaBs0k 1A ]m ...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Pola campuran berubah tiap kali</a:t>
            </a:r>
            <a:endParaRPr lang="en-US" sz="1800" dirty="0"/>
          </a:p>
        </p:txBody>
      </p:sp>
      <p:sp>
        <p:nvSpPr>
          <p:cNvPr id="8" name="kartu"/>
          <p:cNvSpPr/>
          <p:nvPr/>
        </p:nvSpPr>
        <p:spPr>
          <a:xfrm>
            <a:off x="6278728" y="2423160"/>
            <a:ext cx="5364328" cy="2377440"/>
          </a:xfrm>
          <a:prstGeom prst="roundRect">
            <a:avLst>
              <a:gd name="adj" fmla="val 4615"/>
            </a:avLst>
          </a:prstGeom>
          <a:solidFill>
            <a:srgbClr val="EEF5F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53048" y="2651760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279349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84568" y="2651760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PAKAI_MUTEX = true</a:t>
            </a:r>
            <a:endParaRPr lang="en-US" sz="2200" dirty="0"/>
          </a:p>
        </p:txBody>
      </p:sp>
      <p:sp>
        <p:nvSpPr>
          <p:cNvPr id="12" name="daftar-poin"/>
          <p:cNvSpPr txBox="1"/>
          <p:nvPr/>
        </p:nvSpPr>
        <p:spPr>
          <a:xfrm>
            <a:off x="6553048" y="3383280"/>
            <a:ext cx="4815688" cy="1280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Ambil kunci sebelum mencetak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Setiap baris utuh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Urutan baris A dan B boleh bertukar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Kuis Cepat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Task A (prioritas 1) sedang berjalan, lalu Task B (prioritas 3) di inti yang sama menjadi Ready. Apa yang terjadi?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 menunggu sampai A selesai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 langsung merebut CPU (preemption)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dan B bergantian setiap tick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Watchdog me-restart ESP32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Rangkuman</a:t>
            </a:r>
            <a:endParaRPr lang="en-US" sz="3200" dirty="0"/>
          </a:p>
        </p:txBody>
      </p:sp>
      <p:sp>
        <p:nvSpPr>
          <p:cNvPr id="3" name="pad"/>
          <p:cNvSpPr/>
          <p:nvPr/>
        </p:nvSpPr>
        <p:spPr>
          <a:xfrm>
            <a:off x="548640" y="15849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0383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RTOS membagi pekerjaan menjadi </a:t>
            </a:r>
            <a:r>
              <a:rPr lang="en-US" sz="2000" b="1" dirty="0">
                <a:solidFill>
                  <a:schemeClr val="bg1"/>
                </a:solidFill>
              </a:rPr>
              <a:t>task</a:t>
            </a:r>
            <a:r>
              <a:rPr lang="en-US" sz="2000" dirty="0">
                <a:solidFill>
                  <a:schemeClr val="bg1"/>
                </a:solidFill>
              </a:rPr>
              <a:t> yang dijadwalkan penjadwal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963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20980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Keadaan task: Running, Ready, </a:t>
            </a:r>
            <a:r>
              <a:rPr lang="en-US" sz="2000" b="1" dirty="0">
                <a:solidFill>
                  <a:schemeClr val="bg1"/>
                </a:solidFill>
              </a:rPr>
              <a:t>Blocked</a:t>
            </a:r>
            <a:r>
              <a:rPr lang="en-US" sz="2000" dirty="0">
                <a:solidFill>
                  <a:schemeClr val="bg1"/>
                </a:solidFill>
              </a:rPr>
              <a:t>, Suspended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1699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887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00228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Prioritas 0–24, preemption, time slicing, tick 1 ms, dua inti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396240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08127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79476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Stack dalam </a:t>
            </a:r>
            <a:r>
              <a:rPr lang="en-US" sz="2000" b="1" dirty="0">
                <a:solidFill>
                  <a:schemeClr val="bg1"/>
                </a:solidFill>
              </a:rPr>
              <a:t>byte</a:t>
            </a:r>
            <a:r>
              <a:rPr lang="en-US" sz="2000" dirty="0">
                <a:solidFill>
                  <a:schemeClr val="bg1"/>
                </a:solidFill>
              </a:rPr>
              <a:t>; ukur dengan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uxTaskGetStackHighWaterMark()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87375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58724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Antrean</a:t>
            </a:r>
            <a:r>
              <a:rPr lang="en-US" sz="2000" dirty="0">
                <a:solidFill>
                  <a:schemeClr val="bg1"/>
                </a:solidFill>
              </a:rPr>
              <a:t> untuk kirim data, </a:t>
            </a:r>
            <a:r>
              <a:rPr lang="en-US" sz="2000" b="1" dirty="0">
                <a:solidFill>
                  <a:schemeClr val="bg1"/>
                </a:solidFill>
              </a:rPr>
              <a:t>mutex</a:t>
            </a:r>
            <a:r>
              <a:rPr lang="en-US" sz="2000" dirty="0">
                <a:solidFill>
                  <a:schemeClr val="bg1"/>
                </a:solidFill>
              </a:rPr>
              <a:t> untuk sumber daya bersama</a:t>
            </a:r>
            <a:endParaRPr lang="en-US" sz="2000" dirty="0"/>
          </a:p>
        </p:txBody>
      </p:sp>
      <p:sp>
        <p:nvSpPr>
          <p:cNvPr id="18" name="pad"/>
          <p:cNvSpPr/>
          <p:nvPr/>
        </p:nvSpPr>
        <p:spPr>
          <a:xfrm>
            <a:off x="548640" y="55473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9" name="ikon-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66623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80160" y="53797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Di ISR pakai fungsi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...FromISR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Pertemuan 13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Tugas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Latihan 1: tambah task ketiga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Latihan 4: tombol dengan semaphore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modul Pertemuan 13: Wi-Fi dan MQTT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Pikirkan: task mana yang mengirim data ke server?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Butuh Bantuan?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panduan/06-mengatasi-masalah.md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Tanyakan di forum kelas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12: Multitasking dengan FreeRTOS</dc:title>
  <dc:subject>Sistem Tertanam — Pertemuan 12</dc:subject>
  <dc:creator>Anton Prafanto</dc:creator>
  <cp:lastModifiedBy>Anton Prafanto</cp:lastModifiedBy>
  <cp:revision>1</cp:revision>
  <dcterms:created xsi:type="dcterms:W3CDTF">2026-10-16T13:00:58Z</dcterms:created>
  <dcterms:modified xsi:type="dcterms:W3CDTF">2026-10-16T13:00:58Z</dcterms:modified>
</cp:coreProperties>
</file>