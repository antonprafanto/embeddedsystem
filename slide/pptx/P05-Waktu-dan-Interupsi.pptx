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0e36a553-d04b-edeb-fb58-6f0b06f2ab61}">
          <p14:sldIdLst>
            <p14:sldId id="256"/>
            <p14:sldId id="257"/>
            <p14:sldId id="258"/>
          </p14:sldIdLst>
        </p14:section>
        <p14:section name="Waktu" id="{cffd88da-c16b-75d3-0199-4592f552b1c2}">
          <p14:sldIdLst>
            <p14:sldId id="259"/>
            <p14:sldId id="260"/>
            <p14:sldId id="261"/>
            <p14:sldId id="262"/>
            <p14:sldId id="263"/>
          </p14:sldIdLst>
        </p14:section>
        <p14:section name="Interupsi" id="{7edd8d9d-4715-aa0d-f926-eaba8fe67fa9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Timer" id="{396ea5d7-609e-738e-0b3e-52b51628307a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enutup" id="{3bff45cf-c29d-9f03-b910-936b8551a507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demo singkat: program LED berkedip dengan delay(1000) plus tombol. Minta satu mahasiswa menekan tombol sebentar beberapa kali. Tanyakan: mengapa sebagian tekanan tidak terbaca? Simpan jawabannya untuk dibahas di slide garis waktu.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sesi: semua mahasiswa menjalankan minimal Praktikum 1 dan 2 (Wokwi boleh). Praktikum 3 dan 4 bisa dilanjutkan di rumah.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memasak mi sambil berdiri mematung menunggu air mendidih; bel pintu dan telur gosong diabaikan. Bagian A: tekanan singkat terlewat, tekanan panjang terlambat. Bagian B: loop() berputar terus sambil melirik jam. Catatan: di ESP32 delay() memanggil vTaskDelay(), jadi tugas sistem lain tetap jalan, tetapi loop() berhenti.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koki yang mencatat jam mulai lalu sesekali melirik jam. micros() sama, satuannya mikrodetik, cocok untuk durasi singkat. Pertanyaan pancingan: apa yang terjadi kalau INTERVAL disimpan di int?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millis() meluap setelah 2^32 ms = 49 hari 17 jam 2 menit 47 detik; micros() setelah 2^32 µs ≈ 71,6 menit. Contoh: 200 − 4.294.967.000 = 496 (unsigned, benar). Cara salah: sebelumnya + 1000 meluap jadi 704, sehingga tugas jalan 1 ms kemudian dan terus berulang. Analogi odometer motor.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Multitasking kooperatif: setiap tugas punya variabel waktu dan selang sendiri, mengecek lalu segera selesai. Satu delay(500) di salah satu tugas memperlambat semuanya (eksperimen Praktikum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bolak-balik mengintip pintu (polling) vs memasang bel pintu (interupsi). Polling tidak salah; untuk tombol manusia, pola millis() sudah cukup. Interupsi unggul untuk kejadian singkat atau yang waktunya harus dicatat tepat.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langkah: tepi terdeteksi, CPU menyimpan posisi dan register (pembatas buku), ISR dijalankan, CPU kembali ke baris berikutnya. Tekankan: selama ISR berjalan, program utama tertunda, jadi ISR harus singkat.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INPUT_PULLUP: ditekan = tepi turun (FALLING), dilepas = tepi naik (RISING), CHANGE = keduanya. Bagian B: pantulan membuat satu tekanan memicu beberapa interupsi; debounce di ISR menerima yang pertama dan mengabaikan yang datang &lt; 200 ms sesudahnya. Wokwi menyimulasikan pantulan secara bawaan.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digitalPinToInterrupt() di ESP32 menghasilkan nomor yang sama dengan GPIO, tetapi biasakan dipakai. Kelemahan debounce ini: tombol asli bisa memantul saat dilepas; bila ditahan &gt; 200 ms, pantulan pelepasan bisa terhitung (Latihan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mengangkat telepon di tengah rapat — catat pesan, tutup, kembali. ISR atau bagian kritis yang macet terlalu lama memicu interrupt watchdog (300 ms). Contoh resmi Arduino-ESP32 memakai ARDUINO_ISR_ATTR; kita memakai IRAM_ATTR.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skenario: n = 5, ISR datang, jumlahTekan = 6, lalu dinolkan → tekanan ke-6 hilang. ESP32 dua inti: interupsi dimatikan hanya di inti yang berjalan; inti lain menunggu di spinlock. ESP-IDF menyebutnya taskENTER_CRITICAL().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Datasheet v5.3 §4.4.1: empat timer serbaguna 64-bit dalam dua grup, prescaler 16-bit (2–65.536), naik/turun, auto-reload. Sumber detak: jam APB (umumnya 80 MHz) ÷ 80 = 1 MHz → 1 tik = 1 µs.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timerBegin() langsung memulai timer. timerBegin(1000) gagal karena pembagi 80.000 &gt; 65.536. Praktikum 3: walau loop() sibuk (BEBAN_LOOP_MS = 1700), LED hijau tetap tepat tiap 500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lisan: 250 ms pada 1 MHz? (250.000). 120 BPM pada 1 MHz? (0,5 detik → 500.000). Kapan memakai millis() vs timer: millis() untuk tugas yang boleh meleset beberapa milidetik; timer untuk irama yang harus tepat walau loop() sibuk.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LED merah GPIO 23, LED hijau GPIO 19 (masing-masing lewat 220 Ω), tombol GPIO 4 ke GND (INPUT_PULLUP). Rakit sekali untuk keempat praktikum. Tips tombol 4 kaki: pakai kaki diagonal.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Praktikum 1 dan 2 wajib di kelas. Eksperimen favorit: tambahkan delay(500) di Praktikum 1; ubah FALLING jadi CHANGE di Praktikum 2; BEBAN_LOOP_MS = 1700 di Praktikum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ISR mencatat micros() saat tekanan pertama; loop() memutuskan curang atau sah. Reaksi &lt; 100 ms dianggap menebak, &gt; 3 detik hangus. random(2000, 5001) menghasilkan 2.000–5.000 ms; random() ESP32 memakai pembangkit acak perangkat keras. Pola keadaan ini cikal bakal FSM di Pertemuan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C. 200 − 4.294.967.000 + 4.294.967.296 = 496, sama dengan waktu yang benar-benar berlalu (296 + 200 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05 · Waktu dan Interupsi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05 · Waktu dan Interupsi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05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Waktu dan Interupsi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Dari delay() yang membekukan program sampai timer perangkat keras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masalah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r>
              <a:rPr lang="en-US" sz="2000" dirty="0">
                <a:solidFill>
                  <a:schemeClr val="tx1"/>
                </a:solidFill>
              </a:rPr>
              <a:t> dan menggantinya dengan pola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task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Menjalankan banyak tugas berkala dan memahami </a:t>
            </a:r>
            <a:r>
              <a:rPr lang="en-US" sz="2000" b="1" dirty="0">
                <a:solidFill>
                  <a:schemeClr val="tx1"/>
                </a:solidFill>
              </a:rPr>
              <a:t>luapan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l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Membedakan </a:t>
            </a:r>
            <a:r>
              <a:rPr lang="en-US" sz="2000" i="1" dirty="0">
                <a:solidFill>
                  <a:schemeClr val="tx1"/>
                </a:solidFill>
              </a:rPr>
              <a:t>polling</a:t>
            </a:r>
            <a:r>
              <a:rPr lang="en-US" sz="2000" dirty="0">
                <a:solidFill>
                  <a:schemeClr val="tx1"/>
                </a:solidFill>
              </a:rPr>
              <a:t> dan </a:t>
            </a:r>
            <a:r>
              <a:rPr lang="en-US" sz="2000" b="1" dirty="0">
                <a:solidFill>
                  <a:schemeClr val="tx1"/>
                </a:solidFill>
              </a:rPr>
              <a:t>interupsi</a:t>
            </a:r>
            <a:r>
              <a:rPr lang="en-US" sz="2000" dirty="0">
                <a:solidFill>
                  <a:schemeClr val="tx1"/>
                </a:solidFill>
              </a:rPr>
              <a:t>, lalu memasang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attachInterrupt()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Menulis </a:t>
            </a:r>
            <a:r>
              <a:rPr lang="en-US" sz="2000" b="1" dirty="0">
                <a:solidFill>
                  <a:schemeClr val="tx1"/>
                </a:solidFill>
              </a:rPr>
              <a:t>ISR yang aman</a:t>
            </a:r>
            <a:r>
              <a:rPr lang="en-US" sz="2000" dirty="0">
                <a:solidFill>
                  <a:schemeClr val="tx1"/>
                </a:solidFill>
              </a:rPr>
              <a:t>: singkat,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IRAM_ATTR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</a:t>
            </a:r>
            <a:r>
              <a:rPr lang="en-US" sz="2000" dirty="0">
                <a:solidFill>
                  <a:schemeClr val="tx1"/>
                </a:solidFill>
              </a:rPr>
              <a:t>, bagian kritis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stopwatc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Memakai </a:t>
            </a:r>
            <a:r>
              <a:rPr lang="en-US" sz="2000" b="1" dirty="0">
                <a:solidFill>
                  <a:schemeClr val="tx1"/>
                </a:solidFill>
              </a:rPr>
              <a:t>timer perangkat keras</a:t>
            </a:r>
            <a:r>
              <a:rPr lang="en-US" sz="2000" dirty="0">
                <a:solidFill>
                  <a:schemeClr val="tx1"/>
                </a:solidFill>
              </a:rPr>
              <a:t> dan mengukur waktu dengan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micros()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Masalah delay()</a:t>
            </a:r>
            <a:endParaRPr lang="en-US" sz="1900" dirty="0"/>
          </a:p>
        </p:txBody>
      </p:sp>
      <p:sp>
        <p:nvSpPr>
          <p:cNvPr id="6" name="kartu"/>
          <p:cNvSpPr/>
          <p:nvPr/>
        </p:nvSpPr>
        <p:spPr>
          <a:xfrm>
            <a:off x="548640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millis(), micros(), dan luapan</a:t>
            </a:r>
            <a:endParaRPr lang="en-US" sz="1900" dirty="0"/>
          </a:p>
        </p:txBody>
      </p:sp>
      <p:sp>
        <p:nvSpPr>
          <p:cNvPr id="9" name="kartu"/>
          <p:cNvSpPr/>
          <p:nvPr/>
        </p:nvSpPr>
        <p:spPr>
          <a:xfrm>
            <a:off x="548640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Banyak tugas dalam satu loop()</a:t>
            </a:r>
            <a:endParaRPr lang="en-US" sz="19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93192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Polling vs interupsi</a:t>
            </a:r>
            <a:endParaRPr lang="en-US" sz="1900" dirty="0"/>
          </a:p>
        </p:txBody>
      </p:sp>
      <p:sp>
        <p:nvSpPr>
          <p:cNvPr id="15" name="kartu"/>
          <p:cNvSpPr/>
          <p:nvPr/>
        </p:nvSpPr>
        <p:spPr>
          <a:xfrm>
            <a:off x="6278728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Aturan ISR dan bagian kritis</a:t>
            </a:r>
            <a:endParaRPr lang="en-US" sz="1900" dirty="0"/>
          </a:p>
        </p:txBody>
      </p:sp>
      <p:sp>
        <p:nvSpPr>
          <p:cNvPr id="18" name="kartu"/>
          <p:cNvSpPr/>
          <p:nvPr/>
        </p:nvSpPr>
        <p:spPr>
          <a:xfrm>
            <a:off x="6278728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Timer perangkat keras</a:t>
            </a:r>
            <a:endParaRPr lang="en-US" sz="1900" dirty="0"/>
          </a:p>
        </p:txBody>
      </p:sp>
      <p:sp>
        <p:nvSpPr>
          <p:cNvPr id="21" name="kartu"/>
          <p:cNvSpPr/>
          <p:nvPr/>
        </p:nvSpPr>
        <p:spPr>
          <a:xfrm>
            <a:off x="6278728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616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07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Praktikum 1–4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Waktu Tanpa Menunggu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Meninggalkan delay(), beralih ke millis()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delay() Membekukan Program</a:t>
            </a:r>
            <a:endParaRPr lang="en-US" sz="3000" dirty="0"/>
          </a:p>
        </p:txBody>
      </p:sp>
      <p:pic>
        <p:nvPicPr>
          <p:cNvPr id="3" name="gambar" descr="/home/claude/work/slides/img/p05/p05-blocking-vs-nonblo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4428" y="1280160"/>
            <a:ext cx="7362839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Pola "Sudah Lewat Waktunya?"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764153"/>
          </a:xfrm>
          <a:prstGeom prst="roundRect">
            <a:avLst>
              <a:gd name="adj" fmla="val 2429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19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sebelumnya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sekarang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sekarang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sebelumnya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sebelumnya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sekarang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7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catat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kerjakanTugas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7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balik LED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bacaTombol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7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tetap jalan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r>
              <a:rPr lang="en-US" sz="1700" dirty="0">
                <a:solidFill>
                  <a:schemeClr val="tx1"/>
                </a:solidFill>
              </a:rPr>
              <a:t> = milidetik sejak ESP32 menyala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Belum waktunya →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chemeClr val="tx1"/>
                </a:solidFill>
              </a:rPr>
              <a:t> dilewati dalam mikrodetik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Simpan waktu di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long</a:t>
            </a:r>
            <a:r>
              <a:rPr lang="en-US" sz="1700" dirty="0">
                <a:solidFill>
                  <a:schemeClr val="tx1"/>
                </a:solidFill>
              </a:rPr>
              <a:t> (32 bit)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Bandingkan </a:t>
            </a:r>
            <a:r>
              <a:rPr lang="en-US" sz="1700" b="1" dirty="0">
                <a:solidFill>
                  <a:schemeClr val="tx1"/>
                </a:solidFill>
              </a:rPr>
              <a:t>selisih</a:t>
            </a:r>
            <a:r>
              <a:rPr lang="en-US" sz="1700" dirty="0">
                <a:solidFill>
                  <a:schemeClr val="tx1"/>
                </a:solidFill>
              </a:rPr>
              <a:t>; jangan menunggu di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Luapan millis(): Selisih Tetap Benar</a:t>
            </a:r>
            <a:endParaRPr lang="en-US" sz="3000" dirty="0"/>
          </a:p>
        </p:txBody>
      </p:sp>
      <p:pic>
        <p:nvPicPr>
          <p:cNvPr id="3" name="gambar" descr="/home/claude/work/slides/img/p05/p05-luapan-mill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50" y="1280160"/>
            <a:ext cx="1078079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Satu loop(), Banyak Tugas</a:t>
            </a:r>
            <a:endParaRPr lang="en-US" sz="3000" dirty="0"/>
          </a:p>
        </p:txBody>
      </p:sp>
      <p:pic>
        <p:nvPicPr>
          <p:cNvPr id="3" name="gambar" descr="/home/claude/work/slides/img/p05/p05-banyak-tu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269" y="1280160"/>
            <a:ext cx="10283158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Ikon: Font Awesome Free (CC BY 4.0), Material Design Icons (Apache 2.0)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Interupsi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Biarkan perangkat keras membunyikan bel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Polling vs Interupsi</a:t>
            </a:r>
            <a:endParaRPr lang="en-US" sz="3000" dirty="0"/>
          </a:p>
        </p:txBody>
      </p:sp>
      <p:pic>
        <p:nvPicPr>
          <p:cNvPr id="3" name="gambar" descr="/home/claude/work/slides/img/p05/p05-polling-vs-interup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4232"/>
            <a:ext cx="11094415" cy="40295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76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Ikon: Font Awesome Free (CC BY 4.0)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Apa yang Terjadi Saat Interupsi?</a:t>
            </a:r>
            <a:endParaRPr lang="en-US" sz="3000" dirty="0"/>
          </a:p>
        </p:txBody>
      </p:sp>
      <p:pic>
        <p:nvPicPr>
          <p:cNvPr id="3" name="gambar" descr="/home/claude/work/slides/img/p05/p05-alur-interup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2166"/>
            <a:ext cx="11094415" cy="46680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Tepi Naik, Tepi Turun, dan Pantulan</a:t>
            </a:r>
            <a:endParaRPr lang="en-US" sz="3000" dirty="0"/>
          </a:p>
        </p:txBody>
      </p:sp>
      <p:pic>
        <p:nvPicPr>
          <p:cNvPr id="3" name="gambar" descr="/home/claude/work/slides/img/p05/p05-tepi-naik-tu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0369" y="1280160"/>
            <a:ext cx="7470957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Memasang Interupsi Tombol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4846320"/>
          </a:xfrm>
          <a:prstGeom prst="roundRect">
            <a:avLst>
              <a:gd name="adj" fmla="val 1887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kode/02-interupsi-tombol (disederhanakan)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jumlahTekan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waktuSah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IRAM_ATTR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isrTombol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waktuSah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debounce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jumlahTekan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jumlahTekan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waktuSah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INPUT_PULLUP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attachInterrupt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digitalPinToInterrupt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isrTombol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FALLING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Pasang sekali di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Nama ISR ditulis </a:t>
            </a:r>
            <a:r>
              <a:rPr lang="en-US" sz="1700" b="1" dirty="0">
                <a:solidFill>
                  <a:schemeClr val="tx1"/>
                </a:solidFill>
              </a:rPr>
              <a:t>tanpa</a:t>
            </a:r>
            <a:r>
              <a:rPr lang="en-US" sz="1700" dirty="0">
                <a:solidFill>
                  <a:schemeClr val="tx1"/>
                </a:solidFill>
              </a:rPr>
              <a:t> tanda kurung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Mode: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FALLING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RISING</a:t>
            </a:r>
            <a:r>
              <a:rPr lang="en-US" sz="1700" dirty="0">
                <a:solidFill>
                  <a:schemeClr val="tx1"/>
                </a:solidFill>
              </a:rPr>
              <a:t>, atau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Untuk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</a:t>
            </a:r>
            <a:r>
              <a:rPr lang="en-US" sz="1700" dirty="0">
                <a:solidFill>
                  <a:schemeClr val="tx1"/>
                </a:solidFill>
              </a:rPr>
              <a:t>, tulis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+ 1</a:t>
            </a:r>
            <a:r>
              <a:rPr lang="en-US" sz="1700" dirty="0">
                <a:solidFill>
                  <a:schemeClr val="tx1"/>
                </a:solidFill>
              </a:rPr>
              <a:t>, bukan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x++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Aturan Emas ISR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stopwatc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Singkat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Catat saja: penghitung, waktu, penanda. Sisanya di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6255868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30188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memory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0188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IRAM_ATTR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530188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Kode ISR di RAM internal, langsung siap dijalankan.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548640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22960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war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138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Tanpa Serial &amp; delay()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Bisa </a:t>
            </a:r>
            <a:r>
              <a:rPr lang="en-US" sz="1500" i="1" dirty="0">
                <a:solidFill>
                  <a:schemeClr val="tx1"/>
                </a:solidFill>
              </a:rPr>
              <a:t>crash</a:t>
            </a:r>
            <a:r>
              <a:rPr lang="en-US" sz="1500" dirty="0">
                <a:solidFill>
                  <a:schemeClr val="tx1"/>
                </a:solidFill>
              </a:rPr>
              <a:t> (Guru Meditation) dan ESP32 me-</a:t>
            </a:r>
            <a:r>
              <a:rPr lang="en-US" sz="1500" i="1" dirty="0">
                <a:solidFill>
                  <a:schemeClr val="tx1"/>
                </a:solidFill>
              </a:rPr>
              <a:t>reset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6255868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pad"/>
          <p:cNvSpPr/>
          <p:nvPr/>
        </p:nvSpPr>
        <p:spPr>
          <a:xfrm>
            <a:off x="6530188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20" name="ikon-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42138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30188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volatile + bagian kritis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530188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bersama selalu dibaca ulang dan diakses tanpa disela.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Bagian Kritis: Salin lalu Nolkan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4129278"/>
          </a:xfrm>
          <a:prstGeom prst="roundRect">
            <a:avLst>
              <a:gd name="adj" fmla="val 2214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pola ESP32 dua inti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562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portMUX_TYPE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kunci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portMUX_INITIALIZER_UNLOCKED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IRAM_ATTR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isrTombol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portENTER_CRITICAL_ISR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kunci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jumlahTekan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jumlahTekan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portEXIT_CRITICAL_ISR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kunci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portENTER_CRITICAL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kunci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jumlahTekan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jumlahTekan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portEXIT_CRITICAL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kunci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4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 luar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Tanpa kunci, ISR bisa menyela antara salin dan nolkan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Mematikan interupsi inti ini + memegang </a:t>
            </a:r>
            <a:r>
              <a:rPr lang="en-US" sz="1700" i="1" dirty="0">
                <a:solidFill>
                  <a:schemeClr val="tx1"/>
                </a:solidFill>
              </a:rPr>
              <a:t>spinlock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 ISR pakai versi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_ISR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Harus </a:t>
            </a:r>
            <a:r>
              <a:rPr lang="en-US" sz="1700" b="1" dirty="0">
                <a:solidFill>
                  <a:schemeClr val="tx1"/>
                </a:solidFill>
              </a:rPr>
              <a:t>sangat pendek</a:t>
            </a:r>
            <a:r>
              <a:rPr lang="en-US" sz="1700" dirty="0">
                <a:solidFill>
                  <a:schemeClr val="tx1"/>
                </a:solidFill>
              </a:rPr>
              <a:t>: tanpa Serial, delay, FreeRTOS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Timer Perangkat Keras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Alarm dapur di dalam cip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Cara Kerja Timer ESP32</a:t>
            </a:r>
            <a:endParaRPr lang="en-US" sz="3000" dirty="0"/>
          </a:p>
        </p:txBody>
      </p:sp>
      <p:pic>
        <p:nvPicPr>
          <p:cNvPr id="3" name="gambar" descr="/home/claude/work/slides/img/p05/p05-timer-hardw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234" y="1280160"/>
            <a:ext cx="10561227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Timer: Tiga Langkah API 3.x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4573778"/>
          </a:xfrm>
          <a:prstGeom prst="roundRect">
            <a:avLst>
              <a:gd name="adj" fmla="val 1999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kode/03-timer-hardware (disederhanakan)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400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hw_timer_t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timerKu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IRAM_ATTR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isrTimer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singkat: balik LED, catat waktu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1 MHz → 1 tik = 1 µs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timerKu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timerBegin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1000000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pasang ISR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timerAttachInterrupt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timerKu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isrTimer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alarm 500.000 tik, ulangi terus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timerAlarm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timerKu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500000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Nilai alarm = frekuensi × selang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700" dirty="0">
                <a:solidFill>
                  <a:schemeClr val="tx1"/>
                </a:solidFill>
              </a:rPr>
              <a:t> = berulang;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700" dirty="0">
                <a:solidFill>
                  <a:schemeClr val="tx1"/>
                </a:solidFill>
              </a:rPr>
              <a:t> = tanpa batas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Frekuensi ±1.221 Hz–40 MHz; di luar itu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Contoh lama di internet (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timerBegin(0, 80, true)</a:t>
            </a:r>
            <a:r>
              <a:rPr lang="en-US" sz="1700" dirty="0">
                <a:solidFill>
                  <a:schemeClr val="tx1"/>
                </a:solidFill>
              </a:rPr>
              <a:t>, core 2.x) tidak berlaku lagi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Menghitung Nilai Alarm</a:t>
            </a:r>
            <a:endParaRPr lang="en-US" sz="3000" dirty="0"/>
          </a:p>
        </p:txBody>
      </p:sp>
      <p:graphicFrame>
        <p:nvGraphicFramePr>
          <p:cNvPr id="20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  <a:gridCol w="237744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Frekuensi timer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 tik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Selang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Nilai alarm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MHz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µs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detik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1.000.000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MHz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µs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500 ms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500.000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MHz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µs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ms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10.000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kHz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 µs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detik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10.000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Praktikum: Satu Rangkaian, Empat Program</a:t>
            </a:r>
            <a:endParaRPr lang="en-US" sz="3000" dirty="0"/>
          </a:p>
        </p:txBody>
      </p:sp>
      <p:pic>
        <p:nvPicPr>
          <p:cNvPr id="3" name="gambar" descr="/home/claude/repo/pertemuan-05-waktu-interupsi/gambar/p05-rangka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7305" y="1280160"/>
            <a:ext cx="6777085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Gambar komponen: @wokwi/elements (MIT, © Uri Shaked)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Empat Praktikum</a:t>
            </a:r>
            <a:endParaRPr lang="en-US" sz="3000" dirty="0"/>
          </a:p>
        </p:txBody>
      </p:sp>
      <p:graphicFrame>
        <p:nvGraphicFramePr>
          <p:cNvPr id="22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Praktikum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Konsep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Yang diamati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 Dua LED tanpa delay()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Pola millis(), banyak tugas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LED beda irama, tombol tetap sigap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 Interupsi tombol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ISR, volatile, bagian kritis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Tekanan sah vs interupsi mentah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 Timer perangkat keras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timerBegin, timerAlarm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LED hijau tepat tiap 500 ms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 Gim waktu reaksi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micros(), ISR, tahapan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Waktu reaksi dan deteksi curang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4: Tahapan Gim Reaksi</a:t>
            </a:r>
            <a:endParaRPr lang="en-US" sz="3000" dirty="0"/>
          </a:p>
        </p:txBody>
      </p:sp>
      <p:pic>
        <p:nvPicPr>
          <p:cNvPr id="3" name="gambar" descr="/home/claude/work/slides/img/p05/p05-tahapan-gim-reak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828" y="1280160"/>
            <a:ext cx="10894039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sebelumnya = 4.294.967.000 dan sekarang = 200 (unsigned long 32-bit). Berapa sekarang − sebelumnya?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−4.294.966.800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200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496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4.294.967.200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647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r>
              <a:rPr lang="en-US" sz="2000" dirty="0">
                <a:solidFill>
                  <a:schemeClr val="bg1"/>
                </a:solidFill>
              </a:rPr>
              <a:t> memblokir; pola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r>
              <a:rPr lang="en-US" sz="2000" dirty="0">
                <a:solidFill>
                  <a:schemeClr val="bg1"/>
                </a:solidFill>
              </a:rPr>
              <a:t> melirik jam tanpa menunggu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791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3317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Bandingkan </a:t>
            </a:r>
            <a:r>
              <a:rPr lang="en-US" sz="2000" b="1" dirty="0">
                <a:solidFill>
                  <a:schemeClr val="bg1"/>
                </a:solidFill>
              </a:rPr>
              <a:t>selisih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long</a:t>
            </a:r>
            <a:r>
              <a:rPr lang="en-US" sz="2000" dirty="0">
                <a:solidFill>
                  <a:schemeClr val="bg1"/>
                </a:solidFill>
              </a:rPr>
              <a:t> → aman saat luapan (±49,7 hari)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935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2461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Interupsi: perangkat keras memanggil </a:t>
            </a:r>
            <a:r>
              <a:rPr lang="en-US" sz="2000" b="1" dirty="0">
                <a:solidFill>
                  <a:schemeClr val="bg1"/>
                </a:solidFill>
              </a:rPr>
              <a:t>ISR</a:t>
            </a:r>
            <a:r>
              <a:rPr lang="en-US" sz="2000" dirty="0">
                <a:solidFill>
                  <a:schemeClr val="bg1"/>
                </a:solidFill>
              </a:rPr>
              <a:t> pada tepi FALLING/RISING/CHANGE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0799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41605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ISR singkat,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IRAM_ATTR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</a:t>
            </a:r>
            <a:r>
              <a:rPr lang="en-US" sz="2000" dirty="0">
                <a:solidFill>
                  <a:schemeClr val="bg1"/>
                </a:solidFill>
              </a:rPr>
              <a:t>, bagian kritis, tanpa Serial/delay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42239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50749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Timer</a:t>
            </a:r>
            <a:r>
              <a:rPr lang="en-US" sz="2000" dirty="0">
                <a:solidFill>
                  <a:schemeClr val="bg1"/>
                </a:solidFill>
              </a:rPr>
              <a:t> 64-bit: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timerBegin</a:t>
            </a:r>
            <a:r>
              <a:rPr lang="en-US" sz="2000" dirty="0">
                <a:solidFill>
                  <a:schemeClr val="bg1"/>
                </a:solidFill>
              </a:rPr>
              <a:t> →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timerAttachInterrupt</a:t>
            </a:r>
            <a:r>
              <a:rPr lang="en-US" sz="2000" dirty="0">
                <a:solidFill>
                  <a:schemeClr val="bg1"/>
                </a:solidFill>
              </a:rPr>
              <a:t> →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timerAlarm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6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1: lampu lalu lintas tanpa delay()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3: debounce yang lebih kokoh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modul Pertemuan 6: Input Analog (ADC)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Selesaikan Praktikum 3 dan 4 bila belum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panduan/06-mengatasi-masalah.md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Tanyakan di forum kelas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5: Waktu dan Interupsi</dc:title>
  <dc:subject>Sistem Tertanam — Pertemuan 5</dc:subject>
  <dc:creator>Anton Prafanto</dc:creator>
  <cp:lastModifiedBy>Anton Prafanto</cp:lastModifiedBy>
  <cp:revision>1</cp:revision>
  <dcterms:created xsi:type="dcterms:W3CDTF">2026-10-19T01:00:16Z</dcterms:created>
  <dcterms:modified xsi:type="dcterms:W3CDTF">2026-10-19T01:00:16Z</dcterms:modified>
</cp:coreProperties>
</file>