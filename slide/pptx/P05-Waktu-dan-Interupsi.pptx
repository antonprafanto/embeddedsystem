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357ebed3-3184-cae1-2c7b-49eda6d6689c}">
          <p14:sldIdLst>
            <p14:sldId id="256"/>
            <p14:sldId id="257"/>
            <p14:sldId id="258"/>
          </p14:sldIdLst>
        </p14:section>
        <p14:section name="Waktu" id="{56fbe78f-d1e6-5669-c172-5dbe1ff468e1}">
          <p14:sldIdLst>
            <p14:sldId id="259"/>
            <p14:sldId id="260"/>
            <p14:sldId id="261"/>
            <p14:sldId id="262"/>
            <p14:sldId id="263"/>
          </p14:sldIdLst>
        </p14:section>
        <p14:section name="Interupsi" id="{1055ce87-beec-ba48-bb06-835989fd0bda}">
          <p14:sldIdLst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Timer" id="{a42ad52f-2972-0913-9a2e-430426aa46fd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Penutup" id="{0188f455-dc83-603a-0c4a-847f6dd815f6}">
          <p14:sldIdLst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Buka dengan demo singkat: program LED berkedip dengan delay(1000) plus tombol. Minta satu mahasiswa menekan tombol sebentar beberapa kali. Tanyakan: mengapa sebagian tekanan tidak terbaca? Simpan jawabannya untuk dibahas di slide garis waktu.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Target akhir sesi: semua mahasiswa menjalankan minimal Praktikum 1 dan 2 (Wokwi boleh). Praktikum 3 dan 4 bisa dilanjutkan di rumah.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Analogi: memasak mi sambil berdiri mematung menunggu air mendidih; bel pintu dan telur gosong diabaikan. Bagian A: tekanan singkat terlewat, tekanan panjang terlambat. Bagian B: loop() berputar terus sambil melirik jam. Catatan: di ESP32 delay() memanggil vTaskDelay(), jadi tugas sistem lain tetap jalan, tetapi loop() berhenti.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 koki yang mencatat jam mulai lalu sesekali melirik jam. micros() sama, satuannya mikrodetik, cocok untuk durasi singkat. Pertanyaan pancingan: apa yang terjadi kalau INTERVAL disimpan di int?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millis() meluap setelah 2^32 ms = 49 hari 17 jam 2 menit 47 detik; micros() setelah 2^32 µs ≈ 71,6 menit. Contoh: 200 − 4.294.967.000 = 496 (unsigned, benar). Cara salah: sebelumnya + 1000 meluap jadi 704, sehingga tugas jalan 1 ms kemudian dan terus berulang. Analogi odometer motor.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Multitasking kooperatif: setiap tugas punya variabel waktu dan selang sendiri, mengecek lalu segera selesai. Satu delay(500) di salah satu tugas memperlambat semuanya (eksperimen Praktikum 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Analogi: bolak-balik mengintip pintu (polling) vs memasang bel pintu (interupsi). Polling tidak salah; untuk tombol manusia, pola millis() sudah cukup. Interupsi unggul untuk kejadian singkat atau yang waktunya harus dicatat tepat.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Empat langkah: tepi terdeteksi, CPU menyimpan posisi dan register (pembatas buku), ISR dijalankan, CPU kembali ke baris berikutnya. Tekankan: selama ISR berjalan, program utama tertunda, jadi ISR harus singkat.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INPUT_PULLUP: ditekan = tepi turun (FALLING), dilepas = tepi naik (RISING), CHANGE = keduanya. Bagian B: pantulan membuat satu tekanan memicu beberapa interupsi; debounce di ISR menerima yang pertama dan mengabaikan yang datang &lt; 200 ms sesudahnya. Wokwi menyimulasikan pantulan secara bawaan.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digitalPinToInterrupt() di ESP32 menghasilkan nomor yang sama dengan GPIO, tetapi biasakan dipakai. Kelemahan debounce ini: tombol asli bisa memantul saat dilepas; bila ditahan &gt; 200 ms, pantulan pelepasan bisa terhitung (Latihan 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Analogi: mengangkat telepon di tengah rapat — catat pesan, tutup, kembali. ISR atau bagian kritis yang macet terlalu lama memicu interrupt watchdog (300 ms). Contoh resmi Arduino-ESP32 memakai ARDUINO_ISR_ATTR; kita memakai IRAM_ATTR.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skenario: n = 5, ISR datang, jumlahTekan = 6, lalu dinolkan → tekanan ke-6 hilang. ESP32 dua inti: interupsi dimatikan hanya di inti yang berjalan; inti lain menunggu di spinlock. ESP-IDF menyebutnya taskENTER_CRITICAL().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Datasheet v5.3 §4.4.1: empat timer serbaguna 64-bit dalam dua grup, prescaler 16-bit (2–65.536), naik/turun, auto-reload. Sumber detak: jam APB (umumnya 80 MHz) ÷ 80 = 1 MHz → 1 tik = 1 µs.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timerBegin() langsung memulai timer. timerBegin(1000) gagal karena pembagi 80.000 &gt; 65.536. Praktikum 3: walau loop() sibuk (BEBAN_LOOP_MS = 1700), LED hijau tetap tepat tiap 500 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Latihan lisan: 250 ms pada 1 MHz? (250.000). 120 BPM pada 1 MHz? (0,5 detik → 500.000). Kapan memakai millis() vs timer: millis() untuk tugas yang boleh meleset beberapa milidetik; timer untuk irama yang harus tepat walau loop() sibuk.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LED merah GPIO 23, LED hijau GPIO 19 (masing-masing lewat 220 Ω), tombol GPIO 4 ke GND (INPUT_PULLUP). Rakit sekali untuk keempat praktikum. Tips tombol 4 kaki: pakai kaki diagonal.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Praktikum 1 dan 2 wajib di kelas. Eksperimen favorit: tambahkan delay(500) di Praktikum 1; ubah FALLING jadi CHANGE di Praktikum 2; BEBAN_LOOP_MS = 1700 di Praktikum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ISR mencatat micros() saat tekanan pertama; loop() memutuskan curang atau sah. Reaksi &lt; 100 ms dianggap menebak, &gt; 3 detik hangus. random(2000, 5001) menghasilkan 2.000–5.000 ms; random() ESP32 memakai pembangkit acak perangkat keras. Pola keadaan ini cikal bakal FSM di Pertemuan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Jawaban: C. 200 − 4.294.967.000 + 4.294.967.296 = 496, sama dengan waktu yang benar-benar berlalu (296 + 200 ms).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UDUL">
    <p:bg>
      <p:bgPr>
        <a:solidFill>
          <a:srgbClr val="0F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tools/kit/slides/assets/pcb-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0"/>
            <a:ext cx="560801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17320"/>
            <a:ext cx="65836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b="1" spc="3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1920240"/>
            <a:ext cx="64008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931920"/>
            <a:ext cx="62179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FE6D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6" name="Text 0"/>
          <p:cNvSpPr/>
          <p:nvPr/>
        </p:nvSpPr>
        <p:spPr>
          <a:xfrm>
            <a:off x="548640" y="57150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6DA"/>
                </a:solidFill>
              </a:rPr>
              <a:t>Sistem Tertanam (Embedded Systems) · S1 Teknik Elektro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548640" y="60350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6DA"/>
                </a:solidFill>
              </a:rPr>
              <a:t>Dosen Pengampu: Anton Prafanto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GIAN">
    <p:bg>
      <p:bgPr>
        <a:solidFill>
          <a:srgbClr val="0F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tools/kit/slides/assets/pcb-art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0"/>
            <a:ext cx="396209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000" b="1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971800"/>
            <a:ext cx="7315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29768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FE6D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S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Pertemuan 05 · Waktu dan Interupsi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LAP">
    <p:bg>
      <p:bgPr>
        <a:solidFill>
          <a:srgbClr val="0F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FAF"/>
                </a:solidFill>
              </a:rPr>
              <a:t>Pertemuan 05 · Waktu dan Interupsi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F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4173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chemeClr val="accent2"/>
                </a:solidFill>
              </a:rPr>
              <a:t>PERTEMUAN 05</a:t>
            </a:r>
            <a:endParaRPr lang="en-US" sz="18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1920240"/>
            <a:ext cx="6400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Waktu dan Interupsi</a:t>
            </a:r>
            <a:endParaRPr lang="en-US" sz="4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393192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6DA"/>
                </a:solidFill>
              </a:rPr>
              <a:t>Dari delay() yang membekukan program sampai timer perangkat keras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Tujuan Pembelajaran</a:t>
            </a:r>
            <a:endParaRPr lang="en-US" sz="3000" dirty="0"/>
          </a:p>
        </p:txBody>
      </p:sp>
      <p:sp>
        <p:nvSpPr>
          <p:cNvPr id="3" name="pad"/>
          <p:cNvSpPr/>
          <p:nvPr/>
        </p:nvSpPr>
        <p:spPr>
          <a:xfrm>
            <a:off x="548640" y="14996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4" name="ikon-clo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641348"/>
            <a:ext cx="283464" cy="2834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3258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Menjelaskan masalah </a:t>
            </a:r>
            <a:r>
              <a:rPr lang="en-US" sz="20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delay()</a:t>
            </a:r>
            <a:r>
              <a:rPr lang="en-US" sz="2000" dirty="0">
                <a:solidFill>
                  <a:schemeClr val="tx1"/>
                </a:solidFill>
              </a:rPr>
              <a:t> dan menggantinya dengan pola </a:t>
            </a:r>
            <a:r>
              <a:rPr lang="en-US" sz="20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millis()</a:t>
            </a:r>
            <a:endParaRPr lang="en-US" sz="2000" dirty="0"/>
          </a:p>
        </p:txBody>
      </p:sp>
      <p:sp>
        <p:nvSpPr>
          <p:cNvPr id="6" name="pad"/>
          <p:cNvSpPr/>
          <p:nvPr/>
        </p:nvSpPr>
        <p:spPr>
          <a:xfrm>
            <a:off x="548640" y="24140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7" name="ikon-task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" y="2555748"/>
            <a:ext cx="283464" cy="28346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Menjalankan banyak tugas berkala dan memahami </a:t>
            </a:r>
            <a:r>
              <a:rPr lang="en-US" sz="2000" b="1" dirty="0">
                <a:solidFill>
                  <a:schemeClr val="tx1"/>
                </a:solidFill>
              </a:rPr>
              <a:t>luapan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millis()</a:t>
            </a:r>
            <a:endParaRPr lang="en-US" sz="2000" dirty="0"/>
          </a:p>
        </p:txBody>
      </p:sp>
      <p:sp>
        <p:nvSpPr>
          <p:cNvPr id="9" name="pad"/>
          <p:cNvSpPr/>
          <p:nvPr/>
        </p:nvSpPr>
        <p:spPr>
          <a:xfrm>
            <a:off x="548640" y="33284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bolt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3470148"/>
            <a:ext cx="283464" cy="28346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1546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Membedakan </a:t>
            </a:r>
            <a:r>
              <a:rPr lang="en-US" sz="2000" i="1" dirty="0">
                <a:solidFill>
                  <a:schemeClr val="tx1"/>
                </a:solidFill>
              </a:rPr>
              <a:t>polling</a:t>
            </a:r>
            <a:r>
              <a:rPr lang="en-US" sz="2000" dirty="0">
                <a:solidFill>
                  <a:schemeClr val="tx1"/>
                </a:solidFill>
              </a:rPr>
              <a:t> dan </a:t>
            </a:r>
            <a:r>
              <a:rPr lang="en-US" sz="2000" b="1" dirty="0">
                <a:solidFill>
                  <a:schemeClr val="tx1"/>
                </a:solidFill>
              </a:rPr>
              <a:t>interupsi</a:t>
            </a:r>
            <a:r>
              <a:rPr lang="en-US" sz="2000" dirty="0">
                <a:solidFill>
                  <a:schemeClr val="tx1"/>
                </a:solidFill>
              </a:rPr>
              <a:t>, lalu memasang </a:t>
            </a:r>
            <a:r>
              <a:rPr lang="en-US" sz="20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attachInterrupt()</a:t>
            </a:r>
            <a:endParaRPr lang="en-US" sz="2000" dirty="0"/>
          </a:p>
        </p:txBody>
      </p:sp>
      <p:sp>
        <p:nvSpPr>
          <p:cNvPr id="12" name="pad"/>
          <p:cNvSpPr/>
          <p:nvPr/>
        </p:nvSpPr>
        <p:spPr>
          <a:xfrm>
            <a:off x="548640" y="42428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3" name="ikon-shield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" y="4384548"/>
            <a:ext cx="283464" cy="28346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25880" y="40690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Menulis </a:t>
            </a:r>
            <a:r>
              <a:rPr lang="en-US" sz="2000" b="1" dirty="0">
                <a:solidFill>
                  <a:schemeClr val="tx1"/>
                </a:solidFill>
              </a:rPr>
              <a:t>ISR yang aman</a:t>
            </a:r>
            <a:r>
              <a:rPr lang="en-US" sz="2000" dirty="0">
                <a:solidFill>
                  <a:schemeClr val="tx1"/>
                </a:solidFill>
              </a:rPr>
              <a:t>: singkat, </a:t>
            </a:r>
            <a:r>
              <a:rPr lang="en-US" sz="20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IRAM_ATTR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volatile</a:t>
            </a:r>
            <a:r>
              <a:rPr lang="en-US" sz="2000" dirty="0">
                <a:solidFill>
                  <a:schemeClr val="tx1"/>
                </a:solidFill>
              </a:rPr>
              <a:t>, bagian kritis</a:t>
            </a:r>
            <a:endParaRPr lang="en-US" sz="2000" dirty="0"/>
          </a:p>
        </p:txBody>
      </p:sp>
      <p:sp>
        <p:nvSpPr>
          <p:cNvPr id="15" name="pad"/>
          <p:cNvSpPr/>
          <p:nvPr/>
        </p:nvSpPr>
        <p:spPr>
          <a:xfrm>
            <a:off x="548640" y="51572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6" name="ikon-stopwatch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" y="5298948"/>
            <a:ext cx="283464" cy="28346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325880" y="49834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Memakai </a:t>
            </a:r>
            <a:r>
              <a:rPr lang="en-US" sz="2000" b="1" dirty="0">
                <a:solidFill>
                  <a:schemeClr val="tx1"/>
                </a:solidFill>
              </a:rPr>
              <a:t>timer perangkat keras</a:t>
            </a:r>
            <a:r>
              <a:rPr lang="en-US" sz="2000" dirty="0">
                <a:solidFill>
                  <a:schemeClr val="tx1"/>
                </a:solidFill>
              </a:rPr>
              <a:t> dan mengukur waktu dengan </a:t>
            </a:r>
            <a:r>
              <a:rPr lang="en-US" sz="20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micros()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Peta Materi Hari Ini</a:t>
            </a:r>
            <a:endParaRPr lang="en-US" sz="3000" dirty="0"/>
          </a:p>
        </p:txBody>
      </p:sp>
      <p:sp>
        <p:nvSpPr>
          <p:cNvPr id="3" name="kartu"/>
          <p:cNvSpPr/>
          <p:nvPr/>
        </p:nvSpPr>
        <p:spPr>
          <a:xfrm>
            <a:off x="548640" y="1325880"/>
            <a:ext cx="5364328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325880"/>
            <a:ext cx="4267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Masalah delay()</a:t>
            </a:r>
            <a:endParaRPr lang="en-US" sz="1900" dirty="0"/>
          </a:p>
        </p:txBody>
      </p:sp>
      <p:sp>
        <p:nvSpPr>
          <p:cNvPr id="6" name="kartu"/>
          <p:cNvSpPr/>
          <p:nvPr/>
        </p:nvSpPr>
        <p:spPr>
          <a:xfrm>
            <a:off x="548640" y="2194560"/>
            <a:ext cx="5364328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194560"/>
            <a:ext cx="4267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millis(), micros(), dan luapan</a:t>
            </a:r>
            <a:endParaRPr lang="en-US" sz="1900" dirty="0"/>
          </a:p>
        </p:txBody>
      </p:sp>
      <p:sp>
        <p:nvSpPr>
          <p:cNvPr id="9" name="kartu"/>
          <p:cNvSpPr/>
          <p:nvPr/>
        </p:nvSpPr>
        <p:spPr>
          <a:xfrm>
            <a:off x="548640" y="3063240"/>
            <a:ext cx="5364328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063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063240"/>
            <a:ext cx="4267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Banyak tugas dalam satu loop()</a:t>
            </a:r>
            <a:endParaRPr lang="en-US" sz="1900" dirty="0"/>
          </a:p>
        </p:txBody>
      </p:sp>
      <p:sp>
        <p:nvSpPr>
          <p:cNvPr id="12" name="kartu"/>
          <p:cNvSpPr/>
          <p:nvPr/>
        </p:nvSpPr>
        <p:spPr>
          <a:xfrm>
            <a:off x="548640" y="3931920"/>
            <a:ext cx="5364328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931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3931920"/>
            <a:ext cx="4267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Polling vs interupsi</a:t>
            </a:r>
            <a:endParaRPr lang="en-US" sz="1900" dirty="0"/>
          </a:p>
        </p:txBody>
      </p:sp>
      <p:sp>
        <p:nvSpPr>
          <p:cNvPr id="15" name="kartu"/>
          <p:cNvSpPr/>
          <p:nvPr/>
        </p:nvSpPr>
        <p:spPr>
          <a:xfrm>
            <a:off x="6278728" y="1325880"/>
            <a:ext cx="5364328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05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7193128" y="1325880"/>
            <a:ext cx="4267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Aturan ISR dan bagian kritis</a:t>
            </a:r>
            <a:endParaRPr lang="en-US" sz="1900" dirty="0"/>
          </a:p>
        </p:txBody>
      </p:sp>
      <p:sp>
        <p:nvSpPr>
          <p:cNvPr id="18" name="kartu"/>
          <p:cNvSpPr/>
          <p:nvPr/>
        </p:nvSpPr>
        <p:spPr>
          <a:xfrm>
            <a:off x="6278728" y="2194560"/>
            <a:ext cx="5364328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61608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06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7193128" y="2194560"/>
            <a:ext cx="4267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Timer perangkat keras</a:t>
            </a:r>
            <a:endParaRPr lang="en-US" sz="1900" dirty="0"/>
          </a:p>
        </p:txBody>
      </p:sp>
      <p:sp>
        <p:nvSpPr>
          <p:cNvPr id="21" name="kartu"/>
          <p:cNvSpPr/>
          <p:nvPr/>
        </p:nvSpPr>
        <p:spPr>
          <a:xfrm>
            <a:off x="6278728" y="3063240"/>
            <a:ext cx="5364328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61608" y="3063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07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7193128" y="3063240"/>
            <a:ext cx="4267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Praktikum 1–4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971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Waktu Tanpa Menunggu</a:t>
            </a:r>
            <a:endParaRPr lang="en-US" sz="3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2976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6DA"/>
                </a:solidFill>
              </a:rPr>
              <a:t>Meninggalkan delay(), beralih ke millis()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delay() Membekukan Program</a:t>
            </a:r>
            <a:endParaRPr lang="en-US" sz="3000" dirty="0"/>
          </a:p>
        </p:txBody>
      </p:sp>
      <p:pic>
        <p:nvPicPr>
          <p:cNvPr id="3" name="gambar" descr="/home/claude/work/slides/img/p05/p05-blocking-vs-nonbloc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14428" y="1280160"/>
            <a:ext cx="7362839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Pola "Sudah Lewat Waktunya?"</a:t>
            </a:r>
            <a:endParaRPr lang="en-US" sz="3000" dirty="0"/>
          </a:p>
        </p:txBody>
      </p:sp>
      <p:sp>
        <p:nvSpPr>
          <p:cNvPr id="3" name="blok-kode"/>
          <p:cNvSpPr/>
          <p:nvPr/>
        </p:nvSpPr>
        <p:spPr>
          <a:xfrm>
            <a:off x="548640" y="1325880"/>
            <a:ext cx="6656649" cy="3764153"/>
          </a:xfrm>
          <a:prstGeom prst="roundRect">
            <a:avLst>
              <a:gd name="adj" fmla="val 2429"/>
            </a:avLst>
          </a:prstGeom>
          <a:solidFill>
            <a:srgbClr val="10231A"/>
          </a:solidFill>
          <a:ln w="12700">
            <a:solidFill>
              <a:srgbClr val="1023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99032"/>
            <a:ext cx="61994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src/main.cpp</a:t>
            </a:r>
            <a:endParaRPr lang="en-US" sz="1100" dirty="0"/>
          </a:p>
        </p:txBody>
      </p:sp>
      <p:sp>
        <p:nvSpPr>
          <p:cNvPr id="5" name="kode"/>
          <p:cNvSpPr txBox="1"/>
          <p:nvPr/>
        </p:nvSpPr>
        <p:spPr>
          <a:xfrm>
            <a:off x="777240" y="1783080"/>
            <a:ext cx="6290889" cy="3197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sebelumnya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INTERVAL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1000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7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sekarang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millis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7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sekarang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sebelumnya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INTERVAL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sebelumnya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sekarang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r>
              <a:rPr lang="en-US" sz="17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catat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7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kerjakanTugas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</a:t>
            </a:r>
            <a:r>
              <a:rPr lang="en-US" sz="17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balik LED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7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bacaTombol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</a:t>
            </a:r>
            <a:r>
              <a:rPr lang="en-US" sz="17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tetap jalan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700" dirty="0"/>
          </a:p>
        </p:txBody>
      </p:sp>
      <p:sp>
        <p:nvSpPr>
          <p:cNvPr id="6" name="daftar-poin"/>
          <p:cNvSpPr txBox="1"/>
          <p:nvPr/>
        </p:nvSpPr>
        <p:spPr>
          <a:xfrm>
            <a:off x="7571049" y="1325880"/>
            <a:ext cx="4072006" cy="484632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millis()</a:t>
            </a:r>
            <a:r>
              <a:rPr lang="en-US" sz="1700" dirty="0">
                <a:solidFill>
                  <a:schemeClr val="tx1"/>
                </a:solidFill>
              </a:rPr>
              <a:t> = milidetik sejak ESP32 menyala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Belum waktunya →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700" dirty="0">
                <a:solidFill>
                  <a:schemeClr val="tx1"/>
                </a:solidFill>
              </a:rPr>
              <a:t> dilewati dalam mikrodetik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Simpan waktu di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 long</a:t>
            </a:r>
            <a:r>
              <a:rPr lang="en-US" sz="1700" dirty="0">
                <a:solidFill>
                  <a:schemeClr val="tx1"/>
                </a:solidFill>
              </a:rPr>
              <a:t> (32 bit)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Bandingkan </a:t>
            </a:r>
            <a:r>
              <a:rPr lang="en-US" sz="1700" b="1" dirty="0">
                <a:solidFill>
                  <a:schemeClr val="tx1"/>
                </a:solidFill>
              </a:rPr>
              <a:t>selisih</a:t>
            </a:r>
            <a:r>
              <a:rPr lang="en-US" sz="1700" dirty="0">
                <a:solidFill>
                  <a:schemeClr val="tx1"/>
                </a:solidFill>
              </a:rPr>
              <a:t>; jangan menunggu di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loop()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Luapan millis(): Selisih Tetap Benar</a:t>
            </a:r>
            <a:endParaRPr lang="en-US" sz="3000" dirty="0"/>
          </a:p>
        </p:txBody>
      </p:sp>
      <p:pic>
        <p:nvPicPr>
          <p:cNvPr id="3" name="gambar" descr="/home/claude/work/slides/img/p05/p05-luapan-mill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450" y="1280160"/>
            <a:ext cx="10780795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Satu loop(), Banyak Tugas</a:t>
            </a:r>
            <a:endParaRPr lang="en-US" sz="3000" dirty="0"/>
          </a:p>
        </p:txBody>
      </p:sp>
      <p:pic>
        <p:nvPicPr>
          <p:cNvPr id="3" name="gambar" descr="/home/claude/work/slides/img/p05/p05-banyak-tug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269" y="1280160"/>
            <a:ext cx="10283158" cy="46177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7103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Ikon: Font Awesome Free (CC BY 4.0), Material Design Icons (Apache 2.0)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971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Interupsi</a:t>
            </a:r>
            <a:endParaRPr lang="en-US" sz="3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2976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6DA"/>
                </a:solidFill>
              </a:rPr>
              <a:t>Biarkan perangkat keras membunyikan bel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Polling vs Interupsi</a:t>
            </a:r>
            <a:endParaRPr lang="en-US" sz="3000" dirty="0"/>
          </a:p>
        </p:txBody>
      </p:sp>
      <p:pic>
        <p:nvPicPr>
          <p:cNvPr id="3" name="gambar" descr="/home/claude/work/slides/img/p05/p05-polling-vs-interups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4232"/>
            <a:ext cx="11094415" cy="402957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6769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Ikon: Font Awesome Free (CC BY 4.0)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Apa yang Terjadi Saat Interupsi?</a:t>
            </a:r>
            <a:endParaRPr lang="en-US" sz="3000" dirty="0"/>
          </a:p>
        </p:txBody>
      </p:sp>
      <p:pic>
        <p:nvPicPr>
          <p:cNvPr id="3" name="gambar" descr="/home/claude/work/slides/img/p05/p05-alur-interups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92166"/>
            <a:ext cx="11094415" cy="466802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Tepi Naik, Tepi Turun, dan Pantulan</a:t>
            </a:r>
            <a:endParaRPr lang="en-US" sz="3000" dirty="0"/>
          </a:p>
        </p:txBody>
      </p:sp>
      <p:pic>
        <p:nvPicPr>
          <p:cNvPr id="3" name="gambar" descr="/home/claude/work/slides/img/p05/p05-tepi-naik-tur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60369" y="1280160"/>
            <a:ext cx="7470957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Memasang Interupsi Tombol</a:t>
            </a:r>
            <a:endParaRPr lang="en-US" sz="3000" dirty="0"/>
          </a:p>
        </p:txBody>
      </p:sp>
      <p:sp>
        <p:nvSpPr>
          <p:cNvPr id="3" name="blok-kode"/>
          <p:cNvSpPr/>
          <p:nvPr/>
        </p:nvSpPr>
        <p:spPr>
          <a:xfrm>
            <a:off x="548640" y="1325880"/>
            <a:ext cx="6656649" cy="4846320"/>
          </a:xfrm>
          <a:prstGeom prst="roundRect">
            <a:avLst>
              <a:gd name="adj" fmla="val 1887"/>
            </a:avLst>
          </a:prstGeom>
          <a:solidFill>
            <a:srgbClr val="10231A"/>
          </a:solidFill>
          <a:ln w="12700">
            <a:solidFill>
              <a:srgbClr val="1023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99032"/>
            <a:ext cx="61994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kode/02-interupsi-tombol (disederhanakan)</a:t>
            </a:r>
            <a:endParaRPr lang="en-US" sz="1100" dirty="0"/>
          </a:p>
        </p:txBody>
      </p:sp>
      <p:sp>
        <p:nvSpPr>
          <p:cNvPr id="5" name="kode"/>
          <p:cNvSpPr txBox="1"/>
          <p:nvPr/>
        </p:nvSpPr>
        <p:spPr>
          <a:xfrm>
            <a:off x="777240" y="1783080"/>
            <a:ext cx="6290889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volatile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jumlahTekan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volatile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waktuSah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IRAM_ATTR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isrTombol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7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millis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7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waktuSah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7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debounce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jumlahTekan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jumlahTekan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waktuSah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7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7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INPUT_PULLUP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7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attachInterrupt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7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digitalPinToInterrupt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7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isrTombol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FALLING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700" dirty="0"/>
          </a:p>
        </p:txBody>
      </p:sp>
      <p:sp>
        <p:nvSpPr>
          <p:cNvPr id="6" name="daftar-poin"/>
          <p:cNvSpPr txBox="1"/>
          <p:nvPr/>
        </p:nvSpPr>
        <p:spPr>
          <a:xfrm>
            <a:off x="7571049" y="1325880"/>
            <a:ext cx="4072006" cy="484632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Pasang sekali di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setup()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Nama ISR ditulis </a:t>
            </a:r>
            <a:r>
              <a:rPr lang="en-US" sz="1700" b="1" dirty="0">
                <a:solidFill>
                  <a:schemeClr val="tx1"/>
                </a:solidFill>
              </a:rPr>
              <a:t>tanpa</a:t>
            </a:r>
            <a:r>
              <a:rPr lang="en-US" sz="1700" dirty="0">
                <a:solidFill>
                  <a:schemeClr val="tx1"/>
                </a:solidFill>
              </a:rPr>
              <a:t> tanda kurung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Mode: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FALLING</a:t>
            </a:r>
            <a:r>
              <a:rPr lang="en-US" sz="1700" dirty="0">
                <a:solidFill>
                  <a:schemeClr val="tx1"/>
                </a:solidFill>
              </a:rPr>
              <a:t>,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RISING</a:t>
            </a:r>
            <a:r>
              <a:rPr lang="en-US" sz="1700" dirty="0">
                <a:solidFill>
                  <a:schemeClr val="tx1"/>
                </a:solidFill>
              </a:rPr>
              <a:t>, atau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x + 1</a:t>
            </a:r>
            <a:r>
              <a:rPr lang="en-US" sz="1700" dirty="0">
                <a:solidFill>
                  <a:schemeClr val="tx1"/>
                </a:solidFill>
              </a:rPr>
              <a:t>: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++</a:t>
            </a:r>
            <a:r>
              <a:rPr lang="en-US" sz="1700" dirty="0">
                <a:solidFill>
                  <a:schemeClr val="tx1"/>
                </a:solidFill>
              </a:rPr>
              <a:t> pada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volatile</a:t>
            </a:r>
            <a:r>
              <a:rPr lang="en-US" sz="1700" dirty="0">
                <a:solidFill>
                  <a:schemeClr val="tx1"/>
                </a:solidFill>
              </a:rPr>
              <a:t> usang di C++ baru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Aturan Emas ISR</a:t>
            </a:r>
            <a:endParaRPr lang="en-US" sz="3000" dirty="0"/>
          </a:p>
        </p:txBody>
      </p:sp>
      <p:sp>
        <p:nvSpPr>
          <p:cNvPr id="3" name="kartu"/>
          <p:cNvSpPr/>
          <p:nvPr/>
        </p:nvSpPr>
        <p:spPr>
          <a:xfrm>
            <a:off x="548640" y="1325880"/>
            <a:ext cx="5387188" cy="2156460"/>
          </a:xfrm>
          <a:prstGeom prst="roundRect">
            <a:avLst>
              <a:gd name="adj" fmla="val 508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pad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5" name="ikon-stopwatch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373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286000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Singkat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43200"/>
            <a:ext cx="4838548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Catat saja: penghitung, waktu, penanda. Sisanya di </a:t>
            </a:r>
            <a:r>
              <a:rPr lang="en-US" sz="15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loop()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8" name="kartu"/>
          <p:cNvSpPr/>
          <p:nvPr/>
        </p:nvSpPr>
        <p:spPr>
          <a:xfrm>
            <a:off x="6255868" y="1325880"/>
            <a:ext cx="5387188" cy="2156460"/>
          </a:xfrm>
          <a:prstGeom prst="roundRect">
            <a:avLst>
              <a:gd name="adj" fmla="val 508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pad"/>
          <p:cNvSpPr/>
          <p:nvPr/>
        </p:nvSpPr>
        <p:spPr>
          <a:xfrm>
            <a:off x="6530188" y="1600200"/>
            <a:ext cx="548640" cy="54864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memory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348" y="173736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530188" y="2286000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IRAM_ATTR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6530188" y="2743200"/>
            <a:ext cx="4838548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Kode ISR di RAM internal, langsung siap dijalankan.</a:t>
            </a:r>
            <a:endParaRPr lang="en-US" sz="1500" dirty="0"/>
          </a:p>
        </p:txBody>
      </p:sp>
      <p:sp>
        <p:nvSpPr>
          <p:cNvPr id="13" name="kartu"/>
          <p:cNvSpPr/>
          <p:nvPr/>
        </p:nvSpPr>
        <p:spPr>
          <a:xfrm>
            <a:off x="548640" y="3802380"/>
            <a:ext cx="5387188" cy="2156460"/>
          </a:xfrm>
          <a:prstGeom prst="roundRect">
            <a:avLst>
              <a:gd name="adj" fmla="val 5088"/>
            </a:avLst>
          </a:prstGeom>
          <a:solidFill>
            <a:srgbClr val="FBEDEB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pad"/>
          <p:cNvSpPr/>
          <p:nvPr/>
        </p:nvSpPr>
        <p:spPr>
          <a:xfrm>
            <a:off x="822960" y="4076700"/>
            <a:ext cx="548640" cy="54864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5" name="ikon-war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21386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22960" y="4762500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Tanpa Serial &amp; delay()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5219700"/>
            <a:ext cx="4838548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Bisa </a:t>
            </a:r>
            <a:r>
              <a:rPr lang="en-US" sz="1500" i="1" dirty="0">
                <a:solidFill>
                  <a:schemeClr val="tx1"/>
                </a:solidFill>
              </a:rPr>
              <a:t>crash</a:t>
            </a:r>
            <a:r>
              <a:rPr lang="en-US" sz="1500" dirty="0">
                <a:solidFill>
                  <a:schemeClr val="tx1"/>
                </a:solidFill>
              </a:rPr>
              <a:t> (Guru Meditation) dan ESP32 me-</a:t>
            </a:r>
            <a:r>
              <a:rPr lang="en-US" sz="1500" i="1" dirty="0">
                <a:solidFill>
                  <a:schemeClr val="tx1"/>
                </a:solidFill>
              </a:rPr>
              <a:t>reset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18" name="kartu"/>
          <p:cNvSpPr/>
          <p:nvPr/>
        </p:nvSpPr>
        <p:spPr>
          <a:xfrm>
            <a:off x="6255868" y="3802380"/>
            <a:ext cx="5387188" cy="2156460"/>
          </a:xfrm>
          <a:prstGeom prst="roundRect">
            <a:avLst>
              <a:gd name="adj" fmla="val 508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pad"/>
          <p:cNvSpPr/>
          <p:nvPr/>
        </p:nvSpPr>
        <p:spPr>
          <a:xfrm>
            <a:off x="6530188" y="4076700"/>
            <a:ext cx="548640" cy="54864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20" name="ikon-lo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348" y="421386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530188" y="4762500"/>
            <a:ext cx="48385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volatile + bagian kritis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6530188" y="5219700"/>
            <a:ext cx="4838548" cy="556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Data bersama selalu dibaca ulang dan diakses tanpa disela.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Bagian Kritis: Salin lalu Nolkan</a:t>
            </a:r>
            <a:endParaRPr lang="en-US" sz="3000" dirty="0"/>
          </a:p>
        </p:txBody>
      </p:sp>
      <p:sp>
        <p:nvSpPr>
          <p:cNvPr id="3" name="blok-kode"/>
          <p:cNvSpPr/>
          <p:nvPr/>
        </p:nvSpPr>
        <p:spPr>
          <a:xfrm>
            <a:off x="548640" y="1325880"/>
            <a:ext cx="6656649" cy="4129278"/>
          </a:xfrm>
          <a:prstGeom prst="roundRect">
            <a:avLst>
              <a:gd name="adj" fmla="val 2214"/>
            </a:avLst>
          </a:prstGeom>
          <a:solidFill>
            <a:srgbClr val="10231A"/>
          </a:solidFill>
          <a:ln w="12700">
            <a:solidFill>
              <a:srgbClr val="1023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99032"/>
            <a:ext cx="61994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pola ESP32 dua inti</a:t>
            </a:r>
            <a:endParaRPr lang="en-US" sz="1100" dirty="0"/>
          </a:p>
        </p:txBody>
      </p:sp>
      <p:sp>
        <p:nvSpPr>
          <p:cNvPr id="5" name="kode"/>
          <p:cNvSpPr txBox="1"/>
          <p:nvPr/>
        </p:nvSpPr>
        <p:spPr>
          <a:xfrm>
            <a:off x="777240" y="1783080"/>
            <a:ext cx="6290889" cy="3562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portMUX_TYPE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kunci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portMUX_INITIALIZER_UNLOCKED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IRAM_ATTR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isrTombol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portENTER_CRITICAL_ISR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kunci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jumlahTekan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jumlahTekan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portEXIT_CRITICAL_ISR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kunci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portENTER_CRITICAL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kunci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jumlahTekan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jumlahTekan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portEXIT_CRITICAL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kunci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r>
              <a:rPr lang="en-US" sz="14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di luar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daftar-poin"/>
          <p:cNvSpPr txBox="1"/>
          <p:nvPr/>
        </p:nvSpPr>
        <p:spPr>
          <a:xfrm>
            <a:off x="7571049" y="1325880"/>
            <a:ext cx="4072006" cy="484632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Tanpa kunci, ISR bisa menyela antara salin dan nolkan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Mematikan interupsi inti ini + memegang </a:t>
            </a:r>
            <a:r>
              <a:rPr lang="en-US" sz="1700" i="1" dirty="0">
                <a:solidFill>
                  <a:schemeClr val="tx1"/>
                </a:solidFill>
              </a:rPr>
              <a:t>spinlock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Di ISR pakai versi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_ISR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Harus </a:t>
            </a:r>
            <a:r>
              <a:rPr lang="en-US" sz="1700" b="1" dirty="0">
                <a:solidFill>
                  <a:schemeClr val="tx1"/>
                </a:solidFill>
              </a:rPr>
              <a:t>sangat pendek</a:t>
            </a:r>
            <a:r>
              <a:rPr lang="en-US" sz="1700" dirty="0">
                <a:solidFill>
                  <a:schemeClr val="tx1"/>
                </a:solidFill>
              </a:rPr>
              <a:t>: tanpa Serial, delay, FreeRTOS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971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Timer Perangkat Keras</a:t>
            </a:r>
            <a:endParaRPr lang="en-US" sz="3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2976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6DA"/>
                </a:solidFill>
              </a:rPr>
              <a:t>Alarm dapur di dalam cip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Cara Kerja Timer ESP32</a:t>
            </a:r>
            <a:endParaRPr lang="en-US" sz="3000" dirty="0"/>
          </a:p>
        </p:txBody>
      </p:sp>
      <p:pic>
        <p:nvPicPr>
          <p:cNvPr id="3" name="gambar" descr="/home/claude/work/slides/img/p05/p05-timer-hardw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5234" y="1280160"/>
            <a:ext cx="10561227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Timer: Tiga Langkah API 3.x</a:t>
            </a:r>
            <a:endParaRPr lang="en-US" sz="3000" dirty="0"/>
          </a:p>
        </p:txBody>
      </p:sp>
      <p:sp>
        <p:nvSpPr>
          <p:cNvPr id="3" name="blok-kode"/>
          <p:cNvSpPr/>
          <p:nvPr/>
        </p:nvSpPr>
        <p:spPr>
          <a:xfrm>
            <a:off x="548640" y="1325880"/>
            <a:ext cx="6656649" cy="4573778"/>
          </a:xfrm>
          <a:prstGeom prst="roundRect">
            <a:avLst>
              <a:gd name="adj" fmla="val 1999"/>
            </a:avLst>
          </a:prstGeom>
          <a:solidFill>
            <a:srgbClr val="10231A"/>
          </a:solidFill>
          <a:ln w="12700">
            <a:solidFill>
              <a:srgbClr val="1023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99032"/>
            <a:ext cx="61994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kode/03-timer-hardware (disederhanakan)</a:t>
            </a:r>
            <a:endParaRPr lang="en-US" sz="1100" dirty="0"/>
          </a:p>
        </p:txBody>
      </p:sp>
      <p:sp>
        <p:nvSpPr>
          <p:cNvPr id="5" name="kode"/>
          <p:cNvSpPr txBox="1"/>
          <p:nvPr/>
        </p:nvSpPr>
        <p:spPr>
          <a:xfrm>
            <a:off x="777240" y="1783080"/>
            <a:ext cx="6290889" cy="400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hw_timer_t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timerKu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IRAM_ATTR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isrTimer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7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singkat: balik LED, catat waktu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7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1) 1 MHz → 1 tik = 1 µs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timerKu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timerBegin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7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1000000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7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2) pasang ISR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7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timerAttachInterrupt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timerKu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isrTimer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7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3) alarm 500.000 tik, ulangi terus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7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timerAlarm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timerKu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500000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7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7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700" dirty="0"/>
          </a:p>
        </p:txBody>
      </p:sp>
      <p:sp>
        <p:nvSpPr>
          <p:cNvPr id="6" name="daftar-poin"/>
          <p:cNvSpPr txBox="1"/>
          <p:nvPr/>
        </p:nvSpPr>
        <p:spPr>
          <a:xfrm>
            <a:off x="7571049" y="1325880"/>
            <a:ext cx="4072006" cy="484632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Nilai alarm = frekuensi × selang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r>
              <a:rPr lang="en-US" sz="1700" dirty="0">
                <a:solidFill>
                  <a:schemeClr val="tx1"/>
                </a:solidFill>
              </a:rPr>
              <a:t> = berulang;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700" dirty="0">
                <a:solidFill>
                  <a:schemeClr val="tx1"/>
                </a:solidFill>
              </a:rPr>
              <a:t> = tanpa batas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Frekuensi ±1.221 Hz–40 MHz; di luar itu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API 2.x (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timerBegin(0, 80, true)</a:t>
            </a:r>
            <a:r>
              <a:rPr lang="en-US" sz="1700" dirty="0">
                <a:solidFill>
                  <a:schemeClr val="tx1"/>
                </a:solidFill>
              </a:rPr>
              <a:t>) tidak berlaku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Menghitung Nilai Alarm</a:t>
            </a:r>
            <a:endParaRPr lang="en-US" sz="3000" dirty="0"/>
          </a:p>
        </p:txBody>
      </p:sp>
      <p:graphicFrame>
        <p:nvGraphicFramePr>
          <p:cNvPr id="20" name="tab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011680"/>
                <a:gridCol w="2377440"/>
                <a:gridCol w="3566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Frekuensi timer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1 tik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Selang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Nilai alarm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 MHz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 µs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 detik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1.000.000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 MHz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 µs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500 ms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500.000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 MHz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 µs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 ms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10.000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 kHz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100 µs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 detik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10.000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Praktikum: Satu Rangkaian, Empat Program</a:t>
            </a:r>
            <a:endParaRPr lang="en-US" sz="3000" dirty="0"/>
          </a:p>
        </p:txBody>
      </p:sp>
      <p:pic>
        <p:nvPicPr>
          <p:cNvPr id="3" name="gambar" descr="/home/claude/repo/pertemuan-05-waktu-interupsi/gambar/p05-rangkai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7305" y="1280160"/>
            <a:ext cx="6777085" cy="46177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7103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Gambar komponen: @wokwi/elements (MIT, © Uri Shaked)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Empat Praktikum</a:t>
            </a:r>
            <a:endParaRPr lang="en-US" sz="3000" dirty="0"/>
          </a:p>
        </p:txBody>
      </p:sp>
      <p:graphicFrame>
        <p:nvGraphicFramePr>
          <p:cNvPr id="22" name="tab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657600"/>
                <a:gridCol w="4297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Praktikum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Konsep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Yang diamati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1. Dua LED tanpa delay()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Pola millis(), banyak tugas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LED beda irama, tombol tetap sigap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2. Interupsi tombol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ISR, volatile, bagian kritis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Tekanan sah vs interupsi mentah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3. Timer perangkat keras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timerBegin, timerAlarm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LED hijau tepat tiap 500 ms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4. Gim waktu reaksi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micros(), ISR, tahapan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Waktu reaksi dan deteksi curang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Praktikum 4: Tahapan Gim Reaksi</a:t>
            </a:r>
            <a:endParaRPr lang="en-US" sz="3000" dirty="0"/>
          </a:p>
        </p:txBody>
      </p:sp>
      <p:pic>
        <p:nvPicPr>
          <p:cNvPr id="3" name="gambar" descr="/home/claude/work/slides/img/p05/p05-tahapan-gim-reaks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8828" y="1280160"/>
            <a:ext cx="10894039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Kuis Cepat</a:t>
            </a:r>
            <a:endParaRPr lang="en-US" sz="3000" dirty="0"/>
          </a:p>
        </p:txBody>
      </p:sp>
      <p:sp>
        <p:nvSpPr>
          <p:cNvPr id="3" name="pad"/>
          <p:cNvSpPr/>
          <p:nvPr/>
        </p:nvSpPr>
        <p:spPr>
          <a:xfrm>
            <a:off x="548640" y="1371600"/>
            <a:ext cx="685800" cy="68580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4" name="ikon-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90" y="1543050"/>
            <a:ext cx="342900" cy="3429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63040" y="1325880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sebelumnya = 4.294.967.000 dan sekarang = 200 (unsigned long 32-bit). Berapa sekarang − sebelumnya?</a:t>
            </a:r>
            <a:endParaRPr lang="en-US" sz="2200" dirty="0"/>
          </a:p>
        </p:txBody>
      </p:sp>
      <p:sp>
        <p:nvSpPr>
          <p:cNvPr id="6" name="kartu"/>
          <p:cNvSpPr/>
          <p:nvPr/>
        </p:nvSpPr>
        <p:spPr>
          <a:xfrm>
            <a:off x="548640" y="2514600"/>
            <a:ext cx="541004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251460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A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325880" y="2514600"/>
            <a:ext cx="44499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−4.294.966.800</a:t>
            </a:r>
            <a:endParaRPr lang="en-US" sz="1800" dirty="0"/>
          </a:p>
        </p:txBody>
      </p:sp>
      <p:sp>
        <p:nvSpPr>
          <p:cNvPr id="9" name="kartu"/>
          <p:cNvSpPr/>
          <p:nvPr/>
        </p:nvSpPr>
        <p:spPr>
          <a:xfrm>
            <a:off x="6233008" y="2514600"/>
            <a:ext cx="541004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15888" y="251460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B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010248" y="2514600"/>
            <a:ext cx="44499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200</a:t>
            </a:r>
            <a:endParaRPr lang="en-US" sz="1800" dirty="0"/>
          </a:p>
        </p:txBody>
      </p:sp>
      <p:sp>
        <p:nvSpPr>
          <p:cNvPr id="12" name="kartu"/>
          <p:cNvSpPr/>
          <p:nvPr/>
        </p:nvSpPr>
        <p:spPr>
          <a:xfrm>
            <a:off x="548640" y="3931920"/>
            <a:ext cx="541004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393192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C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1325880" y="3931920"/>
            <a:ext cx="44499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496</a:t>
            </a:r>
            <a:endParaRPr lang="en-US" sz="1800" dirty="0"/>
          </a:p>
        </p:txBody>
      </p:sp>
      <p:sp>
        <p:nvSpPr>
          <p:cNvPr id="15" name="kartu"/>
          <p:cNvSpPr/>
          <p:nvPr/>
        </p:nvSpPr>
        <p:spPr>
          <a:xfrm>
            <a:off x="6233008" y="3931920"/>
            <a:ext cx="541004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15888" y="393192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D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3931920"/>
            <a:ext cx="44499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4.294.967.200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Rangkuman</a:t>
            </a:r>
            <a:endParaRPr lang="en-US" sz="3200" dirty="0"/>
          </a:p>
        </p:txBody>
      </p:sp>
      <p:sp>
        <p:nvSpPr>
          <p:cNvPr id="3" name="pad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4" name="ikon-che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764792"/>
            <a:ext cx="219456" cy="2194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1732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delay()</a:t>
            </a:r>
            <a:r>
              <a:rPr lang="en-US" sz="2000" dirty="0">
                <a:solidFill>
                  <a:schemeClr val="bg1"/>
                </a:solidFill>
              </a:rPr>
              <a:t> memblokir; pola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millis()</a:t>
            </a:r>
            <a:r>
              <a:rPr lang="en-US" sz="2000" dirty="0">
                <a:solidFill>
                  <a:schemeClr val="bg1"/>
                </a:solidFill>
              </a:rPr>
              <a:t> melirik jam tanpa menunggu</a:t>
            </a:r>
            <a:endParaRPr lang="en-US" sz="2000" dirty="0"/>
          </a:p>
        </p:txBody>
      </p:sp>
      <p:sp>
        <p:nvSpPr>
          <p:cNvPr id="6" name="pad"/>
          <p:cNvSpPr/>
          <p:nvPr/>
        </p:nvSpPr>
        <p:spPr>
          <a:xfrm>
            <a:off x="548640" y="256032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7" name="ikon-che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67919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33172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Bandingkan </a:t>
            </a:r>
            <a:r>
              <a:rPr lang="en-US" sz="2000" b="1" dirty="0">
                <a:solidFill>
                  <a:schemeClr val="bg1"/>
                </a:solidFill>
              </a:rPr>
              <a:t>selisih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unsigned long</a:t>
            </a:r>
            <a:r>
              <a:rPr lang="en-US" sz="2000" dirty="0">
                <a:solidFill>
                  <a:schemeClr val="bg1"/>
                </a:solidFill>
              </a:rPr>
              <a:t> → aman saat luapan (±49,7 hari)</a:t>
            </a:r>
            <a:endParaRPr lang="en-US" sz="2000" dirty="0"/>
          </a:p>
        </p:txBody>
      </p:sp>
      <p:sp>
        <p:nvSpPr>
          <p:cNvPr id="9" name="pad"/>
          <p:cNvSpPr/>
          <p:nvPr/>
        </p:nvSpPr>
        <p:spPr>
          <a:xfrm>
            <a:off x="548640" y="347472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che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3593592"/>
            <a:ext cx="219456" cy="21945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80160" y="324612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Interupsi: perangkat keras memanggil </a:t>
            </a:r>
            <a:r>
              <a:rPr lang="en-US" sz="2000" b="1" dirty="0">
                <a:solidFill>
                  <a:schemeClr val="bg1"/>
                </a:solidFill>
              </a:rPr>
              <a:t>ISR</a:t>
            </a:r>
            <a:r>
              <a:rPr lang="en-US" sz="2000" dirty="0">
                <a:solidFill>
                  <a:schemeClr val="bg1"/>
                </a:solidFill>
              </a:rPr>
              <a:t> pada tepi FALLING/RISING/CHANGE</a:t>
            </a:r>
            <a:endParaRPr lang="en-US" sz="2000" dirty="0"/>
          </a:p>
        </p:txBody>
      </p:sp>
      <p:sp>
        <p:nvSpPr>
          <p:cNvPr id="12" name="pad"/>
          <p:cNvSpPr/>
          <p:nvPr/>
        </p:nvSpPr>
        <p:spPr>
          <a:xfrm>
            <a:off x="548640" y="438912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3" name="ikon-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4507992"/>
            <a:ext cx="219456" cy="21945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280160" y="416052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ISR singkat,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IRAM_ATTR</a:t>
            </a:r>
            <a:r>
              <a:rPr lang="en-US" sz="2000" dirty="0">
                <a:solidFill>
                  <a:schemeClr val="bg1"/>
                </a:solidFill>
              </a:rPr>
              <a:t>,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volatile</a:t>
            </a:r>
            <a:r>
              <a:rPr lang="en-US" sz="2000" dirty="0">
                <a:solidFill>
                  <a:schemeClr val="bg1"/>
                </a:solidFill>
              </a:rPr>
              <a:t>, bagian kritis, tanpa Serial/delay</a:t>
            </a:r>
            <a:endParaRPr lang="en-US" sz="2000" dirty="0"/>
          </a:p>
        </p:txBody>
      </p:sp>
      <p:sp>
        <p:nvSpPr>
          <p:cNvPr id="15" name="pad"/>
          <p:cNvSpPr/>
          <p:nvPr/>
        </p:nvSpPr>
        <p:spPr>
          <a:xfrm>
            <a:off x="548640" y="530352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6" name="ikon-check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5422392"/>
            <a:ext cx="219456" cy="219456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280160" y="507492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Timer</a:t>
            </a:r>
            <a:r>
              <a:rPr lang="en-US" sz="2000" dirty="0">
                <a:solidFill>
                  <a:schemeClr val="bg1"/>
                </a:solidFill>
              </a:rPr>
              <a:t> 64-bit: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timerBegin</a:t>
            </a:r>
            <a:r>
              <a:rPr lang="en-US" sz="2000" dirty="0">
                <a:solidFill>
                  <a:schemeClr val="bg1"/>
                </a:solidFill>
              </a:rPr>
              <a:t> →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timerAttachInterrupt</a:t>
            </a:r>
            <a:r>
              <a:rPr lang="en-US" sz="2000" dirty="0">
                <a:solidFill>
                  <a:schemeClr val="bg1"/>
                </a:solidFill>
              </a:rPr>
              <a:t> →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timerAlarm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F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Sebelum Pertemuan 6</a:t>
            </a:r>
            <a:endParaRPr lang="en-US" sz="3200" dirty="0"/>
          </a:p>
        </p:txBody>
      </p:sp>
      <p:sp>
        <p:nvSpPr>
          <p:cNvPr id="3" name="kartu"/>
          <p:cNvSpPr/>
          <p:nvPr/>
        </p:nvSpPr>
        <p:spPr>
          <a:xfrm>
            <a:off x="548640" y="1508760"/>
            <a:ext cx="3484778" cy="4389120"/>
          </a:xfrm>
          <a:prstGeom prst="roundRect">
            <a:avLst>
              <a:gd name="adj" fmla="val 3149"/>
            </a:avLst>
          </a:prstGeom>
          <a:solidFill>
            <a:srgbClr val="17503B"/>
          </a:solidFill>
          <a:ln w="12700">
            <a:solidFill>
              <a:srgbClr val="17503B"/>
            </a:solidFill>
            <a:prstDash val="solid"/>
          </a:ln>
        </p:spPr>
      </p:sp>
      <p:sp>
        <p:nvSpPr>
          <p:cNvPr id="4" name="pad"/>
          <p:cNvSpPr/>
          <p:nvPr/>
        </p:nvSpPr>
        <p:spPr>
          <a:xfrm>
            <a:off x="822960" y="1783080"/>
            <a:ext cx="640080" cy="64008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5" name="ikon-task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9431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5603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Tugas</a:t>
            </a:r>
            <a:endParaRPr lang="en-US" sz="2100" dirty="0"/>
          </a:p>
        </p:txBody>
      </p:sp>
      <p:sp>
        <p:nvSpPr>
          <p:cNvPr id="7" name="daftar-poin"/>
          <p:cNvSpPr txBox="1"/>
          <p:nvPr/>
        </p:nvSpPr>
        <p:spPr>
          <a:xfrm>
            <a:off x="822960" y="3063240"/>
            <a:ext cx="2936138" cy="265176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Latihan 1: lampu lalu lintas tanpa delay()</a:t>
            </a:r>
            <a:endParaRPr lang="en-US" sz="16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Latihan 3: debounce yang lebih kokoh</a:t>
            </a:r>
            <a:endParaRPr lang="en-US" sz="1600" dirty="0"/>
          </a:p>
        </p:txBody>
      </p:sp>
      <p:sp>
        <p:nvSpPr>
          <p:cNvPr id="8" name="kartu"/>
          <p:cNvSpPr/>
          <p:nvPr/>
        </p:nvSpPr>
        <p:spPr>
          <a:xfrm>
            <a:off x="4353458" y="1508760"/>
            <a:ext cx="3484778" cy="4389120"/>
          </a:xfrm>
          <a:prstGeom prst="roundRect">
            <a:avLst>
              <a:gd name="adj" fmla="val 3149"/>
            </a:avLst>
          </a:prstGeom>
          <a:solidFill>
            <a:srgbClr val="17503B"/>
          </a:solidFill>
          <a:ln w="12700">
            <a:solidFill>
              <a:srgbClr val="17503B"/>
            </a:solidFill>
            <a:prstDash val="solid"/>
          </a:ln>
        </p:spPr>
      </p:sp>
      <p:sp>
        <p:nvSpPr>
          <p:cNvPr id="9" name="pad"/>
          <p:cNvSpPr/>
          <p:nvPr/>
        </p:nvSpPr>
        <p:spPr>
          <a:xfrm>
            <a:off x="4627778" y="1783080"/>
            <a:ext cx="640080" cy="64008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boo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7798" y="194310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27778" y="25603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Persiapan</a:t>
            </a:r>
            <a:endParaRPr lang="en-US" sz="2100" dirty="0"/>
          </a:p>
        </p:txBody>
      </p:sp>
      <p:sp>
        <p:nvSpPr>
          <p:cNvPr id="12" name="daftar-poin"/>
          <p:cNvSpPr txBox="1"/>
          <p:nvPr/>
        </p:nvSpPr>
        <p:spPr>
          <a:xfrm>
            <a:off x="4627778" y="3063240"/>
            <a:ext cx="2936138" cy="265176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Baca modul Pertemuan 6: Input Analog (ADC)</a:t>
            </a:r>
            <a:endParaRPr lang="en-US" sz="16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Selesaikan Praktikum 3 dan 4 bila belum</a:t>
            </a:r>
            <a:endParaRPr lang="en-US" sz="1600" dirty="0"/>
          </a:p>
        </p:txBody>
      </p:sp>
      <p:sp>
        <p:nvSpPr>
          <p:cNvPr id="13" name="kartu"/>
          <p:cNvSpPr/>
          <p:nvPr/>
        </p:nvSpPr>
        <p:spPr>
          <a:xfrm>
            <a:off x="8158277" y="1508760"/>
            <a:ext cx="3484778" cy="4389120"/>
          </a:xfrm>
          <a:prstGeom prst="roundRect">
            <a:avLst>
              <a:gd name="adj" fmla="val 3149"/>
            </a:avLst>
          </a:prstGeom>
          <a:solidFill>
            <a:srgbClr val="17503B"/>
          </a:solidFill>
          <a:ln w="12700">
            <a:solidFill>
              <a:srgbClr val="17503B"/>
            </a:solidFill>
            <a:prstDash val="solid"/>
          </a:ln>
        </p:spPr>
      </p:sp>
      <p:sp>
        <p:nvSpPr>
          <p:cNvPr id="14" name="pad"/>
          <p:cNvSpPr/>
          <p:nvPr/>
        </p:nvSpPr>
        <p:spPr>
          <a:xfrm>
            <a:off x="8432597" y="1783080"/>
            <a:ext cx="640080" cy="64008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5" name="ikon-comment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2617" y="194310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32597" y="25603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Butuh Bantuan?</a:t>
            </a:r>
            <a:endParaRPr lang="en-US" sz="2100" dirty="0"/>
          </a:p>
        </p:txBody>
      </p:sp>
      <p:sp>
        <p:nvSpPr>
          <p:cNvPr id="17" name="daftar-poin"/>
          <p:cNvSpPr txBox="1"/>
          <p:nvPr/>
        </p:nvSpPr>
        <p:spPr>
          <a:xfrm>
            <a:off x="8432597" y="3063240"/>
            <a:ext cx="2936138" cy="265176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Baca panduan/06-mengatasi-masalah.md</a:t>
            </a:r>
            <a:endParaRPr lang="en-US" sz="16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Tanyakan di forum kelas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F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stem Tertanam PCB">
  <a:themeElements>
    <a:clrScheme name="Sistem Tertanam PCB">
      <a:dk1>
        <a:srgbClr val="13261D"/>
      </a:dk1>
      <a:lt1>
        <a:srgbClr val="FFFFFF"/>
      </a:lt1>
      <a:dk2>
        <a:srgbClr val="0F3D2C"/>
      </a:dk2>
      <a:lt2>
        <a:srgbClr val="EEF5F1"/>
      </a:lt2>
      <a:accent1>
        <a:srgbClr val="1F6F50"/>
      </a:accent1>
      <a:accent2>
        <a:srgbClr val="C27C2C"/>
      </a:accent2>
      <a:accent3>
        <a:srgbClr val="1F6FD1"/>
      </a:accent3>
      <a:accent4>
        <a:srgbClr val="C0392B"/>
      </a:accent4>
      <a:accent5>
        <a:srgbClr val="5F6F67"/>
      </a:accent5>
      <a:accent6>
        <a:srgbClr val="D9A441"/>
      </a:accent6>
      <a:hlink>
        <a:srgbClr val="1F6FD1"/>
      </a:hlink>
      <a:folHlink>
        <a:srgbClr val="7B3FBF"/>
      </a:folHlink>
    </a:clrScheme>
    <a:fontScheme name="Sistem Tertanam PCB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Sistem Tertanam (Embedded Systems)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Pertemuan 5: Waktu dan Interupsi</dc:title>
  <dc:subject>Sistem Tertanam — Pertemuan 5</dc:subject>
  <dc:creator>Anton Prafanto</dc:creator>
  <cp:lastModifiedBy>Anton Prafanto</cp:lastModifiedBy>
  <cp:revision>1</cp:revision>
  <dcterms:created xsi:type="dcterms:W3CDTF">2026-10-16T12:58:21Z</dcterms:created>
  <dcterms:modified xsi:type="dcterms:W3CDTF">2026-10-16T12:58:21Z</dcterms:modified>
</cp:coreProperties>
</file>