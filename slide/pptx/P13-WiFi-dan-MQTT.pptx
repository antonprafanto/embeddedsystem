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embuka" id="{c0ab5c7a-d742-acf6-18d9-9ba7ec025e3c}">
          <p14:sldIdLst>
            <p14:sldId id="256"/>
            <p14:sldId id="257"/>
            <p14:sldId id="258"/>
          </p14:sldIdLst>
        </p14:section>
        <p14:section name="Wi-Fi" id="{2dd79ff3-c2bb-844c-3277-e54d19a10932}">
          <p14:sldIdLst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MQTT" id="{7711b86d-238e-191b-9988-43ff7dd8c00c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Praktikum" id="{853c8052-bc2d-8f6a-02cb-c27a2a8b27db}">
          <p14:sldIdLst>
            <p14:sldId id="275"/>
            <p14:sldId id="276"/>
            <p14:sldId id="277"/>
            <p14:sldId id="278"/>
          </p14:sldIdLst>
        </p14:section>
        <p14:section name="Penutup" id="{e4f77c13-8ece-f440-ada4-4f63a79ab259}">
          <p14:sldIdLst>
            <p14:sldId id="279"/>
            <p14:sldId id="28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pertanyaan: kalau kalian di kampus, bagaimana caranya tahu lampu teras kos sudah menyala atau belum? Kumpulkan jawaban, lalu arahkan ke ide IoT: perangkat melapor lewat internet.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Target akhir sesi: setiap mahasiswa minimal berhasil melihat data potensiometernya sendiri muncul di MQTTX Web (lewat Wokwi juga boleh).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Tekankan mengapa perlu broker: HP dan ESP32 berada di jaringan berbeda, router/hotspot tidak menerima sambungan masuk. Keduanya cukup membuat sambungan KELUAR ke broker. Tanyakan: di mana posisi Wokwi-GUEST? (lapis jaringan).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tamu vs tuan rumah. Semua praktikum memakai STA. Mode AP biasa dipakai untuk halaman pengaturan awal perangkat (misalnya memasukkan sandi Wi-Fi rumah). Sandi softAP minimal 8 karakter.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Pertanyaan pancingan: −50 ke −80 dBm turun berapa kali lipat? Jawab: 30 dB = 1.000 kali. Kategori di gambar hanya patokan kasar, bukan standar resmi. ESP32 hanya 2,4 GHz: penyebab nomor satu hotspot tidak terlihat.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 lain yang sering muncul: 1 = WL_NO_SSID_AVAIL (SSID tidak ditemukan), 6 = WL_DISCONNECTED. Di board asli kanal sebaiknya 0 (cari otomatis). Ingatkan: Wi-Fi aktif = ADC2 tidak bisa dipakai, jadi sensor analog di GPIO 32–39.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Android: pengaturan pita/AP band pilih 2,4 GHz. iPhone: aktifkan Maksimalkan Kompatibilitas. Wokwi Public Gateway dipantau, jadi jangan kirim data sensitif. Ping (ICMP) tidak didukung di Wokwi.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Riwayat Git menyimpan sandi yang pernah di-commit walaupun barisnya dihapus belakangan. Di Wokwi web cukup salin main.cpp ke sketch.ino; __has_include bernilai false sehingga otomatis memakai Wokwi-GUEST.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 papan pengumuman per rubrik. Pengirim dan penerima tidak saling kenal, hanya sepakat nama topik. MQTT di atas TCP: 1883 polos, 8883 TLS; peramban memakai WebSocket. Kepala paket minimal 2 byte.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Tanyakan: siapa publisher dan siapa subscriber di Praktikum 3? (ESP32 dan MQTTX keduanya berperan ganda).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+ = tepat satu tingkat; # = semua tingkat di bawahnya, hanya di akhir. Wildcard hanya untuk subscribe. Topik peka huruf besar/kecil. Demo privasi: subscribe kuliah-st/+/sensor menampilkan data semua mahasiswa.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QoS berlaku per ruas (pengirim→broker, broker→pelanggan); yang sampai = minimum keduanya. PubSubClient: publish QoS 0 saja, subscribe 0/1. QoS 1 bisa dobel → perintah harus idempoten (ON/OFF, bukan TOGGLE).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alive bawaan PubSubClient 15 s; broker memutus setelah 1,5 × keep alive = 22,5 s tanpa paket. Wasiat tidak diterbitkan bila klien mengirim DISCONNECT. Retained dihapus dengan pesan kosong + retain.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Diverifikasi dari PubSubClient.h/.cpp v2.8. Isi pesan maksimum = 256 − 5 − 2 − panjang topik; untuk kuliah-st/12345678/sensor = 224 byte. ID klien: spesifikasi menjamin 1–23 karakter alfanumerik; ID sama → klien lama diputus. Di Wokwi semua ESP32 ber-MAC sama, jadi jangan pakai MAC saja.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Versi daring MQTTX Web hanya mengizinkan wss://, jadi pakai port 8084 path /mqtt. Client ID biarkan otomatis. Subscribe kuliah-st/&lt;NIM&gt;/#. Saat mengirim perintah, jangan centang Retain. Alternatif: test.mosquitto.org (WSS 8081) atau HiveMQ WebSocket Client.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Diskusi: apa yang terjadi bila relay pompa air dihubungkan ke broker publik dan orang iseng mengirim ON? Tambahkan juga pengaman fisik (sakelar batas, sekring) yang tetap bekerja walau jaringan bermasalah.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Ganti konstanta NIM dulu (GANTI_NIM). Bidang nomor membantu melihat pesan QoS 0 yang hilang. state -2 = TCP gagal (port 1883 diblokir/internet mati), -4 = waktu habis, 2 = ID klien ditolak.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PubSubClient memakai satu buffer untuk pesan masuk dan keluar, jadi publish di dalam callback menimpa data yang sedang dibaca. LED biru GPIO 2: kedip cepat = belum tersambung broker, lambat = tersambung. Uji LWT: hentikan simulasi, offline muncul paling lama ±22,5 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Jawaban: C. Tanda + hanya mewakili satu tingkat, sedangkan led/status dua tingkat. Untuk menerimanya pakai #.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UDUL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0"/>
            <a:ext cx="560801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6" name="Text 0"/>
          <p:cNvSpPr/>
          <p:nvPr/>
        </p:nvSpPr>
        <p:spPr>
          <a:xfrm>
            <a:off x="548640" y="5715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Sistem Tertanam (Embedded Systems) · S1 Teknik Elektro</a:t>
            </a:r>
            <a:endParaRPr lang="en-US" sz="1200" dirty="0"/>
          </a:p>
        </p:txBody>
      </p:sp>
      <p:sp>
        <p:nvSpPr>
          <p:cNvPr id="7" name="Text 1"/>
          <p:cNvSpPr/>
          <p:nvPr/>
        </p:nvSpPr>
        <p:spPr>
          <a:xfrm>
            <a:off x="548640" y="60350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6DA"/>
                </a:solidFill>
              </a:rPr>
              <a:t>Dosen Pengampu: Anton Prafanto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GIAN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tools/kit/slides/assets/pcb-art-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0"/>
            <a:ext cx="3962095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60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60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FE6DA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SI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Pertemuan 13 · Wi-Fi dan MQTT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F3D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FBFAF"/>
                </a:solidFill>
              </a:rPr>
              <a:t>Pertemuan 13 · Wi-Fi dan MQTT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image" Target="../media/image-24-5.png"/><Relationship Id="rId6" Type="http://schemas.openxmlformats.org/officeDocument/2006/relationships/image" Target="../media/image-24-6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4173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300" kern="0" dirty="0">
                <a:solidFill>
                  <a:schemeClr val="accent2"/>
                </a:solidFill>
              </a:rPr>
              <a:t>PERTEMUAN 13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1920240"/>
            <a:ext cx="64008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IoT: Wi-Fi dan MQTT</a:t>
            </a:r>
            <a:endParaRPr lang="en-US" sz="40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393192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Dari sensor di meja sampai pesan di peramban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Tujuan Pembelajaran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4996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sitema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641348"/>
            <a:ext cx="283464" cy="28346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325880" y="13258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Menjelaskan arsitektur </a:t>
            </a:r>
            <a:r>
              <a:rPr lang="en-US" sz="2000" b="1" dirty="0">
                <a:solidFill>
                  <a:schemeClr val="tx1"/>
                </a:solidFill>
              </a:rPr>
              <a:t>IoT</a:t>
            </a:r>
            <a:r>
              <a:rPr lang="en-US" sz="2000" dirty="0">
                <a:solidFill>
                  <a:schemeClr val="tx1"/>
                </a:solidFill>
              </a:rPr>
              <a:t>: perangkat → jaringan → broker → aplikasi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4140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wifi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" y="2555748"/>
            <a:ext cx="283464" cy="28346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325880" y="22402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Memindai jaringan Wi-Fi (nama, kuat sinyal, kanal) lalu menyambung sebagai klien (mode </a:t>
            </a:r>
            <a:r>
              <a:rPr lang="en-US" sz="2000" b="1" dirty="0">
                <a:solidFill>
                  <a:schemeClr val="tx1"/>
                </a:solidFill>
              </a:rPr>
              <a:t>STA</a:t>
            </a:r>
            <a:r>
              <a:rPr lang="en-US" sz="2000" dirty="0">
                <a:solidFill>
                  <a:schemeClr val="tx1"/>
                </a:solidFill>
              </a:rPr>
              <a:t>)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3284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" y="34701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31546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Menjelaskan </a:t>
            </a:r>
            <a:r>
              <a:rPr lang="en-US" sz="2000" b="1" dirty="0">
                <a:solidFill>
                  <a:schemeClr val="tx1"/>
                </a:solidFill>
              </a:rPr>
              <a:t>MQTT</a:t>
            </a:r>
            <a:r>
              <a:rPr lang="en-US" sz="2000" dirty="0">
                <a:solidFill>
                  <a:schemeClr val="tx1"/>
                </a:solidFill>
              </a:rPr>
              <a:t>: topik, wildcard, QoS, retained, LWT, keep alive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42428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upload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372" y="4384548"/>
            <a:ext cx="283464" cy="28346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325880" y="40690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Mengirim data sensor </a:t>
            </a:r>
            <a:r>
              <a:rPr lang="en-US" sz="2000" b="1" dirty="0">
                <a:solidFill>
                  <a:schemeClr val="tx1"/>
                </a:solidFill>
              </a:rPr>
              <a:t>JSON</a:t>
            </a:r>
            <a:r>
              <a:rPr lang="en-US" sz="2000" dirty="0">
                <a:solidFill>
                  <a:schemeClr val="tx1"/>
                </a:solidFill>
              </a:rPr>
              <a:t> ke broker dan memantaunya di MQTTX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515721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shield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372" y="5298948"/>
            <a:ext cx="283464" cy="28346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325880" y="4983480"/>
            <a:ext cx="10317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Mengendalikan LED lewat MQTT dengan sambung ulang </a:t>
            </a:r>
            <a:r>
              <a:rPr lang="en-US" sz="2000" b="1" dirty="0">
                <a:solidFill>
                  <a:schemeClr val="tx1"/>
                </a:solidFill>
              </a:rPr>
              <a:t>tanpa memblokir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Peta Materi Hari Ini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Arsitektur IoT</a:t>
            </a:r>
            <a:endParaRPr lang="en-US" sz="1900" dirty="0"/>
          </a:p>
        </p:txBody>
      </p:sp>
      <p:sp>
        <p:nvSpPr>
          <p:cNvPr id="6" name="kartu"/>
          <p:cNvSpPr/>
          <p:nvPr/>
        </p:nvSpPr>
        <p:spPr>
          <a:xfrm>
            <a:off x="548640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Wi-Fi ESP32: STA/AP, RSSI, DHCP</a:t>
            </a:r>
            <a:endParaRPr lang="en-US" sz="1900" dirty="0"/>
          </a:p>
        </p:txBody>
      </p:sp>
      <p:sp>
        <p:nvSpPr>
          <p:cNvPr id="9" name="kartu"/>
          <p:cNvSpPr/>
          <p:nvPr/>
        </p:nvSpPr>
        <p:spPr>
          <a:xfrm>
            <a:off x="548640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Wokwi vs board asli + menyimpan sandi</a:t>
            </a:r>
            <a:endParaRPr lang="en-US" sz="1900" dirty="0"/>
          </a:p>
        </p:txBody>
      </p:sp>
      <p:sp>
        <p:nvSpPr>
          <p:cNvPr id="12" name="kartu"/>
          <p:cNvSpPr/>
          <p:nvPr/>
        </p:nvSpPr>
        <p:spPr>
          <a:xfrm>
            <a:off x="6278728" y="132588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61608" y="13258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04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7193128" y="132588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MQTT: publish/subscribe, topik, QoS</a:t>
            </a:r>
            <a:endParaRPr lang="en-US" sz="1900" dirty="0"/>
          </a:p>
        </p:txBody>
      </p:sp>
      <p:sp>
        <p:nvSpPr>
          <p:cNvPr id="15" name="kartu"/>
          <p:cNvSpPr/>
          <p:nvPr/>
        </p:nvSpPr>
        <p:spPr>
          <a:xfrm>
            <a:off x="6278728" y="219456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61608" y="2194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05</a:t>
            </a:r>
            <a:endParaRPr lang="en-US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7193128" y="219456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Retained, LWT, keep alive, ID klien</a:t>
            </a:r>
            <a:endParaRPr lang="en-US" sz="1900" dirty="0"/>
          </a:p>
        </p:txBody>
      </p:sp>
      <p:sp>
        <p:nvSpPr>
          <p:cNvPr id="18" name="kartu"/>
          <p:cNvSpPr/>
          <p:nvPr/>
        </p:nvSpPr>
        <p:spPr>
          <a:xfrm>
            <a:off x="6278728" y="3063240"/>
            <a:ext cx="5364328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61608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06</a:t>
            </a:r>
            <a:endParaRPr lang="en-US" sz="2400" dirty="0"/>
          </a:p>
        </p:txBody>
      </p:sp>
      <p:sp>
        <p:nvSpPr>
          <p:cNvPr id="20" name="Text 18"/>
          <p:cNvSpPr txBox="1"/>
          <p:nvPr/>
        </p:nvSpPr>
        <p:spPr>
          <a:xfrm>
            <a:off x="7193128" y="3063240"/>
            <a:ext cx="42670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</a:rPr>
              <a:t>Praktikum: pindai Wi-Fi, kirim data, kendali LED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01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IoT dan Wi-Fi ESP32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Membawa data dari meja kerja ke internet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Arsitektur IoT: Empat Lapis</a:t>
            </a:r>
            <a:endParaRPr lang="en-US" sz="3000" dirty="0"/>
          </a:p>
        </p:txBody>
      </p:sp>
      <p:pic>
        <p:nvPicPr>
          <p:cNvPr id="3" name="gambar" descr="/home/claude/work/slides/img/p13/p13-arsitektur-i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1837" y="1280160"/>
            <a:ext cx="10848020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Mode STA dan Mode AP</a:t>
            </a:r>
            <a:endParaRPr lang="en-US" sz="3000" dirty="0"/>
          </a:p>
        </p:txBody>
      </p:sp>
      <p:pic>
        <p:nvPicPr>
          <p:cNvPr id="3" name="gambar" descr="/home/claude/work/slides/img/p13/p13-mode-sta-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2450" y="1280160"/>
            <a:ext cx="8726795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RSSI: Makin Mendekati 0, Makin Kuat</a:t>
            </a:r>
            <a:endParaRPr lang="en-US" sz="3000" dirty="0"/>
          </a:p>
        </p:txBody>
      </p:sp>
      <p:pic>
        <p:nvPicPr>
          <p:cNvPr id="3" name="gambar" descr="/home/claude/work/slides/img/p13/p13-skala-rss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36247"/>
            <a:ext cx="11094415" cy="396838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5577785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dBm itu logaritmis: −30 dBm = 1 µW, −60 dBm = 1 nW. Turun 10 dB = daya tinggal 1/10.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Menyambung ke Wi-Fi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081528"/>
          </a:xfrm>
          <a:prstGeom prst="roundRect">
            <a:avLst>
              <a:gd name="adj" fmla="val 2967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contoh singkat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&lt;WiFi.h&gt;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115200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WIFI_STA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2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jadi "tamu"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begin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"Wokwi-GUEST"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""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SSID, sandi, kanal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WL_CONNECTED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delay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500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"."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println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2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localIP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2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</a:t>
            </a:r>
            <a:r>
              <a:rPr lang="en-US" sz="12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10.10.0.2</a:t>
            </a:r>
            <a:endParaRPr lang="en-US" sz="12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WiFi.scanNetworks()</a:t>
            </a:r>
            <a:r>
              <a:rPr lang="en-US" sz="1700" dirty="0">
                <a:solidFill>
                  <a:schemeClr val="tx1"/>
                </a:solidFill>
              </a:rPr>
              <a:t>: pindai, hasilkan jumlah jaringan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WiFi.status()</a:t>
            </a:r>
            <a:r>
              <a:rPr lang="en-US" sz="1700" dirty="0">
                <a:solidFill>
                  <a:schemeClr val="tx1"/>
                </a:solidFill>
              </a:rPr>
              <a:t> =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WL_CONNECTED</a:t>
            </a:r>
            <a:r>
              <a:rPr lang="en-US" sz="1700" dirty="0">
                <a:solidFill>
                  <a:schemeClr val="tx1"/>
                </a:solidFill>
              </a:rPr>
              <a:t> (3) bila tersambung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WiFi.localIP()</a:t>
            </a:r>
            <a:r>
              <a:rPr lang="en-US" sz="1700" dirty="0">
                <a:solidFill>
                  <a:schemeClr val="tx1"/>
                </a:solidFill>
              </a:rPr>
              <a:t>: alamat dari </a:t>
            </a:r>
            <a:r>
              <a:rPr lang="en-US" sz="1700" b="1" dirty="0">
                <a:solidFill>
                  <a:schemeClr val="tx1"/>
                </a:solidFill>
              </a:rPr>
              <a:t>DHCP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Kanal 6 di Wokwi: sambung ±4 detik lebih cepat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Wi-Fi di Wokwi vs Board Asli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2139696"/>
            <a:ext cx="5364328" cy="2944368"/>
          </a:xfrm>
          <a:prstGeom prst="roundRect">
            <a:avLst>
              <a:gd name="adj" fmla="val 3727"/>
            </a:avLst>
          </a:prstGeom>
          <a:solidFill>
            <a:srgbClr val="F3F5F4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236829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laptop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" y="2510028"/>
            <a:ext cx="283464" cy="28346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54480" y="236829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Wokwi</a:t>
            </a:r>
            <a:endParaRPr lang="en-US" sz="22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99816"/>
            <a:ext cx="4815688" cy="184708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SSID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Wokwi-GUEST</a:t>
            </a:r>
            <a:r>
              <a:rPr lang="en-US" sz="1800" dirty="0">
                <a:solidFill>
                  <a:schemeClr val="tx1"/>
                </a:solidFill>
              </a:rPr>
              <a:t>, tanpa sandi, kanal 6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IP selalu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10.10.0.2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Hanya sambungan keluar; lalu lintas dipantau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Tidak perlu berkas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rahasia.h</a:t>
            </a:r>
            <a:endParaRPr lang="en-US" sz="1800" dirty="0"/>
          </a:p>
        </p:txBody>
      </p:sp>
      <p:sp>
        <p:nvSpPr>
          <p:cNvPr id="8" name="kartu"/>
          <p:cNvSpPr/>
          <p:nvPr/>
        </p:nvSpPr>
        <p:spPr>
          <a:xfrm>
            <a:off x="6278728" y="2139696"/>
            <a:ext cx="5364328" cy="2944368"/>
          </a:xfrm>
          <a:prstGeom prst="roundRect">
            <a:avLst>
              <a:gd name="adj" fmla="val 3727"/>
            </a:avLst>
          </a:prstGeom>
          <a:solidFill>
            <a:srgbClr val="EEF5F1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53048" y="2368296"/>
            <a:ext cx="566928" cy="566928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mobile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2510028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284568" y="2368296"/>
            <a:ext cx="40841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Board Asli</a:t>
            </a:r>
            <a:endParaRPr lang="en-US" sz="2200" dirty="0"/>
          </a:p>
        </p:txBody>
      </p:sp>
      <p:sp>
        <p:nvSpPr>
          <p:cNvPr id="12" name="daftar-poin"/>
          <p:cNvSpPr txBox="1"/>
          <p:nvPr/>
        </p:nvSpPr>
        <p:spPr>
          <a:xfrm>
            <a:off x="6553048" y="3099816"/>
            <a:ext cx="4815688" cy="1847088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i="1" dirty="0">
                <a:solidFill>
                  <a:schemeClr val="tx1"/>
                </a:solidFill>
              </a:rPr>
              <a:t>Hotspot</a:t>
            </a:r>
            <a:r>
              <a:rPr lang="en-US" sz="1800" dirty="0">
                <a:solidFill>
                  <a:schemeClr val="tx1"/>
                </a:solidFill>
              </a:rPr>
              <a:t> HP pita </a:t>
            </a:r>
            <a:r>
              <a:rPr lang="en-US" sz="1800" b="1" dirty="0">
                <a:solidFill>
                  <a:schemeClr val="tx1"/>
                </a:solidFill>
              </a:rPr>
              <a:t>2,4 GHz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IP diberikan DHCP </a:t>
            </a:r>
            <a:r>
              <a:rPr lang="en-US" sz="1800" i="1" dirty="0">
                <a:solidFill>
                  <a:schemeClr val="tx1"/>
                </a:solidFill>
              </a:rPr>
              <a:t>hotspot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Wi-Fi kampus (login/WPA2-Enterprise) sering gagal</a:t>
            </a:r>
            <a:endParaRPr lang="en-US" sz="18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Buat </a:t>
            </a:r>
            <a:r>
              <a:rPr lang="en-US" sz="18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include/rahasia.h</a:t>
            </a:r>
            <a:r>
              <a:rPr lang="en-US" sz="1800" dirty="0">
                <a:solidFill>
                  <a:schemeClr val="tx1"/>
                </a:solidFill>
              </a:rPr>
              <a:t> dari contoh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Sandi Wi-Fi Jangan Ikut di-Commit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2573528"/>
          </a:xfrm>
          <a:prstGeom prst="roundRect">
            <a:avLst>
              <a:gd name="adj" fmla="val 3553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#if __has_include("rahasia.h")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#include "rahasia.h"            // board asli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#else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WIFI_SSID "Wokwi-GUEST"  // Wokwi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WIFI_SANDI ""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#define WIFI_KANAL 6</a:t>
            </a:r>
            <a:endParaRPr lang="en-US" sz="1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6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#endif</a:t>
            </a:r>
            <a:endParaRPr lang="en-US" sz="16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include/rahasia.h</a:t>
            </a:r>
            <a:r>
              <a:rPr lang="en-US" sz="1700" dirty="0">
                <a:solidFill>
                  <a:schemeClr val="tx1"/>
                </a:solidFill>
              </a:rPr>
              <a:t> berisi SSID &amp; sandi asli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Tercantum di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.gitignore</a:t>
            </a:r>
            <a:r>
              <a:rPr lang="en-US" sz="1700" dirty="0">
                <a:solidFill>
                  <a:schemeClr val="tx1"/>
                </a:solidFill>
              </a:rPr>
              <a:t> → tidak ikut di-</a:t>
            </a:r>
            <a:r>
              <a:rPr lang="en-US" sz="1700" i="1" dirty="0">
                <a:solidFill>
                  <a:schemeClr val="tx1"/>
                </a:solidFill>
              </a:rPr>
              <a:t>commit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Tanpa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rahasia.h</a:t>
            </a:r>
            <a:r>
              <a:rPr lang="en-US" sz="1700" dirty="0">
                <a:solidFill>
                  <a:schemeClr val="tx1"/>
                </a:solidFill>
              </a:rPr>
              <a:t> tetap lulus kompilasi (Wokwi-GUEST)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Salin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rahasia.example.h</a:t>
            </a:r>
            <a:r>
              <a:rPr lang="en-US" sz="1700" dirty="0">
                <a:solidFill>
                  <a:schemeClr val="tx1"/>
                </a:solidFill>
              </a:rPr>
              <a:t> →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rahasia.h</a:t>
            </a:r>
            <a:r>
              <a:rPr lang="en-US" sz="1700" dirty="0">
                <a:solidFill>
                  <a:schemeClr val="tx1"/>
                </a:solidFill>
              </a:rPr>
              <a:t>, lalu isi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02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MQTT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Papan pengumuman untuk perangkat IoT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Pola Publish/Subscribe</a:t>
            </a:r>
            <a:endParaRPr lang="en-US" sz="3000" dirty="0"/>
          </a:p>
        </p:txBody>
      </p:sp>
      <p:pic>
        <p:nvPicPr>
          <p:cNvPr id="3" name="gambar" descr="/home/claude/work/slides/img/p13/p13-publish-subscri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05954"/>
            <a:ext cx="11094415" cy="464045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Empat Unsur MQTT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3258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6002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clou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7373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2860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Broker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432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Server yang menerima lalu meneruskan pesan, mis. broker.emqx.io.</a:t>
            </a:r>
            <a:endParaRPr lang="en-US" sz="1500" dirty="0"/>
          </a:p>
        </p:txBody>
      </p:sp>
      <p:sp>
        <p:nvSpPr>
          <p:cNvPr id="8" name="kartu"/>
          <p:cNvSpPr/>
          <p:nvPr/>
        </p:nvSpPr>
        <p:spPr>
          <a:xfrm>
            <a:off x="6255868" y="13258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6530188" y="16002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ip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348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530188" y="22860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Klien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530188" y="27432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ESP32, MQTTX, aplikasi HP. Bisa publish sekaligus subscribe.</a:t>
            </a:r>
            <a:endParaRPr lang="en-US" sz="1500" dirty="0"/>
          </a:p>
        </p:txBody>
      </p:sp>
      <p:sp>
        <p:nvSpPr>
          <p:cNvPr id="13" name="kartu"/>
          <p:cNvSpPr/>
          <p:nvPr/>
        </p:nvSpPr>
        <p:spPr>
          <a:xfrm>
            <a:off x="548640" y="38023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22960" y="40767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sitemap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42138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22960" y="47625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Topik</a:t>
            </a:r>
            <a:endParaRPr lang="en-US" sz="1900" dirty="0"/>
          </a:p>
        </p:txBody>
      </p:sp>
      <p:sp>
        <p:nvSpPr>
          <p:cNvPr id="17" name="Text 12"/>
          <p:cNvSpPr txBox="1"/>
          <p:nvPr/>
        </p:nvSpPr>
        <p:spPr>
          <a:xfrm>
            <a:off x="822960" y="52197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Alamat bertingkat: </a:t>
            </a: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kuliah-st/&lt;NIM&gt;/sensor</a:t>
            </a:r>
            <a:r>
              <a:rPr lang="en-US" sz="1500" dirty="0">
                <a:solidFill>
                  <a:schemeClr val="tx1"/>
                </a:solidFill>
              </a:rPr>
              <a:t>.</a:t>
            </a:r>
            <a:endParaRPr lang="en-US" sz="1500" dirty="0"/>
          </a:p>
        </p:txBody>
      </p:sp>
      <p:sp>
        <p:nvSpPr>
          <p:cNvPr id="18" name="kartu"/>
          <p:cNvSpPr/>
          <p:nvPr/>
        </p:nvSpPr>
        <p:spPr>
          <a:xfrm>
            <a:off x="6255868" y="3802380"/>
            <a:ext cx="5387188" cy="2156460"/>
          </a:xfrm>
          <a:prstGeom prst="roundRect">
            <a:avLst>
              <a:gd name="adj" fmla="val 5088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9" name="pad"/>
          <p:cNvSpPr/>
          <p:nvPr/>
        </p:nvSpPr>
        <p:spPr>
          <a:xfrm>
            <a:off x="6530188" y="4076700"/>
            <a:ext cx="548640" cy="54864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20" name="ikon-file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348" y="42138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530188" y="4762500"/>
            <a:ext cx="48385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Payload</a:t>
            </a:r>
            <a:endParaRPr lang="en-US" sz="1900" dirty="0"/>
          </a:p>
        </p:txBody>
      </p:sp>
      <p:sp>
        <p:nvSpPr>
          <p:cNvPr id="22" name="Text 16"/>
          <p:cNvSpPr txBox="1"/>
          <p:nvPr/>
        </p:nvSpPr>
        <p:spPr>
          <a:xfrm>
            <a:off x="6530188" y="5219700"/>
            <a:ext cx="4838548" cy="556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Isi pesan: teks </a:t>
            </a:r>
            <a:r>
              <a:rPr lang="en-US" sz="15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500" dirty="0">
                <a:solidFill>
                  <a:schemeClr val="tx1"/>
                </a:solidFill>
              </a:rPr>
              <a:t> atau JSON.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Topik Bertingkat dan Wildcard</a:t>
            </a:r>
            <a:endParaRPr lang="en-US" sz="3000" dirty="0"/>
          </a:p>
        </p:txBody>
      </p:sp>
      <p:pic>
        <p:nvPicPr>
          <p:cNvPr id="3" name="gambar" descr="/home/claude/work/slides/img/p13/p13-topik-wild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0643"/>
            <a:ext cx="11094415" cy="417107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Tiga Tingkat QoS</a:t>
            </a:r>
            <a:endParaRPr lang="en-US" sz="3000" dirty="0"/>
          </a:p>
        </p:txBody>
      </p:sp>
      <p:pic>
        <p:nvPicPr>
          <p:cNvPr id="3" name="gambar" descr="/home/claude/work/slides/img/p13/p13-q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470" y="1280160"/>
            <a:ext cx="10114755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LWT dan Retained Message</a:t>
            </a:r>
            <a:endParaRPr lang="en-US" sz="3000" dirty="0"/>
          </a:p>
        </p:txBody>
      </p:sp>
      <p:pic>
        <p:nvPicPr>
          <p:cNvPr id="3" name="gambar" descr="/home/claude/work/slides/img/p13/p13-lwt-ret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6110" y="1280160"/>
            <a:ext cx="9599475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Bawaan PubSubClient 2.8</a:t>
            </a:r>
            <a:endParaRPr lang="en-US" sz="3000" dirty="0"/>
          </a:p>
        </p:txBody>
      </p:sp>
      <p:graphicFrame>
        <p:nvGraphicFramePr>
          <p:cNvPr id="18" name="tabel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310896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Pengaturan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Bawaan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</a:rPr>
                        <a:t>Ubah dengan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Versi protokol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MQTT 3.1.1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Buffer paket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256 byte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setBufferSize()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Keep alive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 detik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setKeepAlive()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Batas tunggu balasan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15 detik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setSocketTimeout()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QoS publish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 saja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QoS subscribe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0 atau 1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</a:rPr>
                        <a:t>subscribe(topik, 1)</a:t>
                      </a:r>
                      <a:endParaRPr lang="en-US" sz="1600" dirty="0"/>
                    </a:p>
                  </a:txBody>
                  <a:tcPr marL="101600" marR="101600" marT="63500" marB="63500" anchor="ctr">
                    <a:lnL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MQTTX Web: Empat Langkah</a:t>
            </a:r>
            <a:endParaRPr lang="en-US" sz="3000" dirty="0"/>
          </a:p>
        </p:txBody>
      </p:sp>
      <p:pic>
        <p:nvPicPr>
          <p:cNvPr id="3" name="gambar" descr="/home/claude/work/slides/img/p13/p13-alur-mqtt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6185" y="1280160"/>
            <a:ext cx="7839324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Broker Publik = Ruang Publik</a:t>
            </a:r>
            <a:endParaRPr lang="en-US" sz="3000" dirty="0"/>
          </a:p>
        </p:txBody>
      </p:sp>
      <p:sp>
        <p:nvSpPr>
          <p:cNvPr id="3" name="kartu"/>
          <p:cNvSpPr/>
          <p:nvPr/>
        </p:nvSpPr>
        <p:spPr>
          <a:xfrm>
            <a:off x="548640" y="1600200"/>
            <a:ext cx="11094415" cy="1828800"/>
          </a:xfrm>
          <a:prstGeom prst="roundRect">
            <a:avLst>
              <a:gd name="adj" fmla="val 6000"/>
            </a:avLst>
          </a:prstGeom>
          <a:solidFill>
            <a:srgbClr val="FBEDEB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914400" y="2057400"/>
            <a:ext cx="914400" cy="9144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shield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2286000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103120" y="1600200"/>
            <a:ext cx="92656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Siapa pun bisa </a:t>
            </a:r>
            <a:r>
              <a:rPr lang="en-US" sz="2400" b="1" dirty="0">
                <a:solidFill>
                  <a:schemeClr val="tx1"/>
                </a:solidFill>
              </a:rPr>
              <a:t>membaca dan menulis</a:t>
            </a:r>
            <a:r>
              <a:rPr lang="en-US" sz="2400" dirty="0">
                <a:solidFill>
                  <a:schemeClr val="tx1"/>
                </a:solidFill>
              </a:rPr>
              <a:t> topikmu. Pakai hanya untuk belajar.</a:t>
            </a:r>
            <a:endParaRPr lang="en-US" sz="2400" dirty="0"/>
          </a:p>
        </p:txBody>
      </p:sp>
      <p:sp>
        <p:nvSpPr>
          <p:cNvPr id="7" name="daftar-poin"/>
          <p:cNvSpPr txBox="1"/>
          <p:nvPr/>
        </p:nvSpPr>
        <p:spPr>
          <a:xfrm>
            <a:off x="548640" y="3749040"/>
            <a:ext cx="11094415" cy="24231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Jangan kirim data pribadi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Jangan kendalikan alat berbahaya (pemanas, pompa, kunci pintu)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Produk nyata: TLS (8883) + autentikasi + broker pribadi</a:t>
            </a:r>
            <a:endParaRPr lang="en-US" sz="19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chemeClr val="tx1"/>
                </a:solidFill>
              </a:rPr>
              <a:t>Sandi Wi-Fi tidak di-</a:t>
            </a:r>
            <a:r>
              <a:rPr lang="en-US" sz="1900" i="1" dirty="0">
                <a:solidFill>
                  <a:schemeClr val="tx1"/>
                </a:solidFill>
              </a:rPr>
              <a:t>commit</a:t>
            </a:r>
            <a:r>
              <a:rPr lang="en-US" sz="1900" dirty="0">
                <a:solidFill>
                  <a:schemeClr val="tx1"/>
                </a:solidFill>
              </a:rPr>
              <a:t> (</a:t>
            </a:r>
            <a:r>
              <a:rPr lang="en-US" sz="19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rahasia.h</a:t>
            </a:r>
            <a:r>
              <a:rPr lang="en-US" sz="1900" dirty="0">
                <a:solidFill>
                  <a:schemeClr val="tx1"/>
                </a:solidFill>
              </a:rPr>
              <a:t>)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18288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03</a:t>
            </a:r>
            <a:endParaRPr lang="en-US" sz="60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297180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Praktikum</a:t>
            </a:r>
            <a:endParaRPr lang="en-US" sz="38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548640" y="42976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FE6DA"/>
                </a:solidFill>
              </a:rPr>
              <a:t>Pindai Wi-Fi, kirim data, kendalikan LED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2: Kirim JSON tiap 5 Detik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2462403"/>
          </a:xfrm>
          <a:prstGeom prst="roundRect">
            <a:avLst>
              <a:gd name="adj" fmla="val 3713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kode/02-mqtt-kirim-data/src/main.cpp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1895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5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snprintf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"{\"adc\":%d,\"persen\":%.1f,\"nomor\":%lu}"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nilaiAdc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persen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nomorPesan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publish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topikSensor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Serial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r>
              <a:rPr lang="en-US" sz="15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printf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5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"[KIRIM] %s -&gt; %s\n"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ok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"OK"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5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5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"GAGAL"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5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5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Potensiometer di </a:t>
            </a:r>
            <a:r>
              <a:rPr lang="en-US" sz="1700" b="1" dirty="0">
                <a:solidFill>
                  <a:schemeClr val="tx1"/>
                </a:solidFill>
              </a:rPr>
              <a:t>GPIO 34</a:t>
            </a:r>
            <a:r>
              <a:rPr lang="en-US" sz="1700" dirty="0">
                <a:solidFill>
                  <a:schemeClr val="tx1"/>
                </a:solidFill>
              </a:rPr>
              <a:t> (ADC1)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Topik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kuliah-st/&lt;NIM&gt;/sensor</a:t>
            </a:r>
            <a:r>
              <a:rPr lang="en-US" sz="1700" dirty="0">
                <a:solidFill>
                  <a:schemeClr val="tx1"/>
                </a:solidFill>
              </a:rPr>
              <a:t>, QoS 0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JSON memakai titik desimal: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50.0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Pantau di MQTTX: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kuliah-st/&lt;NIM&gt;/#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Praktikum 3: Perintah ON/OFF</a:t>
            </a:r>
            <a:endParaRPr lang="en-US" sz="3000" dirty="0"/>
          </a:p>
        </p:txBody>
      </p:sp>
      <p:sp>
        <p:nvSpPr>
          <p:cNvPr id="3" name="blok-kode"/>
          <p:cNvSpPr/>
          <p:nvPr/>
        </p:nvSpPr>
        <p:spPr>
          <a:xfrm>
            <a:off x="548640" y="1325880"/>
            <a:ext cx="6656649" cy="3684778"/>
          </a:xfrm>
          <a:prstGeom prst="roundRect">
            <a:avLst>
              <a:gd name="adj" fmla="val 2482"/>
            </a:avLst>
          </a:prstGeom>
          <a:solidFill>
            <a:srgbClr val="10231A"/>
          </a:solidFill>
          <a:ln w="12700">
            <a:solidFill>
              <a:srgbClr val="10231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1399032"/>
            <a:ext cx="619944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B8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kode/03-mqtt-kendali-led/src/main.cpp</a:t>
            </a:r>
            <a:endParaRPr lang="en-US" sz="1100" dirty="0"/>
          </a:p>
        </p:txBody>
      </p:sp>
      <p:sp>
        <p:nvSpPr>
          <p:cNvPr id="5" name="kode"/>
          <p:cNvSpPr txBox="1"/>
          <p:nvPr/>
        </p:nvSpPr>
        <p:spPr>
          <a:xfrm>
            <a:off x="777240" y="1783080"/>
            <a:ext cx="6290889" cy="3117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pesanMasuk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topik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panjang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perintah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unsigned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5FD3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panjang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panjang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memcpy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perintah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isi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perintah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'\0'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payload tanpa '\0'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strcasecmp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perintah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"ON"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ledMenyala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strcasecmp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perintah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F0A9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"OFF"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9DD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ledMenyala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abaikan perintah lain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E8DC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digitalWrite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PIN_LED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ledMenyala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7CC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perluLaporLed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US" sz="1300" dirty="0">
                <a:solidFill>
                  <a:srgbClr val="D7A6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r>
              <a:rPr lang="en-US" sz="1300" dirty="0">
                <a:solidFill>
                  <a:srgbClr val="D9E6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US" sz="1300" i="1" dirty="0">
                <a:solidFill>
                  <a:srgbClr val="86B5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publish dari loop()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B8C9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300" dirty="0"/>
          </a:p>
        </p:txBody>
      </p:sp>
      <p:sp>
        <p:nvSpPr>
          <p:cNvPr id="6" name="daftar-poin"/>
          <p:cNvSpPr txBox="1"/>
          <p:nvPr/>
        </p:nvSpPr>
        <p:spPr>
          <a:xfrm>
            <a:off x="7571049" y="1325880"/>
            <a:ext cx="4072006" cy="484632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Subscribe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kuliah-st/&lt;NIM&gt;/led</a:t>
            </a:r>
            <a:r>
              <a:rPr lang="en-US" sz="1700" dirty="0">
                <a:solidFill>
                  <a:schemeClr val="tx1"/>
                </a:solidFill>
              </a:rPr>
              <a:t> (QoS 1)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Topik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…/status</a:t>
            </a:r>
            <a:r>
              <a:rPr lang="en-US" sz="1700" dirty="0">
                <a:solidFill>
                  <a:schemeClr val="tx1"/>
                </a:solidFill>
              </a:rPr>
              <a:t> berisi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</a:t>
            </a:r>
            <a:r>
              <a:rPr lang="en-US" sz="1700" dirty="0">
                <a:solidFill>
                  <a:schemeClr val="tx1"/>
                </a:solidFill>
              </a:rPr>
              <a:t> atau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</a:t>
            </a:r>
            <a:r>
              <a:rPr lang="en-US" sz="1700" dirty="0">
                <a:solidFill>
                  <a:schemeClr val="tx1"/>
                </a:solidFill>
              </a:rPr>
              <a:t> (</a:t>
            </a:r>
            <a:r>
              <a:rPr lang="en-US" sz="1700" i="1" dirty="0">
                <a:solidFill>
                  <a:schemeClr val="tx1"/>
                </a:solidFill>
              </a:rPr>
              <a:t>retain</a:t>
            </a:r>
            <a:r>
              <a:rPr lang="en-US" sz="1700" dirty="0">
                <a:solidFill>
                  <a:schemeClr val="tx1"/>
                </a:solidFill>
              </a:rPr>
              <a:t>);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offline</a:t>
            </a:r>
            <a:r>
              <a:rPr lang="en-US" sz="1700" dirty="0">
                <a:solidFill>
                  <a:schemeClr val="tx1"/>
                </a:solidFill>
              </a:rPr>
              <a:t> dikirim </a:t>
            </a:r>
            <a:r>
              <a:rPr lang="en-US" sz="1700" i="1" dirty="0">
                <a:solidFill>
                  <a:schemeClr val="tx1"/>
                </a:solidFill>
              </a:rPr>
              <a:t>broker</a:t>
            </a:r>
            <a:r>
              <a:rPr lang="en-US" sz="1700" dirty="0">
                <a:solidFill>
                  <a:schemeClr val="tx1"/>
                </a:solidFill>
              </a:rPr>
              <a:t> lewat LWT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Sambung ulang dijadwalkan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r>
              <a:rPr lang="en-US" sz="1700" dirty="0">
                <a:solidFill>
                  <a:schemeClr val="tx1"/>
                </a:solidFill>
              </a:rPr>
              <a:t>, tanpa </a:t>
            </a:r>
            <a:r>
              <a:rPr lang="en-US" sz="1700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</a:t>
            </a:r>
            <a:endParaRPr lang="en-US" sz="17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Jangan publish di dalam </a:t>
            </a:r>
            <a:r>
              <a:rPr lang="en-US" sz="1700" i="1" dirty="0">
                <a:solidFill>
                  <a:schemeClr val="tx1"/>
                </a:solidFill>
              </a:rPr>
              <a:t>callback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Kuis Cepat</a:t>
            </a:r>
            <a:endParaRPr lang="en-US" sz="3000" dirty="0"/>
          </a:p>
        </p:txBody>
      </p:sp>
      <p:sp>
        <p:nvSpPr>
          <p:cNvPr id="3" name="pad"/>
          <p:cNvSpPr/>
          <p:nvPr/>
        </p:nvSpPr>
        <p:spPr>
          <a:xfrm>
            <a:off x="548640" y="1371600"/>
            <a:ext cx="685800" cy="685800"/>
          </a:xfrm>
          <a:prstGeom prst="ellipse">
            <a:avLst/>
          </a:prstGeom>
          <a:solidFill>
            <a:schemeClr val="bg1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questi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0090" y="1543050"/>
            <a:ext cx="342900" cy="3429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63040" y="1325880"/>
            <a:ext cx="101800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ESP32 berlangganan </a:t>
            </a:r>
            <a:r>
              <a:rPr lang="en-US" sz="2200" b="1" dirty="0">
                <a:solidFill>
                  <a:srgbClr val="A35F1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kuliah-st/12345678/+</a:t>
            </a:r>
            <a:r>
              <a:rPr lang="en-US" sz="2200" b="1" dirty="0">
                <a:solidFill>
                  <a:schemeClr val="tx1"/>
                </a:solidFill>
              </a:rPr>
              <a:t>. Pesan dari topik mana yang TIDAK diterima?</a:t>
            </a:r>
            <a:endParaRPr lang="en-US" sz="2200" dirty="0"/>
          </a:p>
        </p:txBody>
      </p:sp>
      <p:sp>
        <p:nvSpPr>
          <p:cNvPr id="6" name="kartu"/>
          <p:cNvSpPr/>
          <p:nvPr/>
        </p:nvSpPr>
        <p:spPr>
          <a:xfrm>
            <a:off x="548640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A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1325880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kuliah-st/12345678/led</a:t>
            </a:r>
            <a:endParaRPr lang="en-US" sz="1800" dirty="0"/>
          </a:p>
        </p:txBody>
      </p:sp>
      <p:sp>
        <p:nvSpPr>
          <p:cNvPr id="9" name="kartu"/>
          <p:cNvSpPr/>
          <p:nvPr/>
        </p:nvSpPr>
        <p:spPr>
          <a:xfrm>
            <a:off x="6233008" y="251460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15888" y="251460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B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7010248" y="251460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kuliah-st/12345678/status</a:t>
            </a:r>
            <a:endParaRPr lang="en-US" sz="1800" dirty="0"/>
          </a:p>
        </p:txBody>
      </p:sp>
      <p:sp>
        <p:nvSpPr>
          <p:cNvPr id="12" name="kartu"/>
          <p:cNvSpPr/>
          <p:nvPr/>
        </p:nvSpPr>
        <p:spPr>
          <a:xfrm>
            <a:off x="548640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31520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C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325880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kuliah-st/12345678/led/status</a:t>
            </a:r>
            <a:endParaRPr lang="en-US" sz="1800" dirty="0"/>
          </a:p>
        </p:txBody>
      </p:sp>
      <p:sp>
        <p:nvSpPr>
          <p:cNvPr id="15" name="kartu"/>
          <p:cNvSpPr/>
          <p:nvPr/>
        </p:nvSpPr>
        <p:spPr>
          <a:xfrm>
            <a:off x="6233008" y="3931920"/>
            <a:ext cx="5410048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9525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15888" y="3931920"/>
            <a:ext cx="548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D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7010248" y="3931920"/>
            <a:ext cx="44499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kuliah-st/12345678/sensor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F67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Rangkuman</a:t>
            </a:r>
            <a:endParaRPr lang="en-US" sz="3200" dirty="0"/>
          </a:p>
        </p:txBody>
      </p:sp>
      <p:sp>
        <p:nvSpPr>
          <p:cNvPr id="3" name="pad"/>
          <p:cNvSpPr/>
          <p:nvPr/>
        </p:nvSpPr>
        <p:spPr>
          <a:xfrm>
            <a:off x="548640" y="15849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4" name="ikon-check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7512" y="170383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4173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IoT: perangkat → jaringan → </a:t>
            </a:r>
            <a:r>
              <a:rPr lang="en-US" sz="2000" b="1" dirty="0">
                <a:solidFill>
                  <a:schemeClr val="bg1"/>
                </a:solidFill>
              </a:rPr>
              <a:t>broker</a:t>
            </a:r>
            <a:r>
              <a:rPr lang="en-US" sz="2000" dirty="0">
                <a:solidFill>
                  <a:schemeClr val="bg1"/>
                </a:solidFill>
              </a:rPr>
              <a:t> → aplikasi</a:t>
            </a:r>
            <a:endParaRPr lang="en-US" sz="2000" dirty="0"/>
          </a:p>
        </p:txBody>
      </p:sp>
      <p:sp>
        <p:nvSpPr>
          <p:cNvPr id="6" name="pad"/>
          <p:cNvSpPr/>
          <p:nvPr/>
        </p:nvSpPr>
        <p:spPr>
          <a:xfrm>
            <a:off x="548640" y="237744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7" name="ikon-chec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2496312"/>
            <a:ext cx="219456" cy="21945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280160" y="220980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ESP32 hanya </a:t>
            </a:r>
            <a:r>
              <a:rPr lang="en-US" sz="2000" b="1" dirty="0">
                <a:solidFill>
                  <a:schemeClr val="bg1"/>
                </a:solidFill>
              </a:rPr>
              <a:t>2,4 GHz</a:t>
            </a:r>
            <a:r>
              <a:rPr lang="en-US" sz="2000" dirty="0">
                <a:solidFill>
                  <a:schemeClr val="bg1"/>
                </a:solidFill>
              </a:rPr>
              <a:t>; STA = tamu, AP = tuan rumah; RSSI mendekati 0 = kuat</a:t>
            </a:r>
            <a:endParaRPr lang="en-US" sz="2000" dirty="0"/>
          </a:p>
        </p:txBody>
      </p:sp>
      <p:sp>
        <p:nvSpPr>
          <p:cNvPr id="9" name="pad"/>
          <p:cNvSpPr/>
          <p:nvPr/>
        </p:nvSpPr>
        <p:spPr>
          <a:xfrm>
            <a:off x="548640" y="316992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check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" y="3288792"/>
            <a:ext cx="219456" cy="219456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300228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MQTT: publish/subscribe lewat broker; wildcard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</a:t>
            </a:r>
            <a:r>
              <a:rPr lang="en-US" sz="2000" dirty="0">
                <a:solidFill>
                  <a:schemeClr val="bg1"/>
                </a:solidFill>
              </a:rPr>
              <a:t> dan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</a:t>
            </a:r>
            <a:r>
              <a:rPr lang="en-US" sz="2000" dirty="0">
                <a:solidFill>
                  <a:schemeClr val="bg1"/>
                </a:solidFill>
              </a:rPr>
              <a:t> hanya untuk subscribe</a:t>
            </a:r>
            <a:endParaRPr lang="en-US" sz="2000" dirty="0"/>
          </a:p>
        </p:txBody>
      </p:sp>
      <p:sp>
        <p:nvSpPr>
          <p:cNvPr id="12" name="pad"/>
          <p:cNvSpPr/>
          <p:nvPr/>
        </p:nvSpPr>
        <p:spPr>
          <a:xfrm>
            <a:off x="548640" y="396240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3" name="ikon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" y="4081272"/>
            <a:ext cx="219456" cy="219456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280160" y="379476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QoS 0/1/2; retained = pesan terakhir; LWT = wasiat saat putus tanpa pamit</a:t>
            </a:r>
            <a:endParaRPr lang="en-US" sz="2000" dirty="0"/>
          </a:p>
        </p:txBody>
      </p:sp>
      <p:sp>
        <p:nvSpPr>
          <p:cNvPr id="15" name="pad"/>
          <p:cNvSpPr/>
          <p:nvPr/>
        </p:nvSpPr>
        <p:spPr>
          <a:xfrm>
            <a:off x="548640" y="475488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6" name="ikon-check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" y="4873752"/>
            <a:ext cx="219456" cy="219456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280160" y="458724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Panggil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mqtt.loop()</a:t>
            </a:r>
            <a:r>
              <a:rPr lang="en-US" sz="2000" dirty="0">
                <a:solidFill>
                  <a:schemeClr val="bg1"/>
                </a:solidFill>
              </a:rPr>
              <a:t> sesering mungkin; sambung ulang pakai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millis()</a:t>
            </a:r>
            <a:endParaRPr lang="en-US" sz="2000" dirty="0"/>
          </a:p>
        </p:txBody>
      </p:sp>
      <p:sp>
        <p:nvSpPr>
          <p:cNvPr id="18" name="pad"/>
          <p:cNvSpPr/>
          <p:nvPr/>
        </p:nvSpPr>
        <p:spPr>
          <a:xfrm>
            <a:off x="548640" y="5547360"/>
            <a:ext cx="457200" cy="457200"/>
          </a:xfrm>
          <a:prstGeom prst="ellipse">
            <a:avLst/>
          </a:prstGeom>
          <a:solidFill>
            <a:schemeClr val="tx2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9" name="ikon-check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5666232"/>
            <a:ext cx="219456" cy="219456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280160" y="5379720"/>
            <a:ext cx="1036289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Broker publik hanya untuk belajar; sandi di </a:t>
            </a:r>
            <a:r>
              <a:rPr lang="en-US" sz="2000" dirty="0">
                <a:solidFill>
                  <a:srgbClr val="F2C9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rahasia.h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Sebelum Pertemuan 14</a:t>
            </a:r>
            <a:endParaRPr lang="en-US" sz="3200" dirty="0"/>
          </a:p>
        </p:txBody>
      </p:sp>
      <p:sp>
        <p:nvSpPr>
          <p:cNvPr id="3" name="kartu"/>
          <p:cNvSpPr/>
          <p:nvPr/>
        </p:nvSpPr>
        <p:spPr>
          <a:xfrm>
            <a:off x="548640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4" name="pad"/>
          <p:cNvSpPr/>
          <p:nvPr/>
        </p:nvSpPr>
        <p:spPr>
          <a:xfrm>
            <a:off x="822960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5" name="ikon-task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431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Tugas</a:t>
            </a:r>
            <a:endParaRPr lang="en-US" sz="2100" dirty="0"/>
          </a:p>
        </p:txBody>
      </p:sp>
      <p:sp>
        <p:nvSpPr>
          <p:cNvPr id="7" name="daftar-poin"/>
          <p:cNvSpPr txBox="1"/>
          <p:nvPr/>
        </p:nvSpPr>
        <p:spPr>
          <a:xfrm>
            <a:off x="822960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Latihan 1: termometer daring DHT22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Latihan 2: kendali dua arah dengan tombol</a:t>
            </a:r>
            <a:endParaRPr lang="en-US" sz="1600" dirty="0"/>
          </a:p>
        </p:txBody>
      </p:sp>
      <p:sp>
        <p:nvSpPr>
          <p:cNvPr id="8" name="kartu"/>
          <p:cNvSpPr/>
          <p:nvPr/>
        </p:nvSpPr>
        <p:spPr>
          <a:xfrm>
            <a:off x="4353458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9" name="pad"/>
          <p:cNvSpPr/>
          <p:nvPr/>
        </p:nvSpPr>
        <p:spPr>
          <a:xfrm>
            <a:off x="4627778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0" name="ikon-book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798" y="19431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27778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Persiapan</a:t>
            </a:r>
            <a:endParaRPr lang="en-US" sz="2100" dirty="0"/>
          </a:p>
        </p:txBody>
      </p:sp>
      <p:sp>
        <p:nvSpPr>
          <p:cNvPr id="12" name="daftar-poin"/>
          <p:cNvSpPr txBox="1"/>
          <p:nvPr/>
        </p:nvSpPr>
        <p:spPr>
          <a:xfrm>
            <a:off x="4627778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modul Pertemuan 14: Hemat Daya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Ukur: berapa lama ESP32 hidup dengan baterai?</a:t>
            </a:r>
            <a:endParaRPr lang="en-US" sz="1600" dirty="0"/>
          </a:p>
        </p:txBody>
      </p:sp>
      <p:sp>
        <p:nvSpPr>
          <p:cNvPr id="13" name="kartu"/>
          <p:cNvSpPr/>
          <p:nvPr/>
        </p:nvSpPr>
        <p:spPr>
          <a:xfrm>
            <a:off x="8158277" y="1508760"/>
            <a:ext cx="3484778" cy="4389120"/>
          </a:xfrm>
          <a:prstGeom prst="roundRect">
            <a:avLst>
              <a:gd name="adj" fmla="val 3149"/>
            </a:avLst>
          </a:prstGeom>
          <a:solidFill>
            <a:srgbClr val="17503B"/>
          </a:solidFill>
          <a:ln w="12700">
            <a:solidFill>
              <a:srgbClr val="17503B"/>
            </a:solidFill>
            <a:prstDash val="solid"/>
          </a:ln>
        </p:spPr>
      </p:sp>
      <p:sp>
        <p:nvSpPr>
          <p:cNvPr id="14" name="pad"/>
          <p:cNvSpPr/>
          <p:nvPr/>
        </p:nvSpPr>
        <p:spPr>
          <a:xfrm>
            <a:off x="8432597" y="1783080"/>
            <a:ext cx="640080" cy="640080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accent2"/>
            </a:solidFill>
            <a:prstDash val="solid"/>
          </a:ln>
        </p:spPr>
      </p:sp>
      <p:pic>
        <p:nvPicPr>
          <p:cNvPr id="15" name="ikon-comments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617" y="19431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32597" y="2560320"/>
            <a:ext cx="29361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chemeClr val="bg1"/>
                </a:solidFill>
              </a:rPr>
              <a:t>Butuh Bantuan?</a:t>
            </a:r>
            <a:endParaRPr lang="en-US" sz="2100" dirty="0"/>
          </a:p>
        </p:txBody>
      </p:sp>
      <p:sp>
        <p:nvSpPr>
          <p:cNvPr id="17" name="daftar-poin"/>
          <p:cNvSpPr txBox="1"/>
          <p:nvPr/>
        </p:nvSpPr>
        <p:spPr>
          <a:xfrm>
            <a:off x="8432597" y="3063240"/>
            <a:ext cx="2936138" cy="2651760"/>
          </a:xfrm>
          <a:prstGeom prst="rect">
            <a:avLst/>
          </a:prstGeom>
          <a:noFill/>
          <a:ln/>
        </p:spPr>
        <p:txBody>
          <a:bodyPr wrap="square" lIns="25400" tIns="25400" rIns="50800" bIns="25400" rtlCol="0" anchor="t"/>
          <a:lstStyle/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Baca panduan/06-mengatasi-masalah.md</a:t>
            </a:r>
            <a:endParaRPr lang="en-US" sz="1600" dirty="0"/>
          </a:p>
          <a:p>
            <a:pPr marL="279400" indent="-2794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Tanyakan di forum kelas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9FBFA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stem Tertanam PCB">
  <a:themeElements>
    <a:clrScheme name="Sistem Tertanam PCB">
      <a:dk1>
        <a:srgbClr val="13261D"/>
      </a:dk1>
      <a:lt1>
        <a:srgbClr val="FFFFFF"/>
      </a:lt1>
      <a:dk2>
        <a:srgbClr val="0F3D2C"/>
      </a:dk2>
      <a:lt2>
        <a:srgbClr val="EEF5F1"/>
      </a:lt2>
      <a:accent1>
        <a:srgbClr val="1F6F50"/>
      </a:accent1>
      <a:accent2>
        <a:srgbClr val="C27C2C"/>
      </a:accent2>
      <a:accent3>
        <a:srgbClr val="1F6FD1"/>
      </a:accent3>
      <a:accent4>
        <a:srgbClr val="C0392B"/>
      </a:accent4>
      <a:accent5>
        <a:srgbClr val="5F6F67"/>
      </a:accent5>
      <a:accent6>
        <a:srgbClr val="D9A441"/>
      </a:accent6>
      <a:hlink>
        <a:srgbClr val="1F6FD1"/>
      </a:hlink>
      <a:folHlink>
        <a:srgbClr val="7B3FBF"/>
      </a:folHlink>
    </a:clrScheme>
    <a:fontScheme name="Sistem Tertanam PCB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Sistem Tertanam (Embedded Systems)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Pertemuan 13: IoT: Wi-Fi dan MQTT</dc:title>
  <dc:subject>Sistem Tertanam — Pertemuan 13</dc:subject>
  <dc:creator>Anton Prafanto</dc:creator>
  <cp:lastModifiedBy>Anton Prafanto</cp:lastModifiedBy>
  <cp:revision>1</cp:revision>
  <dcterms:created xsi:type="dcterms:W3CDTF">2026-10-19T00:59:17Z</dcterms:created>
  <dcterms:modified xsi:type="dcterms:W3CDTF">2026-10-19T00:59:17Z</dcterms:modified>
</cp:coreProperties>
</file>