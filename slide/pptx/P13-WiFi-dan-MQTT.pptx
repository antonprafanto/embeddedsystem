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c9059963-3780-6a6b-3821-680d00305665}">
          <p14:sldIdLst>
            <p14:sldId id="256"/>
            <p14:sldId id="257"/>
            <p14:sldId id="258"/>
          </p14:sldIdLst>
        </p14:section>
        <p14:section name="Wi-Fi" id="{5161df75-e078-01ab-a4db-b2255945d6dc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QTT" id="{fdd864c7-fd68-9409-05e0-fc643dacc17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aktikum" id="{d319a1aa-1473-7cf8-a283-ed0fce3a5256}">
          <p14:sldIdLst>
            <p14:sldId id="275"/>
            <p14:sldId id="276"/>
            <p14:sldId id="277"/>
            <p14:sldId id="278"/>
          </p14:sldIdLst>
        </p14:section>
        <p14:section name="Penutup" id="{2baeb8c3-248f-94fc-89c2-801d738a937d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pertanyaan: kalau kalian di kampus, bagaimana caranya tahu lampu teras kos sudah menyala atau belum? Kumpulkan jawaban, lalu arahkan ke ide IoT: perangkat melapor lewat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setiap mahasiswa minimal berhasil melihat data potensiometernya sendiri muncul di MQTTX Web (lewat Wokwi juga boleh).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mengapa perlu broker: HP dan ESP32 berada di jaringan berbeda, router/hotspot tidak menerima sambungan masuk. Keduanya cukup membuat sambungan KELUAR ke broker. Tanyakan: di mana posisi Wokwi-GUEST? (lapis jaringan).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tamu vs tuan rumah. Semua praktikum memakai STA. Mode AP biasa dipakai untuk halaman pengaturan awal perangkat (misalnya memasukkan sandi Wi-Fi rumah). Sandi softAP minimal 8 karakter.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Pertanyaan pancingan: −50 ke −80 dBm turun berapa kali lipat? Jawab: 30 dB = 1.000 kali. Kategori di gambar hanya patokan kasar, bukan standar resmi. ESP32 hanya 2,4 GHz: penyebab nomor satu hotspot tidak terlihat.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lain yang sering muncul: 1 = WL_NO_SSID_AVAIL (SSID tidak ditemukan), 6 = WL_DISCONNECTED. Di board asli kanal sebaiknya 0 (cari otomatis). Ingatkan: Wi-Fi aktif = ADC2 tidak bisa dipakai, jadi sensor analog di GPIO 32–39.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Android: pengaturan pita/AP band pilih 2,4 GHz. iPhone: aktifkan Maksimalkan Kompatibilitas. Wokwi Public Gateway dipantau, jadi jangan kirim data sensitif. Ping (ICMP) tidak didukung di Wokwi.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Riwayat Git menyimpan sandi yang pernah di-commit walaupun barisnya dihapus belakangan. Di Wokwi web cukup salin main.cpp ke sketch.ino; __has_include bernilai false sehingga otomatis memakai Wokwi-GUEST.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papan pengumuman per rubrik. Pengirim dan penerima tidak saling kenal, hanya sepakat nama topik. MQTT di atas TCP: 1883 polos, 8883 TLS; peramban memakai WebSocket. Kepala paket minimal 2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Tanyakan: siapa publisher dan siapa subscriber di Praktikum 3? (ESP32 dan MQTTX keduanya berperan ganda).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 = tepat satu tingkat; # = semua tingkat di bawahnya, hanya di akhir. Wildcard hanya untuk subscribe. Topik peka huruf besar/kecil. Demo privasi: subscribe kuliah-st/+/sensor menampilkan data semua mahasiswa.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QoS berlaku per ruas (pengirim→broker, broker→pelanggan); yang sampai = minimum keduanya. PubSubClient: publish QoS 0 saja, subscribe 0/1. QoS 1 bisa dobel → perintah harus idempoten (ON/OFF, bukan TOGGLE).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alive bawaan PubSubClient 15 s; broker memutus setelah 1,5 × keep alive = 22,5 s tanpa paket. Wasiat tidak diterbitkan bila klien mengirim DISCONNECT. Retained dihapus dengan pesan kosong + retain.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Diverifikasi dari PubSubClient.h/.cpp v2.8. Isi pesan maksimum = 256 − 5 − 2 − panjang topik; untuk kuliah-st/12345678/sensor = 224 byte. ID klien: spesifikasi menjamin 1–23 karakter alfanumerik; ID sama → klien lama diputus. Di Wokwi semua ESP32 ber-MAC sama, jadi jangan pakai MAC saja.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 daring MQTTX Web hanya mengizinkan wss://, jadi pakai port 8084 path /mqtt. Client ID biarkan otomatis. Subscribe kuliah-st/&lt;NIM&gt;/#. Saat mengirim perintah, jangan centang Retain. Alternatif: test.mosquitto.org (WSS 8081) atau HiveMQ WebSocket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Diskusi: apa yang terjadi bila relay pompa air dihubungkan ke broker publik dan orang iseng mengirim ON? Tambahkan juga pengaman fisik (sakelar batas, sekring) yang tetap bekerja walau jaringan bermasalah.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konstanta NIM dulu (GANTI_NIM). Bidang nomor membantu melihat pesan QoS 0 yang hilang. state -2 = TCP gagal (port 1883 diblokir/internet mati), -4 = waktu habis, 2 = ID klien ditolak.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PubSubClient memakai satu buffer untuk pesan masuk dan keluar, jadi publish di dalam callback menimpa data yang sedang dibaca. LED biru GPIO 2: kedip cepat = belum tersambung broker, lambat = tersambung. Uji LWT: hentikan simulasi, offline muncul paling lama ±22,5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C. Tanda + hanya mewakili satu tingkat, sedangkan led/status dua tingkat. Untuk menerimanya pakai #.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13 · Wi-Fi dan MQTT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13 · Wi-Fi dan MQTT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13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IoT: Wi-Fi dan MQTT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Dari sensor di meja sampai pesan di peramban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sitema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arsitektur </a:t>
            </a:r>
            <a:r>
              <a:rPr lang="en-US" sz="2000" b="1" dirty="0">
                <a:solidFill>
                  <a:schemeClr val="tx1"/>
                </a:solidFill>
              </a:rPr>
              <a:t>IoT</a:t>
            </a:r>
            <a:r>
              <a:rPr lang="en-US" sz="2000" dirty="0">
                <a:solidFill>
                  <a:schemeClr val="tx1"/>
                </a:solidFill>
              </a:rPr>
              <a:t>: perangkat → jaringan → broker → aplikasi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wifi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Memindai Wi-Fi (SSID, RSSI, kanal) dan menyambung dalam mode </a:t>
            </a:r>
            <a:r>
              <a:rPr lang="en-US" sz="2000" b="1" dirty="0">
                <a:solidFill>
                  <a:schemeClr val="tx1"/>
                </a:solidFill>
              </a:rPr>
              <a:t>STA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</a:t>
            </a:r>
            <a:r>
              <a:rPr lang="en-US" sz="2000" b="1" dirty="0">
                <a:solidFill>
                  <a:schemeClr val="tx1"/>
                </a:solidFill>
              </a:rPr>
              <a:t>MQTT</a:t>
            </a:r>
            <a:r>
              <a:rPr lang="en-US" sz="2000" dirty="0">
                <a:solidFill>
                  <a:schemeClr val="tx1"/>
                </a:solidFill>
              </a:rPr>
              <a:t>: topik, wildcard, QoS, retained, LWT, keep alive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uploa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Mengirim data sensor </a:t>
            </a:r>
            <a:r>
              <a:rPr lang="en-US" sz="2000" b="1" dirty="0">
                <a:solidFill>
                  <a:schemeClr val="tx1"/>
                </a:solidFill>
              </a:rPr>
              <a:t>JSON</a:t>
            </a:r>
            <a:r>
              <a:rPr lang="en-US" sz="2000" dirty="0">
                <a:solidFill>
                  <a:schemeClr val="tx1"/>
                </a:solidFill>
              </a:rPr>
              <a:t> ke broker dan memantaunya di MQTTX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shiel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Mengendalikan LED lewat MQTT dengan sambung ulang </a:t>
            </a:r>
            <a:r>
              <a:rPr lang="en-US" sz="2000" b="1" dirty="0">
                <a:solidFill>
                  <a:schemeClr val="tx1"/>
                </a:solidFill>
              </a:rPr>
              <a:t>tanpa memblokir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Peta Materi Hari Ini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Arsitektur IoT</a:t>
            </a:r>
            <a:endParaRPr lang="en-US" sz="1900" dirty="0"/>
          </a:p>
        </p:txBody>
      </p:sp>
      <p:sp>
        <p:nvSpPr>
          <p:cNvPr id="6" name="kartu"/>
          <p:cNvSpPr/>
          <p:nvPr/>
        </p:nvSpPr>
        <p:spPr>
          <a:xfrm>
            <a:off x="548640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Wi-Fi ESP32: STA/AP, RSSI, DHCP</a:t>
            </a:r>
            <a:endParaRPr lang="en-US" sz="1900" dirty="0"/>
          </a:p>
        </p:txBody>
      </p:sp>
      <p:sp>
        <p:nvSpPr>
          <p:cNvPr id="9" name="kartu"/>
          <p:cNvSpPr/>
          <p:nvPr/>
        </p:nvSpPr>
        <p:spPr>
          <a:xfrm>
            <a:off x="548640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Wokwi vs board asli + menyimpan sandi</a:t>
            </a:r>
            <a:endParaRPr lang="en-US" sz="1900" dirty="0"/>
          </a:p>
        </p:txBody>
      </p:sp>
      <p:sp>
        <p:nvSpPr>
          <p:cNvPr id="12" name="kartu"/>
          <p:cNvSpPr/>
          <p:nvPr/>
        </p:nvSpPr>
        <p:spPr>
          <a:xfrm>
            <a:off x="6278728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93128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MQTT: publish/subscribe, topik, QoS</a:t>
            </a:r>
            <a:endParaRPr lang="en-US" sz="1900" dirty="0"/>
          </a:p>
        </p:txBody>
      </p:sp>
      <p:sp>
        <p:nvSpPr>
          <p:cNvPr id="15" name="kartu"/>
          <p:cNvSpPr/>
          <p:nvPr/>
        </p:nvSpPr>
        <p:spPr>
          <a:xfrm>
            <a:off x="6278728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193128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Retained, LWT, keep alive, ID klien</a:t>
            </a:r>
            <a:endParaRPr lang="en-US" sz="1900" dirty="0"/>
          </a:p>
        </p:txBody>
      </p:sp>
      <p:sp>
        <p:nvSpPr>
          <p:cNvPr id="18" name="kartu"/>
          <p:cNvSpPr/>
          <p:nvPr/>
        </p:nvSpPr>
        <p:spPr>
          <a:xfrm>
            <a:off x="6278728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61608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Praktikum: pindai Wi-Fi, kirim data, kendali LED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IoT dan Wi-Fi ESP32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Membawa data dari meja kerja ke internet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Arsitektur IoT: Empat Lapis</a:t>
            </a:r>
            <a:endParaRPr lang="en-US" sz="3000" dirty="0"/>
          </a:p>
        </p:txBody>
      </p:sp>
      <p:pic>
        <p:nvPicPr>
          <p:cNvPr id="3" name="gambar" descr="/home/claude/work/slides/img/p13/p13-arsitektur-i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837" y="1280160"/>
            <a:ext cx="1084802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 STA dan Mode AP</a:t>
            </a:r>
            <a:endParaRPr lang="en-US" sz="3000" dirty="0"/>
          </a:p>
        </p:txBody>
      </p:sp>
      <p:pic>
        <p:nvPicPr>
          <p:cNvPr id="3" name="gambar" descr="/home/claude/work/slides/img/p13/p13-mode-sta-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2450" y="1280160"/>
            <a:ext cx="8726795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RSSI: Makin Mendekati 0, Makin Kuat</a:t>
            </a:r>
            <a:endParaRPr lang="en-US" sz="3000" dirty="0"/>
          </a:p>
        </p:txBody>
      </p:sp>
      <p:pic>
        <p:nvPicPr>
          <p:cNvPr id="3" name="gambar" descr="/home/claude/work/slides/img/p13/p13-skala-rs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6247"/>
            <a:ext cx="11094415" cy="396838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577785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dBm itu logaritmis: −30 dBm = 1 µW, −60 dBm = 1 nW. Turun 10 dB = daya tinggal 1/10.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Menyambung ke Wi-Fi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081528"/>
          </a:xfrm>
          <a:prstGeom prst="roundRect">
            <a:avLst>
              <a:gd name="adj" fmla="val 2967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 singkat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&lt;WiFi.h&gt;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115200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WIFI_STA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2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jadi "tamu"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"Wokwi-GUEST"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SSID, sandi, kanal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WL_CONNECTED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"."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2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localIP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2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2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10.10.0.2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WiFi.scanNetworks()</a:t>
            </a:r>
            <a:r>
              <a:rPr lang="en-US" sz="1700" dirty="0">
                <a:solidFill>
                  <a:schemeClr val="tx1"/>
                </a:solidFill>
              </a:rPr>
              <a:t>: pindai, hasilkan jumlah jaringan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WiFi.status()</a:t>
            </a:r>
            <a:r>
              <a:rPr lang="en-US" sz="1700" dirty="0">
                <a:solidFill>
                  <a:schemeClr val="tx1"/>
                </a:solidFill>
              </a:rPr>
              <a:t> =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WL_CONNECTED</a:t>
            </a:r>
            <a:r>
              <a:rPr lang="en-US" sz="1700" dirty="0">
                <a:solidFill>
                  <a:schemeClr val="tx1"/>
                </a:solidFill>
              </a:rPr>
              <a:t> (3) bila tersambung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WiFi.localIP()</a:t>
            </a:r>
            <a:r>
              <a:rPr lang="en-US" sz="1700" dirty="0">
                <a:solidFill>
                  <a:schemeClr val="tx1"/>
                </a:solidFill>
              </a:rPr>
              <a:t>: alamat dari </a:t>
            </a:r>
            <a:r>
              <a:rPr lang="en-US" sz="1700" b="1" dirty="0">
                <a:solidFill>
                  <a:schemeClr val="tx1"/>
                </a:solidFill>
              </a:rPr>
              <a:t>DHCP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Kanal 6 di Wokwi: sambung ±4 detik lebih cepat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Wi-Fi di Wokwi vs Board Asli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139696"/>
            <a:ext cx="5364328" cy="2944368"/>
          </a:xfrm>
          <a:prstGeom prst="roundRect">
            <a:avLst>
              <a:gd name="adj" fmla="val 3727"/>
            </a:avLst>
          </a:prstGeom>
          <a:solidFill>
            <a:srgbClr val="F3F5F4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236829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laptop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" y="2510028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36829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Wokwi</a:t>
            </a:r>
            <a:endParaRPr lang="en-US" sz="22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99816"/>
            <a:ext cx="4815688" cy="184708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SSID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Wokwi-GUEST</a:t>
            </a:r>
            <a:r>
              <a:rPr lang="en-US" sz="1800" dirty="0">
                <a:solidFill>
                  <a:schemeClr val="tx1"/>
                </a:solidFill>
              </a:rPr>
              <a:t>, tanpa sandi, kanal 6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IP selalu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10.10.0.2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Hanya sambungan keluar; lalu lintas dipantau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Tidak perlu berkas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rahasia.h</a:t>
            </a:r>
            <a:endParaRPr lang="en-US" sz="1800" dirty="0"/>
          </a:p>
        </p:txBody>
      </p:sp>
      <p:sp>
        <p:nvSpPr>
          <p:cNvPr id="8" name="kartu"/>
          <p:cNvSpPr/>
          <p:nvPr/>
        </p:nvSpPr>
        <p:spPr>
          <a:xfrm>
            <a:off x="6278728" y="2139696"/>
            <a:ext cx="5364328" cy="2944368"/>
          </a:xfrm>
          <a:prstGeom prst="roundRect">
            <a:avLst>
              <a:gd name="adj" fmla="val 3727"/>
            </a:avLst>
          </a:prstGeom>
          <a:solidFill>
            <a:srgbClr val="EEF5F1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53048" y="236829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mobi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780" y="251002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84568" y="2368296"/>
            <a:ext cx="4084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Board Asli</a:t>
            </a:r>
            <a:endParaRPr lang="en-US" sz="2200" dirty="0"/>
          </a:p>
        </p:txBody>
      </p:sp>
      <p:sp>
        <p:nvSpPr>
          <p:cNvPr id="12" name="daftar-poin"/>
          <p:cNvSpPr txBox="1"/>
          <p:nvPr/>
        </p:nvSpPr>
        <p:spPr>
          <a:xfrm>
            <a:off x="6553048" y="3099816"/>
            <a:ext cx="4815688" cy="1847088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Hotspot</a:t>
            </a:r>
            <a:r>
              <a:rPr lang="en-US" sz="1800" dirty="0">
                <a:solidFill>
                  <a:schemeClr val="tx1"/>
                </a:solidFill>
              </a:rPr>
              <a:t> HP pita </a:t>
            </a:r>
            <a:r>
              <a:rPr lang="en-US" sz="1800" b="1" dirty="0">
                <a:solidFill>
                  <a:schemeClr val="tx1"/>
                </a:solidFill>
              </a:rPr>
              <a:t>2,4 GHz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IP diberikan DHCP </a:t>
            </a:r>
            <a:r>
              <a:rPr lang="en-US" sz="1800" i="1" dirty="0">
                <a:solidFill>
                  <a:schemeClr val="tx1"/>
                </a:solidFill>
              </a:rPr>
              <a:t>hotspot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Wi-Fi kampus (login/WPA2-Enterprise) sering gagal</a:t>
            </a:r>
            <a:endParaRPr lang="en-US" sz="18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Buat </a:t>
            </a:r>
            <a:r>
              <a:rPr lang="en-US" sz="18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include/rahasia.h</a:t>
            </a:r>
            <a:r>
              <a:rPr lang="en-US" sz="1800" dirty="0">
                <a:solidFill>
                  <a:schemeClr val="tx1"/>
                </a:solidFill>
              </a:rPr>
              <a:t> dari contoh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Sandi Wi-Fi Jangan Ikut di-Commit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2573528"/>
          </a:xfrm>
          <a:prstGeom prst="roundRect">
            <a:avLst>
              <a:gd name="adj" fmla="val 3553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200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#if __has_include("rahasia.h")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"rahasia.h"            // board asli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#else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WIFI_SSID "Wokwi-GUEST"  // Wokwi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WIFI_SANDI ""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WIFI_KANAL 6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#endif</a:t>
            </a:r>
            <a:endParaRPr lang="en-US" sz="16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include/rahasia.h</a:t>
            </a:r>
            <a:r>
              <a:rPr lang="en-US" sz="1700" dirty="0">
                <a:solidFill>
                  <a:schemeClr val="tx1"/>
                </a:solidFill>
              </a:rPr>
              <a:t> berisi SSID &amp; sandi asli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Tercantum di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.gitignore</a:t>
            </a:r>
            <a:r>
              <a:rPr lang="en-US" sz="1700" dirty="0">
                <a:solidFill>
                  <a:schemeClr val="tx1"/>
                </a:solidFill>
              </a:rPr>
              <a:t> → tidak ikut di-</a:t>
            </a:r>
            <a:r>
              <a:rPr lang="en-US" sz="1700" i="1" dirty="0">
                <a:solidFill>
                  <a:schemeClr val="tx1"/>
                </a:solidFill>
              </a:rPr>
              <a:t>commit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Tanpa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rahasia.h</a:t>
            </a:r>
            <a:r>
              <a:rPr lang="en-US" sz="1700" dirty="0">
                <a:solidFill>
                  <a:schemeClr val="tx1"/>
                </a:solidFill>
              </a:rPr>
              <a:t> tetap lulus kompilasi (Wokwi-GUEST)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Salin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rahasia.example.h</a:t>
            </a:r>
            <a:r>
              <a:rPr lang="en-US" sz="1700" dirty="0">
                <a:solidFill>
                  <a:schemeClr val="tx1"/>
                </a:solidFill>
              </a:rPr>
              <a:t> →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rahasia.h</a:t>
            </a:r>
            <a:r>
              <a:rPr lang="en-US" sz="1700" dirty="0">
                <a:solidFill>
                  <a:schemeClr val="tx1"/>
                </a:solidFill>
              </a:rPr>
              <a:t>, lalu isi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MQTT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Papan pengumuman untuk perangkat IoT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Pola Publish/Subscribe</a:t>
            </a:r>
            <a:endParaRPr lang="en-US" sz="3000" dirty="0"/>
          </a:p>
        </p:txBody>
      </p:sp>
      <p:pic>
        <p:nvPicPr>
          <p:cNvPr id="3" name="gambar" descr="/home/claude/work/slides/img/p13/p13-publish-subscri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05954"/>
            <a:ext cx="11094415" cy="464045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Empat Unsur MQTT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clou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Broker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Server yang menerima lalu meneruskan pesan, mis. broker.emqx.io.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6255868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30188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i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348" y="1737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0188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Klien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30188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ESP32, MQTTX, aplikasi HP. Bisa publish sekaligus subscribe.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548640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22960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sitema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138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Topik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Alamat bertingkat: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kuliah-st/&lt;NIM&gt;/sensor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6255868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pad"/>
          <p:cNvSpPr/>
          <p:nvPr/>
        </p:nvSpPr>
        <p:spPr>
          <a:xfrm>
            <a:off x="6530188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20" name="ikon-fil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348" y="42138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30188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Payload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30188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Isi pesan: teks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500" dirty="0">
                <a:solidFill>
                  <a:schemeClr val="tx1"/>
                </a:solidFill>
              </a:rPr>
              <a:t> atau JSON.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Topik Bertingkat dan Wildcard</a:t>
            </a:r>
            <a:endParaRPr lang="en-US" sz="3000" dirty="0"/>
          </a:p>
        </p:txBody>
      </p:sp>
      <p:pic>
        <p:nvPicPr>
          <p:cNvPr id="3" name="gambar" descr="/home/claude/work/slides/img/p13/p13-topik-wild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0643"/>
            <a:ext cx="11094415" cy="417107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Tiga Tingkat QoS</a:t>
            </a:r>
            <a:endParaRPr lang="en-US" sz="3000" dirty="0"/>
          </a:p>
        </p:txBody>
      </p:sp>
      <p:pic>
        <p:nvPicPr>
          <p:cNvPr id="3" name="gambar" descr="/home/claude/work/slides/img/p13/p13-q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470" y="1280160"/>
            <a:ext cx="10114755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LWT dan Retained Message</a:t>
            </a:r>
            <a:endParaRPr lang="en-US" sz="3000" dirty="0"/>
          </a:p>
        </p:txBody>
      </p:sp>
      <p:pic>
        <p:nvPicPr>
          <p:cNvPr id="3" name="gambar" descr="/home/claude/work/slides/img/p13/p13-lwt-ret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6110" y="1280160"/>
            <a:ext cx="9599475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Bawaan PubSubClient 2.8</a:t>
            </a:r>
            <a:endParaRPr lang="en-US" sz="3000" dirty="0"/>
          </a:p>
        </p:txBody>
      </p:sp>
      <p:graphicFrame>
        <p:nvGraphicFramePr>
          <p:cNvPr id="18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Pengaturan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Bawaan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Ubah dengan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Versi protokol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MQTT 3.1.1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Buffer paket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256 byte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setBufferSize()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 alive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detik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setKeepAlive()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Batas tunggu balasan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detik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setSocketTimeout()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QoS publish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 saja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QoS subscribe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 atau 1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subscribe(topik, 1)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MQTTX Web: Empat Langkah</a:t>
            </a:r>
            <a:endParaRPr lang="en-US" sz="3000" dirty="0"/>
          </a:p>
        </p:txBody>
      </p:sp>
      <p:pic>
        <p:nvPicPr>
          <p:cNvPr id="3" name="gambar" descr="/home/claude/work/slides/img/p13/p13-alur-mqt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6185" y="1280160"/>
            <a:ext cx="783932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Broker Publik = Ruang Publik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600200"/>
            <a:ext cx="11094415" cy="1828800"/>
          </a:xfrm>
          <a:prstGeom prst="roundRect">
            <a:avLst>
              <a:gd name="adj" fmla="val 6000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914400" y="2057400"/>
            <a:ext cx="914400" cy="9144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shiel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86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1600200"/>
            <a:ext cx="92656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Siapa pun bisa </a:t>
            </a:r>
            <a:r>
              <a:rPr lang="en-US" sz="2400" b="1" dirty="0">
                <a:solidFill>
                  <a:schemeClr val="tx1"/>
                </a:solidFill>
              </a:rPr>
              <a:t>membaca dan menulis</a:t>
            </a:r>
            <a:r>
              <a:rPr lang="en-US" sz="2400" dirty="0">
                <a:solidFill>
                  <a:schemeClr val="tx1"/>
                </a:solidFill>
              </a:rPr>
              <a:t> topikmu. Pakai hanya untuk belajar.</a:t>
            </a:r>
            <a:endParaRPr lang="en-US" sz="2400" dirty="0"/>
          </a:p>
        </p:txBody>
      </p:sp>
      <p:sp>
        <p:nvSpPr>
          <p:cNvPr id="7" name="daftar-poin"/>
          <p:cNvSpPr txBox="1"/>
          <p:nvPr/>
        </p:nvSpPr>
        <p:spPr>
          <a:xfrm>
            <a:off x="548640" y="3749040"/>
            <a:ext cx="11094415" cy="24231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Jangan kirim data pribadi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Jangan kendalikan alat berbahaya (pemanas, pompa, kunci pintu)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Produk nyata: TLS (8883) + autentikasi + broker pribadi</a:t>
            </a:r>
            <a:endParaRPr lang="en-US" sz="19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</a:rPr>
              <a:t>Sandi Wi-Fi tidak di-</a:t>
            </a:r>
            <a:r>
              <a:rPr lang="en-US" sz="1900" i="1" dirty="0">
                <a:solidFill>
                  <a:schemeClr val="tx1"/>
                </a:solidFill>
              </a:rPr>
              <a:t>commit</a:t>
            </a:r>
            <a:r>
              <a:rPr lang="en-US" sz="1900" dirty="0">
                <a:solidFill>
                  <a:schemeClr val="tx1"/>
                </a:solidFill>
              </a:rPr>
              <a:t> (</a:t>
            </a:r>
            <a:r>
              <a:rPr lang="en-US" sz="19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rahasia.h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Praktikum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Pindai Wi-Fi, kirim data, kendalikan LED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2: Kirim JSON tiap 5 Detik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2462403"/>
          </a:xfrm>
          <a:prstGeom prst="roundRect">
            <a:avLst>
              <a:gd name="adj" fmla="val 3713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kode/02-mqtt-kirim-data/src/main.cpp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1895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5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snprintf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sizeof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"{\"adc\":%d,\"persen\":%.1f,\"nomor\":%lu}"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nilaiAdc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persen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nomorPesan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mqtt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topikSensor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5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5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"[KIRIM] %s -&gt; %s\n"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"OK"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5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5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"GAGAL"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5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Potensiometer di </a:t>
            </a:r>
            <a:r>
              <a:rPr lang="en-US" sz="1700" b="1" dirty="0">
                <a:solidFill>
                  <a:schemeClr val="tx1"/>
                </a:solidFill>
              </a:rPr>
              <a:t>GPIO 34</a:t>
            </a:r>
            <a:r>
              <a:rPr lang="en-US" sz="1700" dirty="0">
                <a:solidFill>
                  <a:schemeClr val="tx1"/>
                </a:solidFill>
              </a:rPr>
              <a:t> (ADC1)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Topik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kuliah-st/&lt;NIM&gt;/sensor</a:t>
            </a:r>
            <a:r>
              <a:rPr lang="en-US" sz="1700" dirty="0">
                <a:solidFill>
                  <a:schemeClr val="tx1"/>
                </a:solidFill>
              </a:rPr>
              <a:t>, QoS 0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JSON memakai titik desimal: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50.0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Pantau di MQTTX: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kuliah-st/&lt;NIM&gt;/#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3: Perintah ON/OFF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684778"/>
          </a:xfrm>
          <a:prstGeom prst="roundRect">
            <a:avLst>
              <a:gd name="adj" fmla="val 2482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kode/03-mqtt-kendali-led/src/main.cpp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11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pesanMasuk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topik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isi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panjang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3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panjang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panjang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memcpy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isi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'\0'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payload tanpa '\0'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strcasecmp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"ON"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ledMenyala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strcasecmp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"OFF"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ledMenyala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abaikan perintah lain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PIN_LED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ledMenyala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perluLaporLed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3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3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3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publish dari loop()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Subscribe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kuliah-st/&lt;NIM&gt;/led</a:t>
            </a:r>
            <a:r>
              <a:rPr lang="en-US" sz="1700" dirty="0">
                <a:solidFill>
                  <a:schemeClr val="tx1"/>
                </a:solidFill>
              </a:rPr>
              <a:t> (QoS 1)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LWT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offline</a:t>
            </a:r>
            <a:r>
              <a:rPr lang="en-US" sz="1700" dirty="0">
                <a:solidFill>
                  <a:schemeClr val="tx1"/>
                </a:solidFill>
              </a:rPr>
              <a:t> +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</a:t>
            </a:r>
            <a:r>
              <a:rPr lang="en-US" sz="1700" dirty="0">
                <a:solidFill>
                  <a:schemeClr val="tx1"/>
                </a:solidFill>
              </a:rPr>
              <a:t> (retain) di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…/status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Sambung ulang dijadwalkan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r>
              <a:rPr lang="en-US" sz="1700" dirty="0">
                <a:solidFill>
                  <a:schemeClr val="tx1"/>
                </a:solidFill>
              </a:rPr>
              <a:t>, tanpa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Jangan publish di dalam </a:t>
            </a:r>
            <a:r>
              <a:rPr lang="en-US" sz="1700" i="1" dirty="0">
                <a:solidFill>
                  <a:schemeClr val="tx1"/>
                </a:solidFill>
              </a:rPr>
              <a:t>callback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ESP32 berlangganan </a:t>
            </a:r>
            <a:r>
              <a:rPr lang="en-US" sz="2200" b="1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kuliah-st/12345678/+</a:t>
            </a:r>
            <a:r>
              <a:rPr lang="en-US" sz="2200" b="1" dirty="0">
                <a:solidFill>
                  <a:schemeClr val="tx1"/>
                </a:solidFill>
              </a:rPr>
              <a:t>. Pesan dari topik mana yang TIDAK diterima?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kuliah-st/12345678/led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kuliah-st/12345678/status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kuliah-st/12345678/led/status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kuliah-st/12345678/sensor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5849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383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IoT: perangkat → jaringan → </a:t>
            </a:r>
            <a:r>
              <a:rPr lang="en-US" sz="2000" b="1" dirty="0">
                <a:solidFill>
                  <a:schemeClr val="bg1"/>
                </a:solidFill>
              </a:rPr>
              <a:t>broker</a:t>
            </a:r>
            <a:r>
              <a:rPr lang="en-US" sz="2000" dirty="0">
                <a:solidFill>
                  <a:schemeClr val="bg1"/>
                </a:solidFill>
              </a:rPr>
              <a:t> → aplikasi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49631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0980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ESP32 hanya </a:t>
            </a:r>
            <a:r>
              <a:rPr lang="en-US" sz="2000" b="1" dirty="0">
                <a:solidFill>
                  <a:schemeClr val="bg1"/>
                </a:solidFill>
              </a:rPr>
              <a:t>2,4 GHz</a:t>
            </a:r>
            <a:r>
              <a:rPr lang="en-US" sz="2000" dirty="0">
                <a:solidFill>
                  <a:schemeClr val="bg1"/>
                </a:solidFill>
              </a:rPr>
              <a:t>; STA = tamu, AP = tuan rumah; RSSI mendekati 0 = kuat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169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887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0228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MQTT: publish/subscribe lewat broker; wildcard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2000" dirty="0">
                <a:solidFill>
                  <a:schemeClr val="bg1"/>
                </a:solidFill>
              </a:rPr>
              <a:t> dan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2000" dirty="0">
                <a:solidFill>
                  <a:schemeClr val="bg1"/>
                </a:solidFill>
              </a:rPr>
              <a:t> hanya untuk subscribe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396240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0812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79476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QoS 0/1/2; retained = pesan terakhir; LWT = wasiat saat putus tanpa pamit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87375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58724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Panggil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mqtt.loop()</a:t>
            </a:r>
            <a:r>
              <a:rPr lang="en-US" sz="2000" dirty="0">
                <a:solidFill>
                  <a:schemeClr val="bg1"/>
                </a:solidFill>
              </a:rPr>
              <a:t> sesering mungkin; sambung ulang pakai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endParaRPr lang="en-US" sz="2000" dirty="0"/>
          </a:p>
        </p:txBody>
      </p:sp>
      <p:sp>
        <p:nvSpPr>
          <p:cNvPr id="18" name="pad"/>
          <p:cNvSpPr/>
          <p:nvPr/>
        </p:nvSpPr>
        <p:spPr>
          <a:xfrm>
            <a:off x="548640" y="55473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9" name="ikon-che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66232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53797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Broker publik hanya untuk belajar; sandi di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rahasia.h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14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1: termometer daring DHT22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2: kendali dua arah dengan tombol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14: Hemat Daya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Ukur: berapa lama ESP32 hidup dengan baterai?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panduan/06-mengatasi-masalah.md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Tanyakan di forum kelas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13: IoT: Wi-Fi dan MQTT</dc:title>
  <dc:subject>Sistem Tertanam — Pertemuan 13</dc:subject>
  <dc:creator>Anton Prafanto</dc:creator>
  <cp:lastModifiedBy>Anton Prafanto</cp:lastModifiedBy>
  <cp:revision>1</cp:revision>
  <dcterms:created xsi:type="dcterms:W3CDTF">2026-10-16T10:55:39Z</dcterms:created>
  <dcterms:modified xsi:type="dcterms:W3CDTF">2026-10-16T10:55:39Z</dcterms:modified>
</cp:coreProperties>
</file>