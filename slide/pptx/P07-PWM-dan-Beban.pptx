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03e56343-bcb2-5641-fa26-5b085b8a3a22}">
          <p14:sldIdLst>
            <p14:sldId id="256"/>
            <p14:sldId id="257"/>
            <p14:sldId id="258"/>
          </p14:sldIdLst>
        </p14:section>
        <p14:section name="Konsep" id="{8a13a3e3-a114-a14c-f567-ca6943ecb618}">
          <p14:sldIdLst>
            <p14:sldId id="259"/>
            <p14:sldId id="260"/>
            <p14:sldId id="261"/>
            <p14:sldId id="262"/>
          </p14:sldIdLst>
        </p14:section>
        <p14:section name="LEDC" id="{30dd1131-85b3-d804-01df-ce0d9e996e8d}">
          <p14:sldIdLst>
            <p14:sldId id="263"/>
            <p14:sldId id="264"/>
            <p14:sldId id="265"/>
          </p14:sldIdLst>
        </p14:section>
        <p14:section name="Aktuator" id="{3264a179-bf92-311d-4583-3a3bf684c69d}">
          <p14:sldIdLst>
            <p14:sldId id="266"/>
            <p14:sldId id="267"/>
            <p14:sldId id="268"/>
            <p14:sldId id="269"/>
          </p14:sldIdLst>
        </p14:section>
        <p14:section name="Beban" id="{aa1b7083-94bd-07a7-7b56-c4445a83b531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raktikum" id="{9e8cd1c6-81da-8447-cbad-d40eead9448a}">
          <p14:sldIdLst>
            <p14:sldId id="276"/>
            <p14:sldId id="277"/>
            <p14:sldId id="278"/>
            <p14:sldId id="279"/>
          </p14:sldIdLst>
        </p14:section>
        <p14:section name="Penutup" id="{74908c71-a80d-0a0b-e344-0f541074fc2c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bagaimana pin yang hanya bisa 0 V atau 3,3 V membuat lampu "setengah terang"? Tampung 2–3 tebakan, lalu jawab dengan demo LED redup-terang di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semua mahasiswa minimal menjalankan Praktikum 1 dan 3 di Wokwi. Praktikum 5 di board asli hanya dengan beban tegangan rendah.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sakelar lampu kamar ditekan nyala-padam 5.000 kali per detik. Separuh waktu menyala → mata melihat setengah terang. PWM = Pulse Width Modulation, modulasi lebar pulsa.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 T, t nyala, dan garis merah putus-putus (rata-rata). Tekankan: LED tidak pernah menyala "setengah"; mata yang merata-ratakan. Pertanyaan: kalau frekuensi dinaikkan tetapi D tetap 25%, apakah LED makin terang? (Tidak; kecerahan diatur D.)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lisan: PWM 1 kHz, D = 40% → t nyala = 0,4 ms; V rata-rata = 1,32 V. Multimeter DC membaca nilai mendekati rata-rata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penghitung + pembanding: output HIGH selama penghitung &lt; duty. Satu periode = 2^n langkah, satu langkah = 12,5 ns (80 MHz). Contoh dari dokumentasi ESP-IDF: 5 kHz maks 13 bit; 40 MHz hanya 1 bit; 20 MHz 3 bit ditolak. Sebut juga MCPWM ada, tetapi tidak disimulasikan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Banyak tutorial internet masih memakai ledcSetup/ledcAttachPin (core 2.x) → galat "was not declared in this scope". Di 3.x, ledcWrite memakai nomor PIN, bukan kanal. Nilai 255 (8 bit) dibuat 100% penuh oleh core. Selama ledcFade berjalan, duty kanal itu tidak bisa diubah.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Servo = motor + roda gigi + potensiometer + pengendali (umpan balik). Lembar data SG90: 1,5 ms tengah, ±1–2 ms ujung, 4,8 V. ESP32Servo: attach(pin) bawaan 544–2.400 µs, batas 500–2.500 µs. Kalibrasi: kalau servo berdengung di ujung, persempit rentang. Catu servo terpisah 5 V + GND bersama, jangan dari 3V3.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Praktikum memakai buzzer pasif. Buzzer elektromagnetik berarus besar sebaiknya lewat transistor; banyak modul buzzer 3 pin sudah membawa transistor.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Naik satu oktaf = frekuensi × 2 (n bertambah 12). Durasi: tempo 120 ketuk/menit → 1 ketuk = 500 ms. Bunyikan 90%, diam 10% agar nada kembar (mi-mi) terdengar terpisah. Melodi praktikum: Ode to Joy (Beethoven, domain publik).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Lembar data modul menyebut I_OH tipikal 40 mA, tetapi praktik aman ±10–12 mA per pin. Analogi transistor: keran kecil membuka pintu air besar. Relay: sakelar mekanis digerakkan elektromagnet, sisi kendali dan sisi beban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GPIO LOW → transistor padam; GPIO HIGH → jenuh (V_CE ±0,2–0,3 V). Dioda paralel kumparan, katode (garis) ke +5 V. GND ESP32 dan emitor disatukan. Sisi kontak (COM–NO) memakai catu beban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Cek akhir: kumparan mendapat 5 − 0,3 = 4,7 V, di atas tegangan tarik 75% (3,75 V). BC547 bisa, tetapi I_C maks 100 mA (mepet); 2N2222A maks 600 mA. Latihan: relay 12 V 400 Ω, hFE 100, overdrive 3× → 2,7 kΩ.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pukulan air: air yang mengalir tidak bisa berhenti seketika. Tanpa dioda, tegangan kolektor melonjak jauh di atas 5 V dan bisa melewati batas 40 V 2N2222A. Dengan dioda, tertahan ±5,7 V. Dioda terbalik = hubung singkat saat transistor menyala.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aturan lab. Modul relay sering aktif LOW, dan sebagian modul 5 V tidak padam sempurna dengan HIGH 3,3 V; pilih modul kompatibel 3,3 V atau pakai rangkaian transistor.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Wokwi: Praktikum 3 perlu libraries.txt (ESP32Servo). Board asli: cabut USB sebelum merangkai. Servo di board asli: catu 5 V terpisah, GND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Wokwi tidak punya transistor dan dioda diskrit, jadi memakai wokwi-relay-module (atribut transistor "npn" = aktif HIGH). LED hijau di NO, merah di NC. Di board asli: modul relay 5 V atau rangkaian 2N2222A + 680 Ω + 1N4007. Kalau terbalik, ubah RELAY_AKTIF_LOW.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C. 20.000 × 4.096 = 81,92 MHz &gt; 80 MHz; untuk 20 kHz paling besar 11 bit. Yang lain: 65,5 MHz; 40,96 MHz; 40,96 MHz.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07 · PWM dan Beban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07 · PWM dan Beban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07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PWM dan Mengendalikan Beban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Meredupkan LED, menggerakkan servo, membunyikan nada, dan menyalakan relay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wav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PWM: periode, frekuensi, </a:t>
            </a:r>
            <a:r>
              <a:rPr lang="en-US" sz="2000" b="1" dirty="0">
                <a:solidFill>
                  <a:schemeClr val="tx1"/>
                </a:solidFill>
              </a:rPr>
              <a:t>duty cycle</a:t>
            </a:r>
            <a:r>
              <a:rPr lang="en-US" sz="2000" dirty="0">
                <a:solidFill>
                  <a:schemeClr val="tx1"/>
                </a:solidFill>
              </a:rPr>
              <a:t>, tegangan rata-rata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slid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Membangkitkan PWM dengan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ledcAttach()</a:t>
            </a:r>
            <a:r>
              <a:rPr lang="en-US" sz="2000" dirty="0">
                <a:solidFill>
                  <a:schemeClr val="tx1"/>
                </a:solidFill>
              </a:rPr>
              <a:t> dan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yn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Mengatur sudut </a:t>
            </a:r>
            <a:r>
              <a:rPr lang="en-US" sz="2000" b="1" dirty="0">
                <a:solidFill>
                  <a:schemeClr val="tx1"/>
                </a:solidFill>
              </a:rPr>
              <a:t>servo</a:t>
            </a:r>
            <a:r>
              <a:rPr lang="en-US" sz="2000" dirty="0">
                <a:solidFill>
                  <a:schemeClr val="tx1"/>
                </a:solidFill>
              </a:rPr>
              <a:t> dan memainkan nada </a:t>
            </a:r>
            <a:r>
              <a:rPr lang="en-US" sz="2000" b="1" dirty="0">
                <a:solidFill>
                  <a:schemeClr val="tx1"/>
                </a:solidFill>
              </a:rPr>
              <a:t>buzzer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volum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Menghitung resistor basis transistor untuk </a:t>
            </a:r>
            <a:r>
              <a:rPr lang="en-US" sz="2000" b="1" dirty="0">
                <a:solidFill>
                  <a:schemeClr val="tx1"/>
                </a:solidFill>
              </a:rPr>
              <a:t>relay</a:t>
            </a:r>
            <a:r>
              <a:rPr lang="en-US" sz="2000" dirty="0">
                <a:solidFill>
                  <a:schemeClr val="tx1"/>
                </a:solidFill>
              </a:rPr>
              <a:t> + dioda flyback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shie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Bekerja aman dengan beban besar dan listrik 220 V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Mengapa perlu PWM?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Anatomi PWM dan duty cycle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LEDC: frekuensi vs resolusi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Servo dan buzzer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Transistor, relay, dioda flyback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 1–5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PWM: "Tegangan Setengah"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Nyala-padam sangat cepat, yang diatur lama menyalanya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Ide Dasar PWM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av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Pin dinyalakan-padamkan </a:t>
            </a:r>
            <a:r>
              <a:rPr lang="en-US" sz="2400" b="1" dirty="0">
                <a:solidFill>
                  <a:schemeClr val="tx1"/>
                </a:solidFill>
              </a:rPr>
              <a:t>sangat cepat</a:t>
            </a:r>
            <a:r>
              <a:rPr lang="en-US" sz="2400" dirty="0">
                <a:solidFill>
                  <a:schemeClr val="tx1"/>
                </a:solidFill>
              </a:rPr>
              <a:t>; yang diatur adalah </a:t>
            </a:r>
            <a:r>
              <a:rPr lang="en-US" sz="2400" b="1" dirty="0">
                <a:solidFill>
                  <a:schemeClr val="tx1"/>
                </a:solidFill>
              </a:rPr>
              <a:t>perbandingan lama menyala</a:t>
            </a:r>
            <a:r>
              <a:rPr lang="en-US" sz="2400" dirty="0">
                <a:solidFill>
                  <a:schemeClr val="tx1"/>
                </a:solidFill>
              </a:rPr>
              <a:t>, bukan besar tegangannya.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GPIO hanya punya dua keadaan: 0 V atau 3,3 V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DAC ESP32 hanya ada di GPIO 25 dan 26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PWM bisa dibuat di hampir semua pin output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PWM dan Duty Cycle</a:t>
            </a:r>
            <a:endParaRPr lang="en-US" sz="3000" dirty="0"/>
          </a:p>
        </p:txBody>
      </p:sp>
      <p:pic>
        <p:nvPicPr>
          <p:cNvPr id="3" name="gambar" descr="/home/claude/work/slides/img/p07/p07-pwm-duty-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7368" y="1280160"/>
            <a:ext cx="703695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Tiga Rumus Inti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434082"/>
            <a:ext cx="3484778" cy="2355596"/>
          </a:xfrm>
          <a:prstGeom prst="roundRect">
            <a:avLst>
              <a:gd name="adj" fmla="val 465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708402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879852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31362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Periode &amp; frekuensi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88562"/>
            <a:ext cx="2936138" cy="61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f</a:t>
            </a:r>
            <a:r>
              <a:rPr lang="en-US" sz="1700" dirty="0">
                <a:solidFill>
                  <a:schemeClr val="tx1"/>
                </a:solidFill>
              </a:rPr>
              <a:t> = 1 ÷ </a:t>
            </a:r>
            <a:r>
              <a:rPr lang="en-US" sz="1700" i="1" dirty="0">
                <a:solidFill>
                  <a:schemeClr val="tx1"/>
                </a:solidFill>
              </a:rPr>
              <a:t>T</a:t>
            </a:r>
            <a:r>
              <a:rPr lang="en-US" sz="1700" dirty="0">
                <a:solidFill>
                  <a:schemeClr val="tx1"/>
                </a:solidFill>
              </a:rPr>
              <a:t>. Contoh: 5 kHz → </a:t>
            </a:r>
            <a:r>
              <a:rPr lang="en-US" sz="1700" i="1" dirty="0">
                <a:solidFill>
                  <a:schemeClr val="tx1"/>
                </a:solidFill>
              </a:rPr>
              <a:t>T</a:t>
            </a:r>
            <a:r>
              <a:rPr lang="en-US" sz="1700" dirty="0">
                <a:solidFill>
                  <a:schemeClr val="tx1"/>
                </a:solidFill>
              </a:rPr>
              <a:t> = 0,2 ms.</a:t>
            </a:r>
            <a:endParaRPr lang="en-US" sz="1700" dirty="0"/>
          </a:p>
        </p:txBody>
      </p:sp>
      <p:sp>
        <p:nvSpPr>
          <p:cNvPr id="8" name="kartu"/>
          <p:cNvSpPr/>
          <p:nvPr/>
        </p:nvSpPr>
        <p:spPr>
          <a:xfrm>
            <a:off x="4353458" y="2434082"/>
            <a:ext cx="3484778" cy="2355596"/>
          </a:xfrm>
          <a:prstGeom prst="roundRect">
            <a:avLst>
              <a:gd name="adj" fmla="val 465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2708402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lid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228" y="2879852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3531362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Duty cycle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27778" y="3988562"/>
            <a:ext cx="2936138" cy="61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i="1" dirty="0">
                <a:solidFill>
                  <a:schemeClr val="tx1"/>
                </a:solidFill>
              </a:rPr>
              <a:t>t</a:t>
            </a:r>
            <a:r>
              <a:rPr lang="en-US" sz="1700" dirty="0">
                <a:solidFill>
                  <a:schemeClr val="tx1"/>
                </a:solidFill>
              </a:rPr>
              <a:t> nyala ÷ </a:t>
            </a:r>
            <a:r>
              <a:rPr lang="en-US" sz="1700" i="1" dirty="0">
                <a:solidFill>
                  <a:schemeClr val="tx1"/>
                </a:solidFill>
              </a:rPr>
              <a:t>T</a:t>
            </a:r>
            <a:r>
              <a:rPr lang="en-US" sz="1700" dirty="0">
                <a:solidFill>
                  <a:schemeClr val="tx1"/>
                </a:solidFill>
              </a:rPr>
              <a:t> × 100%. Inilah pengatur kecerahan.</a:t>
            </a:r>
            <a:endParaRPr lang="en-US" sz="1700" dirty="0"/>
          </a:p>
        </p:txBody>
      </p:sp>
      <p:sp>
        <p:nvSpPr>
          <p:cNvPr id="13" name="kartu"/>
          <p:cNvSpPr/>
          <p:nvPr/>
        </p:nvSpPr>
        <p:spPr>
          <a:xfrm>
            <a:off x="8158277" y="2434082"/>
            <a:ext cx="3484778" cy="2355596"/>
          </a:xfrm>
          <a:prstGeom prst="roundRect">
            <a:avLst>
              <a:gd name="adj" fmla="val 465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2708402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bol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047" y="2879852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3531362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Tegangan rata-rata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32597" y="3988562"/>
            <a:ext cx="2936138" cy="61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i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 × 3,3 V. </a:t>
            </a:r>
            <a:r>
              <a:rPr lang="en-US" sz="1700" i="1" dirty="0">
                <a:solidFill>
                  <a:schemeClr val="tx1"/>
                </a:solidFill>
              </a:rPr>
              <a:t>D</a:t>
            </a:r>
            <a:r>
              <a:rPr lang="en-US" sz="1700" dirty="0">
                <a:solidFill>
                  <a:schemeClr val="tx1"/>
                </a:solidFill>
              </a:rPr>
              <a:t> = 25% → 0,825 V.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PWM di ESP32: Periferal LEDC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Perangkat keras khusus PWM yang bekerja sendiri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LEDC: Frekuensi vs Resolusi</a:t>
            </a:r>
            <a:endParaRPr lang="en-US" sz="3000" dirty="0"/>
          </a:p>
        </p:txBody>
      </p:sp>
      <p:pic>
        <p:nvPicPr>
          <p:cNvPr id="3" name="gambar" descr="/home/claude/work/slides/img/p07/p07-ledc-frekuensi-resolu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280160"/>
            <a:ext cx="950976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Aturan: frekuensi × 2ⁿ ≤ 80 MHz (jam APB). 16 kanal, 8 pewaktu, paling besar 20 bit.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API LEDC Arduino-ESP32 3.x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510278"/>
          </a:xfrm>
          <a:prstGeom prst="roundRect">
            <a:avLst>
              <a:gd name="adj" fmla="val 2027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singkat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94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pin, frekuensi (Hz), resolusi (bit)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±25%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naik ke 255 dalam ±1 detik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ledcFade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ledcAttach()</a:t>
            </a:r>
            <a:r>
              <a:rPr lang="en-US" sz="1700" dirty="0">
                <a:solidFill>
                  <a:schemeClr val="tx1"/>
                </a:solidFill>
              </a:rPr>
              <a:t> memilih kanal bebas;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700" dirty="0">
                <a:solidFill>
                  <a:schemeClr val="tx1"/>
                </a:solidFill>
              </a:rPr>
              <a:t> = gagal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ledcWrite(pin, duty)</a:t>
            </a:r>
            <a:r>
              <a:rPr lang="en-US" sz="1700" dirty="0">
                <a:solidFill>
                  <a:schemeClr val="tx1"/>
                </a:solidFill>
              </a:rPr>
              <a:t>: 0 sampai 2ⁿ − 1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r>
              <a:rPr lang="en-US" sz="1700" dirty="0">
                <a:solidFill>
                  <a:schemeClr val="tx1"/>
                </a:solidFill>
              </a:rPr>
              <a:t>: jalan pintas 1 kHz, 8 bit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API 2.x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ledcSetup()</a:t>
            </a:r>
            <a:r>
              <a:rPr lang="en-US" sz="1700" dirty="0">
                <a:solidFill>
                  <a:schemeClr val="tx1"/>
                </a:solidFill>
              </a:rPr>
              <a:t> sudah </a:t>
            </a:r>
            <a:r>
              <a:rPr lang="en-US" sz="1700" b="1" dirty="0">
                <a:solidFill>
                  <a:schemeClr val="tx1"/>
                </a:solidFill>
              </a:rPr>
              <a:t>tidak ada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Servo dan Buzzer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PWM dengan makna lain: lebar pulsa dan frekuensi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Servo: Sudut dari Lebar Pulsa</a:t>
            </a:r>
            <a:endParaRPr lang="en-US" sz="3000" dirty="0"/>
          </a:p>
        </p:txBody>
      </p:sp>
      <p:pic>
        <p:nvPicPr>
          <p:cNvPr id="3" name="gambar" descr="/home/claude/work/slides/img/p07/p07-servo-pulsa-sud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105" y="1280160"/>
            <a:ext cx="8775485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833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Praktikum: 500–2.500 µs untuk 0–180° → pulsa = 500 + 11,1 × sudut (µs).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Buzzer Aktif vs Buzzer Pasif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volum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4718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Buzzer aktif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Punya osilator sendiri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Cukup diberi HIGH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Satu nada tetap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 3,3 V: bunyi "tiiit"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wav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6471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Buzzer pasif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Hanya elemen bunyi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Butuh PWM berfrekuensi suara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Bisa melodi: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ledcWriteTone()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 3,3 V: hanya "klik"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Frekuensi Nada: f = 440 × 2^(n/12)</a:t>
            </a:r>
            <a:endParaRPr lang="en-US" sz="3000" dirty="0"/>
          </a:p>
        </p:txBody>
      </p:sp>
      <p:graphicFrame>
        <p:nvGraphicFramePr>
          <p:cNvPr id="15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463040"/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Solmisasi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 (Hz)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Di kode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−9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261,63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262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−7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293,66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294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329,63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330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349,23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349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−2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392,00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392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440,00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440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493,88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494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do'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523,25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523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Mengendalikan Beban Besar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Transistor, relay, dan dioda flyback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Pin GPIO untuk Sinyal, Bukan Daya</a:t>
            </a:r>
            <a:endParaRPr lang="en-US" sz="3000" dirty="0"/>
          </a:p>
        </p:txBody>
      </p:sp>
      <p:graphicFrame>
        <p:nvGraphicFramePr>
          <p:cNvPr id="17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Beban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Kebutuhan arus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Langsung ke GPIO?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 + resistor 220 Ω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±6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Kumparan relay 5 V (SRD-05VDC-SL-C)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71,4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Tidak: lewat transistor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Motor DC kecil, solenoid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ratusan 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Tidak: transistor/driver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Lampu atau pompa 220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jala-jala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 pernah: relay + pengawasan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Transistor NPN Menggerakkan Relay</a:t>
            </a:r>
            <a:endParaRPr lang="en-US" sz="3000" dirty="0"/>
          </a:p>
        </p:txBody>
      </p:sp>
      <p:pic>
        <p:nvPicPr>
          <p:cNvPr id="3" name="gambar" descr="/home/claude/repo/pertemuan-07-pwm-beban/gambar/p07-skematik-transistor-r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470" y="1280160"/>
            <a:ext cx="1076475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Menghitung Resistor Basis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mor"/>
          <p:cNvSpPr/>
          <p:nvPr/>
        </p:nvSpPr>
        <p:spPr>
          <a:xfrm>
            <a:off x="777240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Arus kumparan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 V ÷ 70 Ω ≈ 71,4 mA (lembar data relay).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3390824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nomor"/>
          <p:cNvSpPr/>
          <p:nvPr/>
        </p:nvSpPr>
        <p:spPr>
          <a:xfrm>
            <a:off x="3619424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hFE minimum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2N2222A: 50 pada I_C 150 mA, V_CE 1 V.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6233008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nomor"/>
          <p:cNvSpPr/>
          <p:nvPr/>
        </p:nvSpPr>
        <p:spPr>
          <a:xfrm>
            <a:off x="6461608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I_B minimum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71,4 ÷ 50 ≈ 1,43 mA; beri overdrive 2–3×.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9075191" y="2326005"/>
            <a:ext cx="2567864" cy="257175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nomor"/>
          <p:cNvSpPr/>
          <p:nvPr/>
        </p:nvSpPr>
        <p:spPr>
          <a:xfrm>
            <a:off x="9303791" y="2554605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3791" y="255460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3240405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Pilih R_B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926205"/>
            <a:ext cx="2110664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(3,3 − 0,7) ÷ I_B → 680 Ω, I_B ≈ 3,8 mA (aman untuk pin).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Dioda Flyback: Jalan Memutar Arus Kumparan</a:t>
            </a:r>
            <a:endParaRPr lang="en-US" sz="3000" dirty="0"/>
          </a:p>
        </p:txBody>
      </p:sp>
      <p:pic>
        <p:nvPicPr>
          <p:cNvPr id="3" name="gambar" descr="/home/claude/work/slides/img/p07/p07-dioda-fly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548" y="1280160"/>
            <a:ext cx="1098860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Keselamatan Listrik 220 V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war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Listrik PLN </a:t>
            </a:r>
            <a:r>
              <a:rPr lang="en-US" sz="2400" b="1" dirty="0">
                <a:solidFill>
                  <a:schemeClr val="tx1"/>
                </a:solidFill>
              </a:rPr>
              <a:t>bisa mematikan</a:t>
            </a:r>
            <a:r>
              <a:rPr lang="en-US" sz="2400" dirty="0">
                <a:solidFill>
                  <a:schemeClr val="tx1"/>
                </a:solidFill>
              </a:rPr>
              <a:t>. Jangan merangkai, menyentuh, atau mengukur bagian 220 V tanpa pengawasan dosen/teknisi.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Praktikum relay memakai beban tegangan rendah saja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Terminal modul relay murah terbuka dan mudah tersentuh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Relay jangan di-PWM: kontaknya mekanis, umurnya terbatas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Praktikum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Lima proyek, satu kode untuk Wokwi dan board asli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Lima Praktikum Hari Ini</a:t>
            </a:r>
            <a:endParaRPr lang="en-US" sz="3000" dirty="0"/>
          </a:p>
        </p:txBody>
      </p:sp>
      <p:graphicFrame>
        <p:nvGraphicFramePr>
          <p:cNvPr id="23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Praktikum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Yang dipelajari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 LED redup-terang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23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ledcAttach, ledcWrite, V rata-rata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 Dimmer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34 → 23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ADC 12 bit langsung jadi duty 12 bit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 Servo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19 (+34)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ESP32Servo, 50 Hz, lebar pulsa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 Buzzer nada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18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ledcWriteTone, tangga nada, melodi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5. Relay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GPIO 33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Modul relay, aktif HIGH/LOW, transistor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5 di Wokwi: Modul Relay + Dua LED</a:t>
            </a:r>
            <a:endParaRPr lang="en-US" sz="3000" dirty="0"/>
          </a:p>
        </p:txBody>
      </p:sp>
      <p:pic>
        <p:nvPicPr>
          <p:cNvPr id="3" name="gambar" descr="/home/claude/repo/pertemuan-07-pwm-beban/gambar/p07-rangkaian-05-re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751" y="1280160"/>
            <a:ext cx="8050192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Dengan jam LEDC 80 MHz, kombinasi mana yang TIDAK mungkin dibuat?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 kHz, 16 bit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 kHz, 13 bit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20 kHz, 12 bit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40 kHz, 10 bit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PWM: </a:t>
            </a:r>
            <a:r>
              <a:rPr lang="en-US" sz="2000" b="1" dirty="0">
                <a:solidFill>
                  <a:schemeClr val="bg1"/>
                </a:solidFill>
              </a:rPr>
              <a:t>duty cycle</a:t>
            </a:r>
            <a:r>
              <a:rPr lang="en-US" sz="2000" dirty="0">
                <a:solidFill>
                  <a:schemeClr val="bg1"/>
                </a:solidFill>
              </a:rPr>
              <a:t> menentukan V rata-rata = D × 3,3 V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LEDC: 16 kanal, hingga 20 bit, frekuensi × 2ⁿ ≤ 80 MHz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Servo: lebar pulsa dalam bingkai 20 ms (50 Hz)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60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Buzzer pasif: f = 440 × 2^(n/12) lewat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ledcWriteTone()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22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74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Beban besar: transistor/relay + </a:t>
            </a:r>
            <a:r>
              <a:rPr lang="en-US" sz="2000" b="1" dirty="0">
                <a:solidFill>
                  <a:schemeClr val="bg1"/>
                </a:solidFill>
              </a:rPr>
              <a:t>dioda flyback</a:t>
            </a:r>
            <a:r>
              <a:rPr lang="en-US" sz="2000" dirty="0">
                <a:solidFill>
                  <a:schemeClr val="bg1"/>
                </a:solidFill>
              </a:rPr>
              <a:t>; 220 V hanya dengan pengawasan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8 (UTS)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 (lampu bernapas) dan 4 (hitung R_B)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Coba tantangan theremin mini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 UTS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Ulangi materi Pertemuan 1–7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Jalankan ulang semua praktikum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7: PWM dan Mengendalikan Beban</dc:title>
  <dc:subject>Sistem Tertanam — Pertemuan 7</dc:subject>
  <dc:creator>Anton Prafanto</dc:creator>
  <cp:lastModifiedBy>Anton Prafanto</cp:lastModifiedBy>
  <cp:revision>1</cp:revision>
  <dcterms:created xsi:type="dcterms:W3CDTF">2026-10-16T12:58:29Z</dcterms:created>
  <dcterms:modified xsi:type="dcterms:W3CDTF">2026-10-16T12:58:29Z</dcterms:modified>
</cp:coreProperties>
</file>