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1c1ac9c2-5eb8-efee-c08e-21691f744ba6}">
          <p14:sldIdLst>
            <p14:sldId id="256"/>
            <p14:sldId id="257"/>
            <p14:sldId id="258"/>
          </p14:sldIdLst>
        </p14:section>
        <p14:section name="Konsep" id="{bc6be1c6-5e7c-abfa-68c5-4da01b954eb4}">
          <p14:sldIdLst>
            <p14:sldId id="259"/>
            <p14:sldId id="260"/>
            <p14:sldId id="261"/>
          </p14:sldIdLst>
        </p14:section>
        <p14:section name="Datasheet" id="{ec67c189-5255-3df9-263b-8f639f946c49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Library" id="{c0a52ae8-07f9-c39a-396c-0531f486b671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enutup" id="{f3c94592-0f0b-2c39-f021-33ee891ec2a7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sensor parkir mobil itu "tahu" jarak dari mana? Kumpulkan 2–3 tebakan (kamera, laser, bunyi) sebelum masuk materi.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Praktikum 1 dan 3 berjalan minimal di Wokwi. Praktikum 2 adalah jembatan dari datasheet ke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 ±100 menit, praktikum ±150 menit. Bagian datasheet adalah inti keterampilan insinyur, jangan dilewati.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tubuh: kulit merasakan panas (sensor), otak memutuskan (MCU), otot menarik tangan (aktuator).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Transduser = pengubah satu bentuk energi ke bentuk lain (Fraden, Handbook of Modern Sensors). Pancing: speaker itu sensor atau aktuator? Mikrofon? Keduanya transduser. Driver dipakai bila arus GPIO tidak cukup.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Aktif = butuh catu/eksitasi; pasif = membangkitkan sinyal sendiri (definisi Fraden). Di radar/sonar, "aktif" berarti memancarkan energi sendiri: HC-SR04 aktif menurut kedua definisi, PIR pasif.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Datasheet adalah rujukan utama; angka di blog bisa keliru atau untuk versi 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absolute maximum (batas merusak) dan recommended operating conditions (rancang di sini). Contoh ESP32: abs. maks. catu 3,6 V; kerja modul 3,0–3,6 V. Rancang dengan nilai min/max, bukan typ: V_IH ESP32 ≥ 0,75 × VDD = 2,475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datasheet Aosong (sparkfun.com/datasheets/Sensors/Temperature/DHT22.pdf). Setelah catu menyala, tunggu 1 s. Pull-up pada DATA (contoh library: 10 kΩ) dan kapasitor 100 nF. Pancing: bila dibaca tiap 500 ms? Library memberi hasil lama (MIN_INTERVAL 2000 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MCU LOW ≥ 1 ms, lepas 20–40 µs; sensor 80 µs LOW + 80 µs HIGH; tiap bit 50 µs LOW lalu HIGH 26–28 µs (0) atau 70 µs (1). 40 bit = 2 byte RH + 2 byte suhu + checksum. Bukan protokol 1-Wire DS18B20. Selisih 0/1 hanya ±40 µs: alasan memakai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datasheet Elecfreaks (cdn.sparkfun.com/datasheets/Sensors/Proximity/HCSR04.pdf). Tabelnya salah ketik "40Hz" padahal teks menyebut 40 kHz: latih mahasiswa mencocokkan bagian. Permukaan benda minimal 0,5 m² dan 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pulseIn() mengembalikan 0 bila tidak ada pulsa utuh sebelum batas waktu. 30.000 µs ≈ 517 cm, melebihi 4 m. pulseIn() memblokir, jadi batas waktu dipilih secukupnya.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343 m/s = 0,0343 cm/µs; 2d = v·t; d = t/58,3 ≈ t/58. Pancing: mengapa bukan /29? (pergi-pulang). Pada 30 °C v ≈ 349 m/s → 57,3 µs/cm; benda 2 m terbaca 197,6 cm. Kecepatan bunyi dari Wikipedia "Speed of sound"; datasheet memakai 340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Hitung bersama: 5 × 2/3 ≈ 3,33 V; arus 5 V / 3 kΩ ≈ 1,7 mA; 3,33 V &gt; V_IH 2,475 V. Tidak punya 2 kΩ? Serikan 2 × 1 kΩ, atau 2,2 kΩ/3,3 kΩ → 3,0 V. TRIG tidak perlu karena arahnya ESP32 → modul.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bumbu jadi: praktis, tetapi tetap baca label (versi, cara pakai, lisensi).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PIO Home → Libraries → Add to Project menulis lib_deps. Wokwi: tab Library Manager → tombol + → libraries.txt. Dependensi ikut terpasang otomatis (Adafruit BusIO). Mulai dari folder examples, misalnya DHTtester.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Semver MAJOR.MINOR.PATCH; tanda ^ menahan MAJOR karena MAJOR baru boleh membawa breaking change. Tanpa versi = berisiko. Sumber: docs.platformio.org (Package Specifications) dan docs.wokwi.com/guides/libraries.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Permisif: boleh dipakai, termasuk komersial, asal pemberitahuan hak cipta dan lisensi disertakan. GPL = copyleft. Tanpa lisensi = anggap belum diberi izin. Dicek dari berkas lisensi di .pio/libdeps.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GPIO memberi perintah, driver memberi tenaga. Arus aman per pin sekitar 10–12 mA. Rincian transistor, dioda, dan servo ada di Pertemuan 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di Wokwi: hapus kabel data DHT22 → muncul [PERINGATAN]; geser suhu ke −10 °C. Eksperimen INTERVAL 1000 ms: angka tetap hanya berubah tiap 2 s karena MIN_INTERVAL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Keluaran Wokwi: [DATA] Durasi ECHO: 5800 us | Jarak: 100.0 cm (durasi bisa selisih beberapa µs). Kode lengkap juga menolak jarak &lt; 2 cm. Eksperimen: batas 10.000 µs → benda 200 cm menjadi "di luar jangkauan" (maks. ±172 cm).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Keluaran Wokwi (30 cm): [DATA] Jarak: 30 cm | Zona: DEKAT | Buzzer: bip tiap 240 ms. Uji 150, 80, dan 5 cm. Buzzer aktif cukup digitalWrite. Logika zona adalah pengantar FSM di Pertemuan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2.900 / 58 = 50 cm. Pilihan C muncul bila lupa bahwa bunyi pergi-pulang (dibagi 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2–3 mahasiswa menyebut satu angka dari datasheet yang paling mengejutkan bagi mereka.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Ingatkan: di board asli ECHO wajib lewat pembagi tegangan. Sensor parkir akan dirapikan dengan FSM di Pertemuan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10 · Sensor &amp; Aktuator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10 · Sensor &amp; Aktuator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10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Sensor, Aktuator, Library, dan Datasheet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Membaca datasheet, memasang library, dan membangun sensor parkir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therm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Membedakan </a:t>
            </a:r>
            <a:r>
              <a:rPr lang="en-US" sz="2000" b="1" dirty="0">
                <a:solidFill>
                  <a:schemeClr val="tx1"/>
                </a:solidFill>
              </a:rPr>
              <a:t>sensor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aktuator</a:t>
            </a:r>
            <a:r>
              <a:rPr lang="en-US" sz="2000" dirty="0">
                <a:solidFill>
                  <a:schemeClr val="tx1"/>
                </a:solidFill>
              </a:rPr>
              <a:t>, dan </a:t>
            </a:r>
            <a:r>
              <a:rPr lang="en-US" sz="2000" b="1" dirty="0">
                <a:solidFill>
                  <a:schemeClr val="tx1"/>
                </a:solidFill>
              </a:rPr>
              <a:t>transduser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Membaca </a:t>
            </a:r>
            <a:r>
              <a:rPr lang="en-US" sz="2000" i="1" dirty="0">
                <a:solidFill>
                  <a:schemeClr val="tx1"/>
                </a:solidFill>
              </a:rPr>
              <a:t>datasheet</a:t>
            </a:r>
            <a:r>
              <a:rPr lang="en-US" sz="2000" dirty="0">
                <a:solidFill>
                  <a:schemeClr val="tx1"/>
                </a:solidFill>
              </a:rPr>
              <a:t>: batas, karakteristik, pewaktuan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downloa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Memasang dan memakai </a:t>
            </a:r>
            <a:r>
              <a:rPr lang="en-US" sz="2000" i="1" dirty="0">
                <a:solidFill>
                  <a:schemeClr val="tx1"/>
                </a:solidFill>
              </a:rPr>
              <a:t>library</a:t>
            </a:r>
            <a:r>
              <a:rPr lang="en-US" sz="2000" dirty="0">
                <a:solidFill>
                  <a:schemeClr val="tx1"/>
                </a:solidFill>
              </a:rPr>
              <a:t> di PlatformIO dan Wokwi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rul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Menurunkan rumus jarak </a:t>
            </a:r>
            <a:r>
              <a:rPr lang="en-US" sz="2000" b="1" dirty="0">
                <a:solidFill>
                  <a:schemeClr val="tx1"/>
                </a:solidFill>
              </a:rPr>
              <a:t>µs / 58</a:t>
            </a:r>
            <a:r>
              <a:rPr lang="en-US" sz="2000" dirty="0">
                <a:solidFill>
                  <a:schemeClr val="tx1"/>
                </a:solidFill>
              </a:rPr>
              <a:t> dan pembagi tegangan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a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Membuat stasiun cuaca mini dan sensor parkir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Sensor, aktuator, dan transduser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Membaca datasheet DHT22 dan HC-SR04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Rumus jarak dan level tegangan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Library: pasang, versi, lisensi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Aktuator umum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Praktikum: cuaca mini dan sensor parkir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Sensor, Aktuator, dan Transduser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Indra, otak, dan otot sebuah sistem tertanam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Sensor → Mikrokontroler → Aktuator</a:t>
            </a:r>
            <a:endParaRPr lang="en-US" sz="3000" dirty="0"/>
          </a:p>
        </p:txBody>
      </p:sp>
      <p:pic>
        <p:nvPicPr>
          <p:cNvPr id="3" name="gambar" descr="/home/claude/work/slides/img/p10/p10-sensor-mcu-aktu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29" y="1280160"/>
            <a:ext cx="10174637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Menggolongkan Sensor</a:t>
            </a:r>
            <a:endParaRPr lang="en-US" sz="3000" dirty="0"/>
          </a:p>
        </p:txBody>
      </p:sp>
      <p:graphicFrame>
        <p:nvGraphicFramePr>
          <p:cNvPr id="7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46888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Sensor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Analog/digital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Aktif/pasif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Cara baca di ESP32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Potensiometer, LDR, NTC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Analog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Aktif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analogRead()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Termokopel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Analog (mV)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Pasif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Penguat + ADC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DHT22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Digital (1 kabel)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Aktif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Library DHT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HC-SR04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Digital (lebar pulsa)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Aktif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pulseIn()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MPU6050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Digital (I2C)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Aktif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Library lewat I2C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Membaca Datasheet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Brosur obat untuk komponen elektronik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 Lembar Data</a:t>
            </a:r>
            <a:endParaRPr lang="en-US" sz="3000" dirty="0"/>
          </a:p>
        </p:txBody>
      </p:sp>
      <p:pic>
        <p:nvPicPr>
          <p:cNvPr id="3" name="gambar" descr="/home/claude/work/slides/img/p10/p10-anatomi-data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752" y="1280160"/>
            <a:ext cx="828619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DHT22 (AM2302) dari Datasheet</a:t>
            </a:r>
            <a:endParaRPr lang="en-US" sz="3000" dirty="0"/>
          </a:p>
        </p:txBody>
      </p:sp>
      <p:graphicFrame>
        <p:nvGraphicFramePr>
          <p:cNvPr id="1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Nilai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Artinya bagi kita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3,3–6 V DC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Aman dicatu 3,3 V dari ESP32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Rentang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0–100% RH; −40 hingga 80 °C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Ruangan dan luar ruang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Akurasi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±2% RH; suhu &lt; ±0,5 °C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28,5 °C ≈ 28,0–29,0 °C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Resolusi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0,1% RH; 0,1 °C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Satu angka desimal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Periode baca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Rata-rata 2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Baca paling cepat tiap 2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Antarmuka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Satu kabel (milik Aosong)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Pakai library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Protokol Satu Kabel DHT22</a:t>
            </a:r>
            <a:endParaRPr lang="en-US" sz="3000" dirty="0"/>
          </a:p>
        </p:txBody>
      </p:sp>
      <p:pic>
        <p:nvPicPr>
          <p:cNvPr id="3" name="gambar" descr="/home/claude/work/slides/img/p10/p10-dht22-protok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15" y="1280160"/>
            <a:ext cx="1106026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HC-SR04 dari Datasheet</a:t>
            </a:r>
            <a:endParaRPr lang="en-US" sz="3000" dirty="0"/>
          </a:p>
        </p:txBody>
      </p:sp>
      <p:graphicFrame>
        <p:nvGraphicFramePr>
          <p:cNvPr id="12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Nilai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Artinya bagi kita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DC 5 V, 15 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Ambil dari pin VIN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Gelombang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40 kHz, 8 siklus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Ultrasonik, tak terdengar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Jangkauan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cm hingga 4 m; sudut 15°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 luar itu tidak sah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Pemicu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Pulsa TTL 10 µs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digitalWrite + delayMicroseconds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Lebar pulsa sebanding jarak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pulseIn() dengan batas waktu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Siklus ukur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Lebih dari 60 ms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Beri jeda antarpengukuran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 Pewaktuan HC-SR04</a:t>
            </a:r>
            <a:endParaRPr lang="en-US" sz="3000" dirty="0"/>
          </a:p>
        </p:txBody>
      </p:sp>
      <p:pic>
        <p:nvPicPr>
          <p:cNvPr id="3" name="gambar" descr="/home/claude/work/slides/img/p10/p10-hcsr04-pewaktu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138" y="1280160"/>
            <a:ext cx="1059942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Dari Waktu Gema ke Jarak</a:t>
            </a:r>
            <a:endParaRPr lang="en-US" sz="3000" dirty="0"/>
          </a:p>
        </p:txBody>
      </p:sp>
      <p:pic>
        <p:nvPicPr>
          <p:cNvPr id="3" name="gambar" descr="/home/claude/work/slides/img/p10/p10-hitung-jar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5962"/>
            <a:ext cx="11094415" cy="44804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ECHO 5 V → Pembagi Tegangan</a:t>
            </a:r>
            <a:endParaRPr lang="en-US" sz="3000" dirty="0"/>
          </a:p>
        </p:txBody>
      </p:sp>
      <p:pic>
        <p:nvPicPr>
          <p:cNvPr id="3" name="gambar" descr="/home/claude/repo/pertemuan-10-sensor-aktuator/gambar/p10-pembagi-tegangan-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688" y="1280160"/>
            <a:ext cx="985832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Wajib di board asli; di Wokwi tidak diperlukan.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Library dan Aktuator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Memakai kode orang lain dengan benar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Alur Memasang Library</a:t>
            </a:r>
            <a:endParaRPr lang="en-US" sz="3000" dirty="0"/>
          </a:p>
        </p:txBody>
      </p:sp>
      <p:pic>
        <p:nvPicPr>
          <p:cNvPr id="3" name="gambar" descr="/home/claude/work/slides/img/p10/p10-alur-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73" y="1280160"/>
            <a:ext cx="10621548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PlatformIO vs Wokwi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lapto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64718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PlatformIO (board asli)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lib_deps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pemilik/nama@^versi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^1.4.7</a:t>
            </a:r>
            <a:r>
              <a:rPr lang="en-US" sz="1800" dirty="0">
                <a:solidFill>
                  <a:schemeClr val="tx1"/>
                </a:solidFill>
              </a:rPr>
              <a:t> → ≥ 1.4.7 dan &lt; 2.0.0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Build</a:t>
            </a:r>
            <a:r>
              <a:rPr lang="en-US" sz="1800" dirty="0">
                <a:solidFill>
                  <a:schemeClr val="tx1"/>
                </a:solidFill>
              </a:rPr>
              <a:t> pertama mengisi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.pio/libdeps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Dependensi ikut terpasang otomatis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lou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6471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Wokwi (simulator)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Tab </a:t>
            </a:r>
            <a:r>
              <a:rPr lang="en-US" sz="1800" b="1" dirty="0">
                <a:solidFill>
                  <a:schemeClr val="tx1"/>
                </a:solidFill>
              </a:rPr>
              <a:t>Library Manager</a:t>
            </a:r>
            <a:r>
              <a:rPr lang="en-US" sz="1800" dirty="0">
                <a:solidFill>
                  <a:schemeClr val="tx1"/>
                </a:solidFill>
              </a:rPr>
              <a:t> → tombol </a:t>
            </a:r>
            <a:r>
              <a:rPr lang="en-US" sz="1800" b="1" dirty="0">
                <a:solidFill>
                  <a:schemeClr val="tx1"/>
                </a:solidFill>
              </a:rPr>
              <a:t>+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Tercatat di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libraries.txt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Nama tanpa pemilik: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 sensor library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Versi tertentu: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Nama@1.4.7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Lisensi Library Pertemuan Ini</a:t>
            </a:r>
            <a:endParaRPr lang="en-US" sz="3000" dirty="0"/>
          </a:p>
        </p:txBody>
      </p:sp>
      <p:graphicFrame>
        <p:nvGraphicFramePr>
          <p:cNvPr id="19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219456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Library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Versi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Lisensi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Sifat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DHT sensor library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1.4.7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Permisif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Adafruit Unified Sensor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1.1.15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Apache 2.0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Permisif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Adafruit SSD1306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2.5.17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BSD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Permisif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Adafruit GFX Library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1.12.6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BSD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Permisif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Adafruit BusIO (dependensi)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1.17.4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Permisif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Aktuator Umum</a:t>
            </a:r>
            <a:endParaRPr lang="en-US" sz="3000" dirty="0"/>
          </a:p>
        </p:txBody>
      </p:sp>
      <p:graphicFrame>
        <p:nvGraphicFramePr>
          <p:cNvPr id="2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Aktuator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Menjadi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Cara menggerakkan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Cahaya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+ resistor (5–10 mA)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Buzzer pasif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Bunyi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PWM: ledcWriteTone()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Buzzer aktif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Bunyi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HIGH/LOW (osilator sendiri)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Servo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Gerak sudut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PWM 50 Hz, pulsa 500–2.500 µs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Motor DC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Putaran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Transistor atau driver + dioda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Sakelar beban besar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Transistor + dioda flyback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1: Stasiun Cuaca Mini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240278"/>
          </a:xfrm>
          <a:prstGeom prst="roundRect">
            <a:avLst>
              <a:gd name="adj" fmla="val 2822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kode/01-dht22-oled/src/main.cpp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67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bacaDanTampilkan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kelembapan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readHumidity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suhu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readTemperature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suhu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kelembapan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jumlahGagal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hitung gagal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tampilkanGagal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4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OLED: gagal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r>
              <a:rPr lang="en-US" sz="14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tanpa angka palsu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jumlahGagal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tampilkanData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suhu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kelembapan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DHT22 di GPIO 14, OLED I2C di 21/22 (0x3C)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Dibaca tiap </a:t>
            </a:r>
            <a:r>
              <a:rPr lang="en-US" sz="1700" b="1" dirty="0">
                <a:solidFill>
                  <a:schemeClr val="tx1"/>
                </a:solidFill>
              </a:rPr>
              <a:t>2.500 ms</a:t>
            </a:r>
            <a:r>
              <a:rPr lang="en-US" sz="1700" dirty="0">
                <a:solidFill>
                  <a:schemeClr val="tx1"/>
                </a:solidFill>
              </a:rPr>
              <a:t> dengan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r>
              <a:rPr lang="en-US" sz="1700" dirty="0">
                <a:solidFill>
                  <a:schemeClr val="tx1"/>
                </a:solidFill>
              </a:rPr>
              <a:t> = komunikasi gagal → cek dengan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isnan()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Wokwi 28,5 °C/65% →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Suhu: 28.5 °C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Sensor Jarak HC-SR04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018028"/>
          </a:xfrm>
          <a:prstGeom prst="roundRect">
            <a:avLst>
              <a:gd name="adj" fmla="val 3030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kode/02-sensor-jarak-hcsr04/src/main.cpp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45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PIN_TRIG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PIN_TRIG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4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pemicu 10 µs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PIN_TRIG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durasiUs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pulseIn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PIN_ECHO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30000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maks. 30 ms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jarakCm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durasiUs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58.0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durasiUs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jarakCm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 luar jangkauan"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TRIG GPIO 17, ECHO GPIO 16 (board asli: pembagi!)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Batas tunggu 30 ms ≈ 517 cm &gt; jangkauan 4 m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Wokwi 100 cm → durasi sekitar 5.800 µs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Geser jarak 2–400 cm di Wokwi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3: Sensor Parkir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2446528"/>
          </a:xfrm>
          <a:prstGeom prst="roundRect">
            <a:avLst>
              <a:gd name="adj" fmla="val 3738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kode/03-sensor-parkir/src/main.cpp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periodeMs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jarakCm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FAKTOR_PERIODE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waktuBipTerakhir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periodeMs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waktuBipTerakhir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bip baru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nyalakanBuzzer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waktuBipTerakhir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LAMA_BIP_MS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nyalakanBuzzer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jeda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nyalakanBuzzer() → ledcWriteTone(pin, 2000 atau 0)</a:t>
            </a:r>
            <a:endParaRPr lang="en-US" sz="13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Zona: ≥ 100 aman, 40–99 waspada, 10–39 dekat, &lt; 10 berhenti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Periode bip = jarak × 8 ms: makin dekat makin cepat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LED 25/26/27; </a:t>
            </a:r>
            <a:r>
              <a:rPr lang="en-US" sz="1700" i="1" dirty="0">
                <a:solidFill>
                  <a:schemeClr val="tx1"/>
                </a:solidFill>
              </a:rPr>
              <a:t>buzzer</a:t>
            </a:r>
            <a:r>
              <a:rPr lang="en-US" sz="1700" dirty="0">
                <a:solidFill>
                  <a:schemeClr val="tx1"/>
                </a:solidFill>
              </a:rPr>
              <a:t> pasif di GPIO 18 (PWM)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Tiga tugas, tiga "jam"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Pulsa ECHO selebar 2.900 µs. Berapa jarak bendanya?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25 cm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50 cm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100 cm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168 cm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5849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38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Sensor → MCU → aktuator; keduanya </a:t>
            </a:r>
            <a:r>
              <a:rPr lang="en-US" sz="2000" b="1" dirty="0">
                <a:solidFill>
                  <a:schemeClr val="bg1"/>
                </a:solidFill>
              </a:rPr>
              <a:t>transduser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0980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Datasheet: bedakan </a:t>
            </a:r>
            <a:r>
              <a:rPr lang="en-US" sz="2000" i="1" dirty="0">
                <a:solidFill>
                  <a:schemeClr val="bg1"/>
                </a:solidFill>
              </a:rPr>
              <a:t>absolute maximum</a:t>
            </a:r>
            <a:r>
              <a:rPr lang="en-US" sz="2000" dirty="0">
                <a:solidFill>
                  <a:schemeClr val="bg1"/>
                </a:solidFill>
              </a:rPr>
              <a:t> dan kondisi kerja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169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88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0228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DHT22: catu 3,3–6 V, baca tiap ≥ 2 s, tangani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396240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81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79476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HC-SR04: 5 V, pemicu 10 µs, jarak = µs / 58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8737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8724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ECHO 5 V → pembagi 1 kΩ/2 kΩ ≈ 3,33 V</a:t>
            </a:r>
            <a:endParaRPr lang="en-US" sz="2000" dirty="0"/>
          </a:p>
        </p:txBody>
      </p:sp>
      <p:sp>
        <p:nvSpPr>
          <p:cNvPr id="18" name="pad"/>
          <p:cNvSpPr/>
          <p:nvPr/>
        </p:nvSpPr>
        <p:spPr>
          <a:xfrm>
            <a:off x="548640" y="55473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9" name="ik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662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3797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Pasang </a:t>
            </a:r>
            <a:r>
              <a:rPr lang="en-US" sz="2000" i="1" dirty="0">
                <a:solidFill>
                  <a:schemeClr val="bg1"/>
                </a:solidFill>
              </a:rPr>
              <a:t>library</a:t>
            </a:r>
            <a:r>
              <a:rPr lang="en-US" sz="2000" dirty="0">
                <a:solidFill>
                  <a:schemeClr val="bg1"/>
                </a:solidFill>
              </a:rPr>
              <a:t> lewat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lib_deps</a:t>
            </a:r>
            <a:r>
              <a:rPr lang="en-US" sz="2000" dirty="0">
                <a:solidFill>
                  <a:schemeClr val="bg1"/>
                </a:solidFill>
              </a:rPr>
              <a:t> (PlatformIO) atau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libraries.txt</a:t>
            </a:r>
            <a:r>
              <a:rPr lang="en-US" sz="2000" dirty="0">
                <a:solidFill>
                  <a:schemeClr val="bg1"/>
                </a:solidFill>
              </a:rPr>
              <a:t> (Wokwi); perhatikan versi dan lisensinya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11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1: kompensasi suhu HC-SR04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2: detektif datasheet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11: FSM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Bawa HC-SR04 dan DHT22 bila ada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10: Sensor, Aktuator, Library, dan Datasheet</dc:title>
  <dc:subject>Sistem Tertanam — Pertemuan 10</dc:subject>
  <dc:creator>Anton Prafanto</dc:creator>
  <cp:lastModifiedBy>Anton Prafanto</cp:lastModifiedBy>
  <cp:revision>1</cp:revision>
  <dcterms:created xsi:type="dcterms:W3CDTF">2026-10-19T00:59:14Z</dcterms:created>
  <dcterms:modified xsi:type="dcterms:W3CDTF">2026-10-19T00:59:14Z</dcterms:modified>
</cp:coreProperties>
</file>