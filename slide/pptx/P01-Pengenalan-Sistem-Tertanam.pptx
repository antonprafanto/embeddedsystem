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embuka" id="{d33bc088-fbbd-aa7f-f8dc-2cc6573d207b}">
          <p14:sldIdLst>
            <p14:sldId id="256"/>
            <p14:sldId id="257"/>
            <p14:sldId id="258"/>
          </p14:sldIdLst>
        </p14:section>
        <p14:section name="Konsep" id="{7de3c313-5039-fffc-637a-7e0de3f978ef}">
          <p14:sldIdLst>
            <p14:sldId id="259"/>
            <p14:sldId id="260"/>
            <p14:sldId id="261"/>
            <p14:sldId id="262"/>
            <p14:sldId id="263"/>
          </p14:sldIdLst>
        </p14:section>
        <p14:section name="ESP32" id="{99bf1e20-15e2-4c7c-fb5d-b496fd5b0e22}">
          <p14:sldIdLst>
            <p14:sldId id="264"/>
            <p14:sldId id="265"/>
            <p14:sldId id="266"/>
            <p14:sldId id="267"/>
            <p14:sldId id="268"/>
          </p14:sldIdLst>
        </p14:section>
        <p14:section name="Alur Kerja" id="{3f80d242-1ae8-a286-e61d-8b673f0ddab8}">
          <p14:sldIdLst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Penutup" id="{1155192e-0901-cc3a-7fd9-44f6e4b34a47}">
          <p14:sldIdLst>
            <p14:sldId id="277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Buka dengan pertanyaan: alat apa di rumah kalian yang "pintar" tapi bukan komputer? Kumpulkan 3–4 jawaban sebelum masuk materi.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Tekankan bahwa di akhir sesi semua mahasiswa harus sudah melihat pesan "Halo, ESP32!" di Serial Monitor, minimal lewat Wokwi.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Definisi mengikuti Marwedel (2021): embedded systems are information processing systems embedded into enclosing products. Fakta Apollo dan 98% dari artikel Wikipedia "Embedded system".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Minta mahasiswa menyebut contoh lain dan menebak input/output-nya.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Contoh real-time: kantong udara mobil, rem ABS. Jawaban benar tetapi terlambat = salah.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Ajak kelas menguraikan satu alat lain, misalnya kipas angin otomatis atau dispenser air.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Analogi: laptop = rumah besar banyak ruangan; mikrokontroler = rumah mungil serba ada. Sorot perbedaan daya, waktu menyala, dan akses langsung ke pin.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Bandingkan 520 KB dengan RAM laptop 8 GB (±16.000 kali lebih besar). Inilah makna "sumber daya terbatas".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Yang dibeli mahasiswa adalah board. Board berisi modul; modul berisi cip ESP32 + flash 4 MB + kristal + antena.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Minta mahasiswa memegang board masing-masing dan menunjuk: tombol EN, tombol BOOT, LED bawaan (GPIO 2), cip USB-UART.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Firmware = program yang tertanam. Tekankan bahwa mengulang langkah 1–5 berkali-kali adalah hal normal.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Analogi penjual bakso: setup = menyiapkan gerobak di pagi hari; loop = melayani pembeli terus-menerus.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Ujian praktik dan proyek akhir memakai board asli; Wokwi untuk berlatih.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Tunjukkan langsung di VS Code: ikon PlatformIO di kiri, tombol Build/Upload/Serial Monitor di bilah status bawah.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Eksperimen: pada jeda berapa mata tidak lagi melihat kedipan? (sekitar di bawah 20 ms, efek persistensi penglihatan).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Arahkan ke panduan/06-mengatasi-masalah.md untuk daftar lengkap.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Jawaban: B. loop() yang berulang terus.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UDUL">
    <p:bg>
      <p:bgPr>
        <a:solidFill>
          <a:srgbClr val="0F3D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ools/kit/slides/assets/pcb-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0"/>
            <a:ext cx="5608015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417320"/>
            <a:ext cx="658368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b="1" spc="3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1920240"/>
            <a:ext cx="640080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3931920"/>
            <a:ext cx="62179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CFE6DA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6" name="Text 0"/>
          <p:cNvSpPr/>
          <p:nvPr/>
        </p:nvSpPr>
        <p:spPr>
          <a:xfrm>
            <a:off x="548640" y="57150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6DA"/>
                </a:solidFill>
              </a:rPr>
              <a:t>Sistem Tertanam (Embedded Systems) · S1 Teknik Elektro</a:t>
            </a:r>
            <a:endParaRPr lang="en-US" sz="1200" dirty="0"/>
          </a:p>
        </p:txBody>
      </p:sp>
      <p:sp>
        <p:nvSpPr>
          <p:cNvPr id="7" name="Text 1"/>
          <p:cNvSpPr/>
          <p:nvPr/>
        </p:nvSpPr>
        <p:spPr>
          <a:xfrm>
            <a:off x="548640" y="60350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6DA"/>
                </a:solidFill>
              </a:rPr>
              <a:t>Dosen Pengampu: Anton Prafanto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GIAN">
    <p:bg>
      <p:bgPr>
        <a:solidFill>
          <a:srgbClr val="0F3D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ools/kit/slides/assets/pcb-art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0"/>
            <a:ext cx="3962095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828800"/>
            <a:ext cx="2743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6000" b="1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60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2971800"/>
            <a:ext cx="73152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4297680"/>
            <a:ext cx="73152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CFE6DA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SI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Pertemuan 01 · Pengenalan Sistem Tertanam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LAP">
    <p:bg>
      <p:bgPr>
        <a:solidFill>
          <a:srgbClr val="0F3D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FAF"/>
                </a:solidFill>
              </a:rPr>
              <a:t>Pertemuan 01 · Pengenalan Sistem Tertanam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F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141732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chemeClr val="accent2"/>
                </a:solidFill>
              </a:rPr>
              <a:t>PERTEMUAN 01</a:t>
            </a:r>
            <a:endParaRPr lang="en-US" sz="18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1920240"/>
            <a:ext cx="6400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Mengenal Sistem Tertanam, ESP32, dan Alat Kerja</a:t>
            </a:r>
            <a:endParaRPr lang="en-US" sz="40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393192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6DA"/>
                </a:solidFill>
              </a:rPr>
              <a:t>Dari penanak nasi digital sampai LED berkedip pertamamu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Tujuan Pembelajaran</a:t>
            </a:r>
            <a:endParaRPr lang="en-US" sz="3000" dirty="0"/>
          </a:p>
        </p:txBody>
      </p:sp>
      <p:sp>
        <p:nvSpPr>
          <p:cNvPr id="3" name="pad"/>
          <p:cNvSpPr/>
          <p:nvPr/>
        </p:nvSpPr>
        <p:spPr>
          <a:xfrm>
            <a:off x="548640" y="1499616"/>
            <a:ext cx="566928" cy="56692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4" name="ikon-chip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" y="1641348"/>
            <a:ext cx="283464" cy="28346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25880" y="1325880"/>
            <a:ext cx="10317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Menjelaskan pengertian </a:t>
            </a:r>
            <a:r>
              <a:rPr lang="en-US" sz="2000" b="1" dirty="0">
                <a:solidFill>
                  <a:schemeClr val="tx1"/>
                </a:solidFill>
              </a:rPr>
              <a:t>sistem tertanam</a:t>
            </a:r>
            <a:r>
              <a:rPr lang="en-US" sz="2000" dirty="0">
                <a:solidFill>
                  <a:schemeClr val="tx1"/>
                </a:solidFill>
              </a:rPr>
              <a:t> dan contohnya</a:t>
            </a:r>
            <a:endParaRPr lang="en-US" sz="2000" dirty="0"/>
          </a:p>
        </p:txBody>
      </p:sp>
      <p:sp>
        <p:nvSpPr>
          <p:cNvPr id="6" name="pad"/>
          <p:cNvSpPr/>
          <p:nvPr/>
        </p:nvSpPr>
        <p:spPr>
          <a:xfrm>
            <a:off x="548640" y="2414016"/>
            <a:ext cx="566928" cy="56692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7" name="ikon-random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" y="255574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25880" y="2240280"/>
            <a:ext cx="10317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Membedakan mikroprosesor (laptop) dengan </a:t>
            </a:r>
            <a:r>
              <a:rPr lang="en-US" sz="2000" b="1" dirty="0">
                <a:solidFill>
                  <a:schemeClr val="tx1"/>
                </a:solidFill>
              </a:rPr>
              <a:t>mikrokontroler</a:t>
            </a:r>
            <a:endParaRPr lang="en-US" sz="2000" dirty="0"/>
          </a:p>
        </p:txBody>
      </p:sp>
      <p:sp>
        <p:nvSpPr>
          <p:cNvPr id="9" name="pad"/>
          <p:cNvSpPr/>
          <p:nvPr/>
        </p:nvSpPr>
        <p:spPr>
          <a:xfrm>
            <a:off x="548640" y="3328416"/>
            <a:ext cx="566928" cy="56692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0" name="ikon-search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3470148"/>
            <a:ext cx="283464" cy="28346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25880" y="3154680"/>
            <a:ext cx="10317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Menyebutkan bagian-bagian board </a:t>
            </a:r>
            <a:r>
              <a:rPr lang="en-US" sz="2000" b="1" dirty="0">
                <a:solidFill>
                  <a:schemeClr val="tx1"/>
                </a:solidFill>
              </a:rPr>
              <a:t>ESP32 DevKit V1</a:t>
            </a:r>
            <a:endParaRPr lang="en-US" sz="2000" dirty="0"/>
          </a:p>
        </p:txBody>
      </p:sp>
      <p:sp>
        <p:nvSpPr>
          <p:cNvPr id="12" name="pad"/>
          <p:cNvSpPr/>
          <p:nvPr/>
        </p:nvSpPr>
        <p:spPr>
          <a:xfrm>
            <a:off x="548640" y="4242816"/>
            <a:ext cx="566928" cy="56692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3" name="ikon-rout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" y="4384548"/>
            <a:ext cx="283464" cy="283464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325880" y="4069080"/>
            <a:ext cx="10317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Menjelaskan alur kerja: tulis kode → </a:t>
            </a:r>
            <a:r>
              <a:rPr lang="en-US" sz="2000" b="1" dirty="0">
                <a:solidFill>
                  <a:schemeClr val="tx1"/>
                </a:solidFill>
              </a:rPr>
              <a:t>Build</a:t>
            </a:r>
            <a:r>
              <a:rPr lang="en-US" sz="2000" dirty="0">
                <a:solidFill>
                  <a:schemeClr val="tx1"/>
                </a:solidFill>
              </a:rPr>
              <a:t> → </a:t>
            </a:r>
            <a:r>
              <a:rPr lang="en-US" sz="2000" b="1" dirty="0">
                <a:solidFill>
                  <a:schemeClr val="tx1"/>
                </a:solidFill>
              </a:rPr>
              <a:t>Upload</a:t>
            </a:r>
            <a:r>
              <a:rPr lang="en-US" sz="2000" dirty="0">
                <a:solidFill>
                  <a:schemeClr val="tx1"/>
                </a:solidFill>
              </a:rPr>
              <a:t> → amati</a:t>
            </a:r>
            <a:endParaRPr lang="en-US" sz="2000" dirty="0"/>
          </a:p>
        </p:txBody>
      </p:sp>
      <p:sp>
        <p:nvSpPr>
          <p:cNvPr id="15" name="pad"/>
          <p:cNvSpPr/>
          <p:nvPr/>
        </p:nvSpPr>
        <p:spPr>
          <a:xfrm>
            <a:off x="548640" y="5157216"/>
            <a:ext cx="566928" cy="56692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6" name="ikon-play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372" y="5298948"/>
            <a:ext cx="283464" cy="283464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325880" y="4983480"/>
            <a:ext cx="10317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Menjalankan program pertama di </a:t>
            </a:r>
            <a:r>
              <a:rPr lang="en-US" sz="2000" b="1" dirty="0">
                <a:solidFill>
                  <a:schemeClr val="tx1"/>
                </a:solidFill>
              </a:rPr>
              <a:t>Wokwi</a:t>
            </a:r>
            <a:r>
              <a:rPr lang="en-US" sz="2000" dirty="0">
                <a:solidFill>
                  <a:schemeClr val="tx1"/>
                </a:solidFill>
              </a:rPr>
              <a:t> dan board asli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Peta Materi Hari Ini</a:t>
            </a:r>
            <a:endParaRPr lang="en-US" sz="3000" dirty="0"/>
          </a:p>
        </p:txBody>
      </p:sp>
      <p:sp>
        <p:nvSpPr>
          <p:cNvPr id="3" name="kartu"/>
          <p:cNvSpPr/>
          <p:nvPr/>
        </p:nvSpPr>
        <p:spPr>
          <a:xfrm>
            <a:off x="548640" y="1325880"/>
            <a:ext cx="5364328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25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01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325880"/>
            <a:ext cx="4267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Apa itu sistem tertanam?</a:t>
            </a:r>
            <a:endParaRPr lang="en-US" sz="1900" dirty="0"/>
          </a:p>
        </p:txBody>
      </p:sp>
      <p:sp>
        <p:nvSpPr>
          <p:cNvPr id="6" name="kartu"/>
          <p:cNvSpPr/>
          <p:nvPr/>
        </p:nvSpPr>
        <p:spPr>
          <a:xfrm>
            <a:off x="548640" y="2194560"/>
            <a:ext cx="5364328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02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194560"/>
            <a:ext cx="4267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Pola input → proses → output</a:t>
            </a:r>
            <a:endParaRPr lang="en-US" sz="1900" dirty="0"/>
          </a:p>
        </p:txBody>
      </p:sp>
      <p:sp>
        <p:nvSpPr>
          <p:cNvPr id="9" name="kartu"/>
          <p:cNvSpPr/>
          <p:nvPr/>
        </p:nvSpPr>
        <p:spPr>
          <a:xfrm>
            <a:off x="548640" y="3063240"/>
            <a:ext cx="5364328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063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03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3063240"/>
            <a:ext cx="4267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Mikroprosesor vs mikrokontroler</a:t>
            </a:r>
            <a:endParaRPr lang="en-US" sz="1900" dirty="0"/>
          </a:p>
        </p:txBody>
      </p:sp>
      <p:sp>
        <p:nvSpPr>
          <p:cNvPr id="12" name="kartu"/>
          <p:cNvSpPr/>
          <p:nvPr/>
        </p:nvSpPr>
        <p:spPr>
          <a:xfrm>
            <a:off x="6278728" y="1325880"/>
            <a:ext cx="5364328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61608" y="1325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04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7193128" y="1325880"/>
            <a:ext cx="4267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Kenalan dengan ESP32</a:t>
            </a:r>
            <a:endParaRPr lang="en-US" sz="1900" dirty="0"/>
          </a:p>
        </p:txBody>
      </p:sp>
      <p:sp>
        <p:nvSpPr>
          <p:cNvPr id="15" name="kartu"/>
          <p:cNvSpPr/>
          <p:nvPr/>
        </p:nvSpPr>
        <p:spPr>
          <a:xfrm>
            <a:off x="6278728" y="2194560"/>
            <a:ext cx="5364328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61608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05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7193128" y="2194560"/>
            <a:ext cx="4267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Alur kerja membuat firmware</a:t>
            </a:r>
            <a:endParaRPr lang="en-US" sz="1900" dirty="0"/>
          </a:p>
        </p:txBody>
      </p:sp>
      <p:sp>
        <p:nvSpPr>
          <p:cNvPr id="18" name="kartu"/>
          <p:cNvSpPr/>
          <p:nvPr/>
        </p:nvSpPr>
        <p:spPr>
          <a:xfrm>
            <a:off x="6278728" y="3063240"/>
            <a:ext cx="5364328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61608" y="3063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06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7193128" y="3063240"/>
            <a:ext cx="4267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Praktikum: Halo ESP32 &amp; LED berkedip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01</a:t>
            </a:r>
            <a:endParaRPr lang="en-US" sz="60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29718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Apa Itu Sistem Tertanam?</a:t>
            </a:r>
            <a:endParaRPr lang="en-US" sz="38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4297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6DA"/>
                </a:solidFill>
              </a:rPr>
              <a:t>Komputer kecil yang tersembunyi di dalam alat sehari-hari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Sistem Tertanam = Komputer di Dalam Produk</a:t>
            </a:r>
            <a:endParaRPr lang="en-US" sz="3000" dirty="0"/>
          </a:p>
        </p:txBody>
      </p:sp>
      <p:sp>
        <p:nvSpPr>
          <p:cNvPr id="3" name="kartu"/>
          <p:cNvSpPr/>
          <p:nvPr/>
        </p:nvSpPr>
        <p:spPr>
          <a:xfrm>
            <a:off x="548640" y="1600200"/>
            <a:ext cx="11094415" cy="1828800"/>
          </a:xfrm>
          <a:prstGeom prst="roundRect">
            <a:avLst>
              <a:gd name="adj" fmla="val 6000"/>
            </a:avLst>
          </a:prstGeom>
          <a:solidFill>
            <a:srgbClr val="EEF5F1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pad"/>
          <p:cNvSpPr/>
          <p:nvPr/>
        </p:nvSpPr>
        <p:spPr>
          <a:xfrm>
            <a:off x="914400" y="2057400"/>
            <a:ext cx="914400" cy="9144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5" name="ikon-chip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2860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103120" y="1600200"/>
            <a:ext cx="92656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Sistem pengolah informasi yang </a:t>
            </a:r>
            <a:r>
              <a:rPr lang="en-US" sz="2600" b="1" dirty="0">
                <a:solidFill>
                  <a:schemeClr val="tx1"/>
                </a:solidFill>
              </a:rPr>
              <a:t>ditanam di dalam sebuah produk</a:t>
            </a:r>
            <a:r>
              <a:rPr lang="en-US" sz="2600" dirty="0">
                <a:solidFill>
                  <a:schemeClr val="tx1"/>
                </a:solidFill>
              </a:rPr>
              <a:t> untuk menjalankan </a:t>
            </a:r>
            <a:r>
              <a:rPr lang="en-US" sz="2600" b="1" dirty="0">
                <a:solidFill>
                  <a:schemeClr val="tx1"/>
                </a:solidFill>
              </a:rPr>
              <a:t>tugas khusus</a:t>
            </a:r>
            <a:r>
              <a:rPr lang="en-US" sz="2600" dirty="0">
                <a:solidFill>
                  <a:schemeClr val="tx1"/>
                </a:solidFill>
              </a:rPr>
              <a:t>.</a:t>
            </a:r>
            <a:endParaRPr lang="en-US" sz="2600" dirty="0"/>
          </a:p>
        </p:txBody>
      </p:sp>
      <p:sp>
        <p:nvSpPr>
          <p:cNvPr id="7" name="daftar-poin"/>
          <p:cNvSpPr txBox="1"/>
          <p:nvPr/>
        </p:nvSpPr>
        <p:spPr>
          <a:xfrm>
            <a:off x="548640" y="3749040"/>
            <a:ext cx="11094415" cy="24231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Pengguna sering tidak sadar ada komputer di dalamnya</a:t>
            </a:r>
            <a:endParaRPr lang="en-US" sz="19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Salah satu yang pertama: </a:t>
            </a:r>
            <a:r>
              <a:rPr lang="en-US" sz="1900" i="1" dirty="0">
                <a:solidFill>
                  <a:schemeClr val="tx1"/>
                </a:solidFill>
              </a:rPr>
              <a:t>Apollo Guidance Computer</a:t>
            </a:r>
            <a:r>
              <a:rPr lang="en-US" sz="1900" dirty="0">
                <a:solidFill>
                  <a:schemeClr val="tx1"/>
                </a:solidFill>
              </a:rPr>
              <a:t> (1960-an)</a:t>
            </a:r>
            <a:endParaRPr lang="en-US" sz="19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Pernah diperkirakan ±98% mikroprosesor yang diproduksi dipakai di sistem tertanam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Sistem Tertanam di Sekitar Kita</a:t>
            </a:r>
            <a:endParaRPr lang="en-US" sz="3000" dirty="0"/>
          </a:p>
        </p:txBody>
      </p:sp>
      <p:pic>
        <p:nvPicPr>
          <p:cNvPr id="3" name="gambar" descr="/home/claude/work/slides/img/p01/p01-sistem-tertanam-di-sekitar-ki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8414" y="1280160"/>
            <a:ext cx="10394868" cy="46177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97103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Ikon: Material Design Icons (Apache 2.0), Font Awesome Free (CC BY 4.0)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Ciri-Ciri Sistem Tertanam</a:t>
            </a:r>
            <a:endParaRPr lang="en-US" sz="3000" dirty="0"/>
          </a:p>
        </p:txBody>
      </p:sp>
      <p:sp>
        <p:nvSpPr>
          <p:cNvPr id="3" name="kartu"/>
          <p:cNvSpPr/>
          <p:nvPr/>
        </p:nvSpPr>
        <p:spPr>
          <a:xfrm>
            <a:off x="548640" y="1527810"/>
            <a:ext cx="5387188" cy="1924050"/>
          </a:xfrm>
          <a:prstGeom prst="roundRect">
            <a:avLst>
              <a:gd name="adj" fmla="val 570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pad"/>
          <p:cNvSpPr/>
          <p:nvPr/>
        </p:nvSpPr>
        <p:spPr>
          <a:xfrm>
            <a:off x="822960" y="1802130"/>
            <a:ext cx="548640" cy="548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5" name="ikon-targe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93929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487930"/>
            <a:ext cx="48385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Tugas khusus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945130"/>
            <a:ext cx="483854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Satu fungsi utama, tidak serbaguna seperti laptop.</a:t>
            </a:r>
            <a:endParaRPr lang="en-US" sz="1500" dirty="0"/>
          </a:p>
        </p:txBody>
      </p:sp>
      <p:sp>
        <p:nvSpPr>
          <p:cNvPr id="8" name="kartu"/>
          <p:cNvSpPr/>
          <p:nvPr/>
        </p:nvSpPr>
        <p:spPr>
          <a:xfrm>
            <a:off x="6255868" y="1527810"/>
            <a:ext cx="5387188" cy="1924050"/>
          </a:xfrm>
          <a:prstGeom prst="roundRect">
            <a:avLst>
              <a:gd name="adj" fmla="val 570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9" name="pad"/>
          <p:cNvSpPr/>
          <p:nvPr/>
        </p:nvSpPr>
        <p:spPr>
          <a:xfrm>
            <a:off x="6530188" y="1802130"/>
            <a:ext cx="548640" cy="548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0" name="ikon-therm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348" y="193929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530188" y="2487930"/>
            <a:ext cx="48385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Dunia fisik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6530188" y="2945130"/>
            <a:ext cx="483854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Membaca sensor dan menggerakkan aktuator.</a:t>
            </a:r>
            <a:endParaRPr lang="en-US" sz="1500" dirty="0"/>
          </a:p>
        </p:txBody>
      </p:sp>
      <p:sp>
        <p:nvSpPr>
          <p:cNvPr id="13" name="kartu"/>
          <p:cNvSpPr/>
          <p:nvPr/>
        </p:nvSpPr>
        <p:spPr>
          <a:xfrm>
            <a:off x="548640" y="3771900"/>
            <a:ext cx="5387188" cy="1924050"/>
          </a:xfrm>
          <a:prstGeom prst="roundRect">
            <a:avLst>
              <a:gd name="adj" fmla="val 570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4" name="pad"/>
          <p:cNvSpPr/>
          <p:nvPr/>
        </p:nvSpPr>
        <p:spPr>
          <a:xfrm>
            <a:off x="822960" y="4046220"/>
            <a:ext cx="548640" cy="548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5" name="ikon-memory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18338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22960" y="4732020"/>
            <a:ext cx="48385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Sumber daya terbatas</a:t>
            </a:r>
            <a:endParaRPr lang="en-US" sz="1900" dirty="0"/>
          </a:p>
        </p:txBody>
      </p:sp>
      <p:sp>
        <p:nvSpPr>
          <p:cNvPr id="17" name="Text 12"/>
          <p:cNvSpPr txBox="1"/>
          <p:nvPr/>
        </p:nvSpPr>
        <p:spPr>
          <a:xfrm>
            <a:off x="822960" y="5189220"/>
            <a:ext cx="483854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Memori dan daya kecil supaya murah dan hemat.</a:t>
            </a:r>
            <a:endParaRPr lang="en-US" sz="1500" dirty="0"/>
          </a:p>
        </p:txBody>
      </p:sp>
      <p:sp>
        <p:nvSpPr>
          <p:cNvPr id="18" name="kartu"/>
          <p:cNvSpPr/>
          <p:nvPr/>
        </p:nvSpPr>
        <p:spPr>
          <a:xfrm>
            <a:off x="6255868" y="3771900"/>
            <a:ext cx="5387188" cy="1924050"/>
          </a:xfrm>
          <a:prstGeom prst="roundRect">
            <a:avLst>
              <a:gd name="adj" fmla="val 570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9" name="pad"/>
          <p:cNvSpPr/>
          <p:nvPr/>
        </p:nvSpPr>
        <p:spPr>
          <a:xfrm>
            <a:off x="6530188" y="4046220"/>
            <a:ext cx="548640" cy="548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20" name="ikon-stopwatch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348" y="418338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530188" y="4732020"/>
            <a:ext cx="48385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Tepat waktu</a:t>
            </a:r>
            <a:endParaRPr lang="en-US" sz="1900" dirty="0"/>
          </a:p>
        </p:txBody>
      </p:sp>
      <p:sp>
        <p:nvSpPr>
          <p:cNvPr id="22" name="Text 16"/>
          <p:cNvSpPr txBox="1"/>
          <p:nvPr/>
        </p:nvSpPr>
        <p:spPr>
          <a:xfrm>
            <a:off x="6530188" y="5189220"/>
            <a:ext cx="483854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Harus benar </a:t>
            </a:r>
            <a:r>
              <a:rPr lang="en-US" sz="1500" b="1" dirty="0">
                <a:solidFill>
                  <a:schemeClr val="tx1"/>
                </a:solidFill>
              </a:rPr>
              <a:t>dan</a:t>
            </a:r>
            <a:r>
              <a:rPr lang="en-US" sz="1500" dirty="0">
                <a:solidFill>
                  <a:schemeClr val="tx1"/>
                </a:solidFill>
              </a:rPr>
              <a:t> tepat waktu (</a:t>
            </a:r>
            <a:r>
              <a:rPr lang="en-US" sz="1500" i="1" dirty="0">
                <a:solidFill>
                  <a:schemeClr val="tx1"/>
                </a:solidFill>
              </a:rPr>
              <a:t>real-time</a:t>
            </a:r>
            <a:r>
              <a:rPr lang="en-US" sz="1500" dirty="0">
                <a:solidFill>
                  <a:schemeClr val="tx1"/>
                </a:solidFill>
              </a:rPr>
              <a:t>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Pola Dasar: Input → Proses → Output</a:t>
            </a:r>
            <a:endParaRPr lang="en-US" sz="3000" dirty="0"/>
          </a:p>
        </p:txBody>
      </p:sp>
      <p:pic>
        <p:nvPicPr>
          <p:cNvPr id="3" name="gambar" descr="/home/claude/work/slides/img/p01/p01-input-proses-outp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51" y="1280160"/>
            <a:ext cx="9356993" cy="44805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83387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Biasakan menguraikan setiap alat dengan pola ini: apa input-nya, apa prosesnya, apa output-nya?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02</a:t>
            </a:r>
            <a:endParaRPr lang="en-US" sz="60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29718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Mikrokontroler dan ESP32</a:t>
            </a:r>
            <a:endParaRPr lang="en-US" sz="38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4297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6DA"/>
                </a:solidFill>
              </a:rPr>
              <a:t>Hampir seluruh komputer dalam satu cip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Laptop vs Mikrokontroler</a:t>
            </a:r>
            <a:endParaRPr lang="en-US" sz="3000" dirty="0"/>
          </a:p>
        </p:txBody>
      </p:sp>
      <p:pic>
        <p:nvPicPr>
          <p:cNvPr id="3" name="gambar" descr="/home/claude/work/slides/img/p01/p01-komputer-vs-mikrokontrol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6312" y="1280160"/>
            <a:ext cx="9879071" cy="4892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ESP32 dalam Angka</a:t>
            </a:r>
            <a:endParaRPr lang="en-US" sz="3000" dirty="0"/>
          </a:p>
        </p:txBody>
      </p:sp>
      <p:sp>
        <p:nvSpPr>
          <p:cNvPr id="3" name="kartu"/>
          <p:cNvSpPr/>
          <p:nvPr/>
        </p:nvSpPr>
        <p:spPr>
          <a:xfrm>
            <a:off x="548640" y="2127250"/>
            <a:ext cx="2533574" cy="2324608"/>
          </a:xfrm>
          <a:prstGeom prst="roundRect">
            <a:avLst>
              <a:gd name="adj" fmla="val 472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2401570"/>
            <a:ext cx="216781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chemeClr val="accent1"/>
                </a:solidFill>
              </a:rPr>
              <a:t>240 MHz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636010"/>
            <a:ext cx="2167814" cy="632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CPU 2 inti Xtensa LX6 32-bit</a:t>
            </a:r>
            <a:endParaRPr lang="en-US" sz="1600" dirty="0"/>
          </a:p>
        </p:txBody>
      </p:sp>
      <p:sp>
        <p:nvSpPr>
          <p:cNvPr id="6" name="kartu"/>
          <p:cNvSpPr/>
          <p:nvPr/>
        </p:nvSpPr>
        <p:spPr>
          <a:xfrm>
            <a:off x="3402254" y="2127250"/>
            <a:ext cx="2533574" cy="2324608"/>
          </a:xfrm>
          <a:prstGeom prst="roundRect">
            <a:avLst>
              <a:gd name="adj" fmla="val 472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85134" y="2401570"/>
            <a:ext cx="216781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chemeClr val="accent1"/>
                </a:solidFill>
              </a:rPr>
              <a:t>520 KB</a:t>
            </a:r>
            <a:endParaRPr lang="en-US" sz="4900" dirty="0"/>
          </a:p>
        </p:txBody>
      </p:sp>
      <p:sp>
        <p:nvSpPr>
          <p:cNvPr id="8" name="Text 6"/>
          <p:cNvSpPr txBox="1"/>
          <p:nvPr/>
        </p:nvSpPr>
        <p:spPr>
          <a:xfrm>
            <a:off x="3585134" y="3636010"/>
            <a:ext cx="2167814" cy="632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SRAM internal untuk data program</a:t>
            </a:r>
            <a:endParaRPr lang="en-US" sz="1600" dirty="0"/>
          </a:p>
        </p:txBody>
      </p:sp>
      <p:sp>
        <p:nvSpPr>
          <p:cNvPr id="9" name="kartu"/>
          <p:cNvSpPr/>
          <p:nvPr/>
        </p:nvSpPr>
        <p:spPr>
          <a:xfrm>
            <a:off x="6255868" y="2127250"/>
            <a:ext cx="2533574" cy="2324608"/>
          </a:xfrm>
          <a:prstGeom prst="roundRect">
            <a:avLst>
              <a:gd name="adj" fmla="val 472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38748" y="2401570"/>
            <a:ext cx="216781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chemeClr val="accent1"/>
                </a:solidFill>
              </a:rPr>
              <a:t>34</a:t>
            </a:r>
            <a:endParaRPr lang="en-US" sz="5000" dirty="0"/>
          </a:p>
        </p:txBody>
      </p:sp>
      <p:sp>
        <p:nvSpPr>
          <p:cNvPr id="11" name="Text 9"/>
          <p:cNvSpPr txBox="1"/>
          <p:nvPr/>
        </p:nvSpPr>
        <p:spPr>
          <a:xfrm>
            <a:off x="6438748" y="3636010"/>
            <a:ext cx="2167814" cy="632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GPIO yang dapat diprogram</a:t>
            </a:r>
            <a:endParaRPr lang="en-US" sz="1600" dirty="0"/>
          </a:p>
        </p:txBody>
      </p:sp>
      <p:sp>
        <p:nvSpPr>
          <p:cNvPr id="12" name="kartu"/>
          <p:cNvSpPr/>
          <p:nvPr/>
        </p:nvSpPr>
        <p:spPr>
          <a:xfrm>
            <a:off x="9109481" y="2127250"/>
            <a:ext cx="2533574" cy="2324608"/>
          </a:xfrm>
          <a:prstGeom prst="roundRect">
            <a:avLst>
              <a:gd name="adj" fmla="val 472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292361" y="2401570"/>
            <a:ext cx="216781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Wi-Fi + BT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9292361" y="3636010"/>
            <a:ext cx="2167814" cy="632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Wi-Fi 802.11 b/g/n dan Bluetooth 4.2</a:t>
            </a:r>
            <a:endParaRPr lang="en-US" sz="1600" dirty="0"/>
          </a:p>
        </p:txBody>
      </p:sp>
      <p:sp>
        <p:nvSpPr>
          <p:cNvPr id="15" name="daftar-poin"/>
          <p:cNvSpPr txBox="1"/>
          <p:nvPr/>
        </p:nvSpPr>
        <p:spPr>
          <a:xfrm>
            <a:off x="548640" y="4726178"/>
            <a:ext cx="11094415" cy="1446022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Sumber: </a:t>
            </a:r>
            <a:r>
              <a:rPr lang="en-US" sz="1800" i="1" dirty="0">
                <a:solidFill>
                  <a:schemeClr val="tx1"/>
                </a:solidFill>
              </a:rPr>
              <a:t>ESP32 Series Datasheet</a:t>
            </a:r>
            <a:r>
              <a:rPr lang="en-US" sz="1800" dirty="0">
                <a:solidFill>
                  <a:schemeClr val="tx1"/>
                </a:solidFill>
              </a:rPr>
              <a:t>, Espressif. Tegangan kerja pin: </a:t>
            </a:r>
            <a:r>
              <a:rPr lang="en-US" sz="1800" b="1" dirty="0">
                <a:solidFill>
                  <a:schemeClr val="tx1"/>
                </a:solidFill>
              </a:rPr>
              <a:t>3,3 V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Cip, Modul, dan Board</a:t>
            </a:r>
            <a:endParaRPr lang="en-US" sz="3000" dirty="0"/>
          </a:p>
        </p:txBody>
      </p:sp>
      <p:pic>
        <p:nvPicPr>
          <p:cNvPr id="3" name="gambar" descr="/home/claude/work/slides/img/p01/p01-cip-modul-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89952"/>
            <a:ext cx="11094415" cy="467245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Bagian-Bagian Board ESP32 DevKit V1</a:t>
            </a:r>
            <a:endParaRPr lang="en-US" sz="3000" dirty="0"/>
          </a:p>
        </p:txBody>
      </p:sp>
      <p:pic>
        <p:nvPicPr>
          <p:cNvPr id="3" name="gambar" descr="/home/claude/repo/pertemuan-01-pengenalan/gambar/p01-bagian-board-esp32-devkit-v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57874" y="1280160"/>
            <a:ext cx="6075947" cy="46177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97103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Gambar board: @wokwi/elements (MIT, © Uri Shaked)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03</a:t>
            </a:r>
            <a:endParaRPr lang="en-US" sz="60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29718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Alur Kerja dan Program Pertama</a:t>
            </a:r>
            <a:endParaRPr lang="en-US" sz="38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4297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6DA"/>
                </a:solidFill>
              </a:rPr>
              <a:t>Tulis kode → Build → Upload → amati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Alur Kerja Membuat Firmware</a:t>
            </a:r>
            <a:endParaRPr lang="en-US" sz="3000" dirty="0"/>
          </a:p>
        </p:txBody>
      </p:sp>
      <p:pic>
        <p:nvPicPr>
          <p:cNvPr id="3" name="gambar" descr="/home/claude/work/slides/img/p01/p01-alur-kerja-firmw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95734"/>
            <a:ext cx="11094415" cy="418657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75545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Ikon: Font Awesome Free (CC BY 4.0)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Struktur Program: setup() dan loop()</a:t>
            </a:r>
            <a:endParaRPr lang="en-US" sz="3000" dirty="0"/>
          </a:p>
        </p:txBody>
      </p:sp>
      <p:sp>
        <p:nvSpPr>
          <p:cNvPr id="3" name="blok-kode"/>
          <p:cNvSpPr/>
          <p:nvPr/>
        </p:nvSpPr>
        <p:spPr>
          <a:xfrm>
            <a:off x="548640" y="1325880"/>
            <a:ext cx="6656649" cy="4224528"/>
          </a:xfrm>
          <a:prstGeom prst="roundRect">
            <a:avLst>
              <a:gd name="adj" fmla="val 2165"/>
            </a:avLst>
          </a:prstGeom>
          <a:solidFill>
            <a:srgbClr val="10231A"/>
          </a:solidFill>
          <a:ln w="12700">
            <a:solidFill>
              <a:srgbClr val="10231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399032"/>
            <a:ext cx="61994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8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src/main.cpp</a:t>
            </a:r>
            <a:endParaRPr lang="en-US" sz="1100" dirty="0"/>
          </a:p>
        </p:txBody>
      </p:sp>
      <p:sp>
        <p:nvSpPr>
          <p:cNvPr id="5" name="kode"/>
          <p:cNvSpPr txBox="1"/>
          <p:nvPr/>
        </p:nvSpPr>
        <p:spPr>
          <a:xfrm>
            <a:off x="777240" y="1783080"/>
            <a:ext cx="6290889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D7A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&lt;Arduino.h&gt;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800" i="1" dirty="0">
                <a:solidFill>
                  <a:srgbClr val="86B5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dijalankan SEKALI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B9D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115200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F0A9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"Halo!"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800" i="1" dirty="0">
                <a:solidFill>
                  <a:srgbClr val="86B5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dijalankan BERULANG-ULANG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8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B9D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r>
              <a:rPr lang="en-US" sz="1800" i="1" dirty="0">
                <a:solidFill>
                  <a:srgbClr val="86B5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tunggu 1 detik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800" dirty="0"/>
          </a:p>
        </p:txBody>
      </p:sp>
      <p:sp>
        <p:nvSpPr>
          <p:cNvPr id="6" name="daftar-poin"/>
          <p:cNvSpPr txBox="1"/>
          <p:nvPr/>
        </p:nvSpPr>
        <p:spPr>
          <a:xfrm>
            <a:off x="7571049" y="1325880"/>
            <a:ext cx="4072006" cy="484632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setup()</a:t>
            </a:r>
            <a:r>
              <a:rPr lang="en-US" sz="1700" dirty="0">
                <a:solidFill>
                  <a:schemeClr val="tx1"/>
                </a:solidFill>
              </a:rPr>
              <a:t>: persiapan, </a:t>
            </a:r>
            <a:r>
              <a:rPr lang="en-US" sz="1700" b="1" dirty="0">
                <a:solidFill>
                  <a:schemeClr val="tx1"/>
                </a:solidFill>
              </a:rPr>
              <a:t>sekali</a:t>
            </a:r>
            <a:r>
              <a:rPr lang="en-US" sz="1700" dirty="0">
                <a:solidFill>
                  <a:schemeClr val="tx1"/>
                </a:solidFill>
              </a:rPr>
              <a:t> saat menyala/reset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loop()</a:t>
            </a:r>
            <a:r>
              <a:rPr lang="en-US" sz="1700" dirty="0">
                <a:solidFill>
                  <a:schemeClr val="tx1"/>
                </a:solidFill>
              </a:rPr>
              <a:t>: pekerjaan utama, </a:t>
            </a:r>
            <a:r>
              <a:rPr lang="en-US" sz="1700" b="1" dirty="0">
                <a:solidFill>
                  <a:schemeClr val="tx1"/>
                </a:solidFill>
              </a:rPr>
              <a:t>berulang</a:t>
            </a:r>
            <a:r>
              <a:rPr lang="en-US" sz="1700" dirty="0">
                <a:solidFill>
                  <a:schemeClr val="tx1"/>
                </a:solidFill>
              </a:rPr>
              <a:t> terus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Serial.begin(115200)</a:t>
            </a:r>
            <a:r>
              <a:rPr lang="en-US" sz="1700" dirty="0">
                <a:solidFill>
                  <a:schemeClr val="tx1"/>
                </a:solidFill>
              </a:rPr>
              <a:t>: buka komunikasi ke laptop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Setiap perintah diakhiri titik koma </a:t>
            </a: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Dua Jalur Praktikum, Kode Sama</a:t>
            </a:r>
            <a:endParaRPr lang="en-US" sz="3000" dirty="0"/>
          </a:p>
        </p:txBody>
      </p:sp>
      <p:sp>
        <p:nvSpPr>
          <p:cNvPr id="3" name="kartu"/>
          <p:cNvSpPr/>
          <p:nvPr/>
        </p:nvSpPr>
        <p:spPr>
          <a:xfrm>
            <a:off x="548640" y="2276856"/>
            <a:ext cx="5364328" cy="2670048"/>
          </a:xfrm>
          <a:prstGeom prst="roundRect">
            <a:avLst>
              <a:gd name="adj" fmla="val 4110"/>
            </a:avLst>
          </a:prstGeom>
          <a:solidFill>
            <a:srgbClr val="F3F5F4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pad"/>
          <p:cNvSpPr/>
          <p:nvPr/>
        </p:nvSpPr>
        <p:spPr>
          <a:xfrm>
            <a:off x="822960" y="2505456"/>
            <a:ext cx="566928" cy="56692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5" name="ikon-laptop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2647188"/>
            <a:ext cx="283464" cy="2834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2505456"/>
            <a:ext cx="4084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Jalur A — Wokwi</a:t>
            </a:r>
            <a:endParaRPr lang="en-US" sz="2200" dirty="0"/>
          </a:p>
        </p:txBody>
      </p:sp>
      <p:sp>
        <p:nvSpPr>
          <p:cNvPr id="7" name="daftar-poin"/>
          <p:cNvSpPr txBox="1"/>
          <p:nvPr/>
        </p:nvSpPr>
        <p:spPr>
          <a:xfrm>
            <a:off x="822960" y="3236976"/>
            <a:ext cx="4815688" cy="1572768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Buka </a:t>
            </a:r>
            <a:r>
              <a:rPr lang="en-US" sz="1800" b="1" dirty="0">
                <a:solidFill>
                  <a:schemeClr val="tx1"/>
                </a:solidFill>
              </a:rPr>
              <a:t>wokwi.com/projects/new/esp32</a:t>
            </a:r>
            <a:endParaRPr lang="en-US" sz="18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Tempel </a:t>
            </a:r>
            <a:r>
              <a:rPr lang="en-US" sz="18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main.cpp</a:t>
            </a:r>
            <a:r>
              <a:rPr lang="en-US" sz="1800" dirty="0">
                <a:solidFill>
                  <a:schemeClr val="tx1"/>
                </a:solidFill>
              </a:rPr>
              <a:t> ke </a:t>
            </a:r>
            <a:r>
              <a:rPr lang="en-US" sz="1800" b="1" dirty="0">
                <a:solidFill>
                  <a:schemeClr val="tx1"/>
                </a:solidFill>
              </a:rPr>
              <a:t>sketch.ino</a:t>
            </a:r>
            <a:endParaRPr lang="en-US" sz="18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Tempel </a:t>
            </a:r>
            <a:r>
              <a:rPr lang="en-US" sz="18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diagram.json</a:t>
            </a:r>
            <a:endParaRPr lang="en-US" sz="18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Klik </a:t>
            </a:r>
            <a:r>
              <a:rPr lang="en-US" sz="1800" b="1" dirty="0">
                <a:solidFill>
                  <a:schemeClr val="tx1"/>
                </a:solidFill>
              </a:rPr>
              <a:t>▶</a:t>
            </a:r>
            <a:endParaRPr lang="en-US" sz="1800" dirty="0"/>
          </a:p>
        </p:txBody>
      </p:sp>
      <p:sp>
        <p:nvSpPr>
          <p:cNvPr id="8" name="kartu"/>
          <p:cNvSpPr/>
          <p:nvPr/>
        </p:nvSpPr>
        <p:spPr>
          <a:xfrm>
            <a:off x="6278728" y="2276856"/>
            <a:ext cx="5364328" cy="2670048"/>
          </a:xfrm>
          <a:prstGeom prst="roundRect">
            <a:avLst>
              <a:gd name="adj" fmla="val 4110"/>
            </a:avLst>
          </a:prstGeom>
          <a:solidFill>
            <a:srgbClr val="EEF5F1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9" name="pad"/>
          <p:cNvSpPr/>
          <p:nvPr/>
        </p:nvSpPr>
        <p:spPr>
          <a:xfrm>
            <a:off x="6553048" y="2505456"/>
            <a:ext cx="566928" cy="56692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0" name="ikon-plu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4780" y="2647188"/>
            <a:ext cx="283464" cy="28346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284568" y="2505456"/>
            <a:ext cx="4084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Jalur B — Board Asli</a:t>
            </a:r>
            <a:endParaRPr lang="en-US" sz="2200" dirty="0"/>
          </a:p>
        </p:txBody>
      </p:sp>
      <p:sp>
        <p:nvSpPr>
          <p:cNvPr id="12" name="daftar-poin"/>
          <p:cNvSpPr txBox="1"/>
          <p:nvPr/>
        </p:nvSpPr>
        <p:spPr>
          <a:xfrm>
            <a:off x="6553048" y="3236976"/>
            <a:ext cx="4815688" cy="1572768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Colok board dengan kabel USB </a:t>
            </a:r>
            <a:r>
              <a:rPr lang="en-US" sz="1800" b="1" dirty="0">
                <a:solidFill>
                  <a:schemeClr val="tx1"/>
                </a:solidFill>
              </a:rPr>
              <a:t>data</a:t>
            </a:r>
            <a:endParaRPr lang="en-US" sz="18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VS Code → </a:t>
            </a:r>
            <a:r>
              <a:rPr lang="en-US" sz="1800" b="1" dirty="0">
                <a:solidFill>
                  <a:schemeClr val="tx1"/>
                </a:solidFill>
              </a:rPr>
              <a:t>Open Folder</a:t>
            </a:r>
            <a:r>
              <a:rPr lang="en-US" sz="1800" dirty="0">
                <a:solidFill>
                  <a:schemeClr val="tx1"/>
                </a:solidFill>
              </a:rPr>
              <a:t> proyek</a:t>
            </a:r>
            <a:endParaRPr lang="en-US" sz="18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Klik </a:t>
            </a:r>
            <a:r>
              <a:rPr lang="en-US" sz="1800" b="1" dirty="0">
                <a:solidFill>
                  <a:schemeClr val="tx1"/>
                </a:solidFill>
              </a:rPr>
              <a:t>Build</a:t>
            </a:r>
            <a:r>
              <a:rPr lang="en-US" sz="1800" dirty="0">
                <a:solidFill>
                  <a:schemeClr val="tx1"/>
                </a:solidFill>
              </a:rPr>
              <a:t> ✓ lalu </a:t>
            </a:r>
            <a:r>
              <a:rPr lang="en-US" sz="1800" b="1" dirty="0">
                <a:solidFill>
                  <a:schemeClr val="tx1"/>
                </a:solidFill>
              </a:rPr>
              <a:t>Upload</a:t>
            </a:r>
            <a:r>
              <a:rPr lang="en-US" sz="1800" dirty="0">
                <a:solidFill>
                  <a:schemeClr val="tx1"/>
                </a:solidFill>
              </a:rPr>
              <a:t> →</a:t>
            </a:r>
            <a:endParaRPr lang="en-US" sz="18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Buka </a:t>
            </a:r>
            <a:r>
              <a:rPr lang="en-US" sz="1800" b="1" dirty="0">
                <a:solidFill>
                  <a:schemeClr val="tx1"/>
                </a:solidFill>
              </a:rPr>
              <a:t>Serial Monitor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Letak Tombol VS Code + PlatformIO</a:t>
            </a:r>
            <a:endParaRPr lang="en-US" sz="3000" dirty="0"/>
          </a:p>
        </p:txBody>
      </p:sp>
      <p:pic>
        <p:nvPicPr>
          <p:cNvPr id="3" name="gambar" descr="/home/claude/repo/panduan/gambar/vscode-platformio-tampil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3125" y="1280160"/>
            <a:ext cx="8945445" cy="4892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Praktikum 2: LED Berkedip</a:t>
            </a:r>
            <a:endParaRPr lang="en-US" sz="3000" dirty="0"/>
          </a:p>
        </p:txBody>
      </p:sp>
      <p:sp>
        <p:nvSpPr>
          <p:cNvPr id="3" name="blok-kode"/>
          <p:cNvSpPr/>
          <p:nvPr/>
        </p:nvSpPr>
        <p:spPr>
          <a:xfrm>
            <a:off x="548640" y="1325880"/>
            <a:ext cx="6656649" cy="4510278"/>
          </a:xfrm>
          <a:prstGeom prst="roundRect">
            <a:avLst>
              <a:gd name="adj" fmla="val 2027"/>
            </a:avLst>
          </a:prstGeom>
          <a:solidFill>
            <a:srgbClr val="10231A"/>
          </a:solidFill>
          <a:ln w="12700">
            <a:solidFill>
              <a:srgbClr val="10231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399032"/>
            <a:ext cx="61994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8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kode/02-led-berkedip/src/main.cpp</a:t>
            </a:r>
            <a:endParaRPr lang="en-US" sz="1100" dirty="0"/>
          </a:p>
        </p:txBody>
      </p:sp>
      <p:sp>
        <p:nvSpPr>
          <p:cNvPr id="5" name="kode"/>
          <p:cNvSpPr txBox="1"/>
          <p:nvPr/>
        </p:nvSpPr>
        <p:spPr>
          <a:xfrm>
            <a:off x="777240" y="1783080"/>
            <a:ext cx="6290889" cy="394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D7A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7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PIN_LED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B9D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r>
              <a:rPr lang="en-US" sz="1800" i="1" dirty="0">
                <a:solidFill>
                  <a:srgbClr val="86B5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LED bawaan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D7A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7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JEDA_MS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B9D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8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pinMode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7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PIN_LED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7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8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7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PIN_LED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7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800" i="1" dirty="0">
                <a:solidFill>
                  <a:srgbClr val="86B5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3,3 V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8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7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JEDA_MS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8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7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PIN_LED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7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r>
              <a:rPr lang="en-US" sz="1800" i="1" dirty="0">
                <a:solidFill>
                  <a:srgbClr val="86B5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 V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8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7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JEDA_MS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800" dirty="0"/>
          </a:p>
        </p:txBody>
      </p:sp>
      <p:sp>
        <p:nvSpPr>
          <p:cNvPr id="6" name="daftar-poin"/>
          <p:cNvSpPr txBox="1"/>
          <p:nvPr/>
        </p:nvSpPr>
        <p:spPr>
          <a:xfrm>
            <a:off x="7571049" y="1325880"/>
            <a:ext cx="4072006" cy="484632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pinMode(pin, OUTPUT)</a:t>
            </a:r>
            <a:r>
              <a:rPr lang="en-US" sz="1700" dirty="0">
                <a:solidFill>
                  <a:schemeClr val="tx1"/>
                </a:solidFill>
              </a:rPr>
              <a:t>: jadikan pin keluaran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digitalWrite(pin, HIGH)</a:t>
            </a:r>
            <a:r>
              <a:rPr lang="en-US" sz="1700" dirty="0">
                <a:solidFill>
                  <a:schemeClr val="tx1"/>
                </a:solidFill>
              </a:rPr>
              <a:t>: pin = 3,3 V → LED nyala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digitalWrite(pin, LOW)</a:t>
            </a:r>
            <a:r>
              <a:rPr lang="en-US" sz="1700" dirty="0">
                <a:solidFill>
                  <a:schemeClr val="tx1"/>
                </a:solidFill>
              </a:rPr>
              <a:t>: pin = 0 V → LED padam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Ubah </a:t>
            </a: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JEDA_MS</a:t>
            </a:r>
            <a:r>
              <a:rPr lang="en-US" sz="1700" dirty="0">
                <a:solidFill>
                  <a:schemeClr val="tx1"/>
                </a:solidFill>
              </a:rPr>
              <a:t> dan amati perbedaannya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Kalau Belum Berhasil</a:t>
            </a:r>
            <a:endParaRPr lang="en-US" sz="3000" dirty="0"/>
          </a:p>
        </p:txBody>
      </p:sp>
      <p:graphicFrame>
        <p:nvGraphicFramePr>
          <p:cNvPr id="21" name="tabe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657600"/>
                <a:gridCol w="4297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Gejala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Penyebab umum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Solusi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Karakter aneh ⸮⸮⸮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Baud rate berbeda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Samakan 115200 di kode &amp; platformio.ini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Serial Monitor kosong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Pesan terkirim sebelum monitor dibuka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Tekan tombol EN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Failed to connect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ESP32 tidak masuk mode unduh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Tahan BOOT saat "Connecting..."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Port tidak terdeteksi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Kabel charger / driver belum ada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Ganti kabel data, pasang driver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expected ';'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Lupa titik koma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Periksa baris yang ditunjuk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Kuis Cepat</a:t>
            </a:r>
            <a:endParaRPr lang="en-US" sz="3000" dirty="0"/>
          </a:p>
        </p:txBody>
      </p:sp>
      <p:sp>
        <p:nvSpPr>
          <p:cNvPr id="3" name="pad"/>
          <p:cNvSpPr/>
          <p:nvPr/>
        </p:nvSpPr>
        <p:spPr>
          <a:xfrm>
            <a:off x="548640" y="1371600"/>
            <a:ext cx="685800" cy="6858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4" name="ikon-questi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90" y="1543050"/>
            <a:ext cx="342900" cy="3429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63040" y="1325880"/>
            <a:ext cx="101800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Fungsi </a:t>
            </a:r>
            <a:r>
              <a:rPr lang="en-US" sz="2200" b="1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setup()</a:t>
            </a:r>
            <a:r>
              <a:rPr lang="en-US" sz="2200" b="1" dirty="0">
                <a:solidFill>
                  <a:schemeClr val="tx1"/>
                </a:solidFill>
              </a:rPr>
              <a:t> dijalankan …</a:t>
            </a:r>
            <a:endParaRPr lang="en-US" sz="2200" dirty="0"/>
          </a:p>
        </p:txBody>
      </p:sp>
      <p:sp>
        <p:nvSpPr>
          <p:cNvPr id="6" name="kartu"/>
          <p:cNvSpPr/>
          <p:nvPr/>
        </p:nvSpPr>
        <p:spPr>
          <a:xfrm>
            <a:off x="548640" y="2514600"/>
            <a:ext cx="5410048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2514600"/>
            <a:ext cx="548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A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325880" y="2514600"/>
            <a:ext cx="44499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Terus-menerus selama board menyala</a:t>
            </a:r>
            <a:endParaRPr lang="en-US" sz="1800" dirty="0"/>
          </a:p>
        </p:txBody>
      </p:sp>
      <p:sp>
        <p:nvSpPr>
          <p:cNvPr id="9" name="kartu"/>
          <p:cNvSpPr/>
          <p:nvPr/>
        </p:nvSpPr>
        <p:spPr>
          <a:xfrm>
            <a:off x="6233008" y="2514600"/>
            <a:ext cx="5410048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15888" y="2514600"/>
            <a:ext cx="548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B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7010248" y="2514600"/>
            <a:ext cx="44499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Sekali saat board menyala atau di-reset</a:t>
            </a:r>
            <a:endParaRPr lang="en-US" sz="1800" dirty="0"/>
          </a:p>
        </p:txBody>
      </p:sp>
      <p:sp>
        <p:nvSpPr>
          <p:cNvPr id="12" name="kartu"/>
          <p:cNvSpPr/>
          <p:nvPr/>
        </p:nvSpPr>
        <p:spPr>
          <a:xfrm>
            <a:off x="548640" y="3931920"/>
            <a:ext cx="5410048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" y="3931920"/>
            <a:ext cx="548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C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1325880" y="3931920"/>
            <a:ext cx="44499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Hanya saat tombol BOOT ditekan</a:t>
            </a:r>
            <a:endParaRPr lang="en-US" sz="1800" dirty="0"/>
          </a:p>
        </p:txBody>
      </p:sp>
      <p:sp>
        <p:nvSpPr>
          <p:cNvPr id="15" name="kartu"/>
          <p:cNvSpPr/>
          <p:nvPr/>
        </p:nvSpPr>
        <p:spPr>
          <a:xfrm>
            <a:off x="6233008" y="3931920"/>
            <a:ext cx="5410048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15888" y="3931920"/>
            <a:ext cx="548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D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7010248" y="3931920"/>
            <a:ext cx="44499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Setiap 1 detik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Rangkuman</a:t>
            </a:r>
            <a:endParaRPr lang="en-US" sz="3200" dirty="0"/>
          </a:p>
        </p:txBody>
      </p:sp>
      <p:sp>
        <p:nvSpPr>
          <p:cNvPr id="3" name="pad"/>
          <p:cNvSpPr/>
          <p:nvPr/>
        </p:nvSpPr>
        <p:spPr>
          <a:xfrm>
            <a:off x="548640" y="1645920"/>
            <a:ext cx="457200" cy="457200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4" name="ikon-check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764792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41732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Sistem tertanam = komputer kecil di dalam produk untuk tugas khusus</a:t>
            </a:r>
            <a:endParaRPr lang="en-US" sz="2000" dirty="0"/>
          </a:p>
        </p:txBody>
      </p:sp>
      <p:sp>
        <p:nvSpPr>
          <p:cNvPr id="6" name="pad"/>
          <p:cNvSpPr/>
          <p:nvPr/>
        </p:nvSpPr>
        <p:spPr>
          <a:xfrm>
            <a:off x="548640" y="2560320"/>
            <a:ext cx="457200" cy="457200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7" name="ikon-chec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2679192"/>
            <a:ext cx="219456" cy="21945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80160" y="233172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Pola dasar: </a:t>
            </a:r>
            <a:r>
              <a:rPr lang="en-US" sz="2000" b="1" dirty="0">
                <a:solidFill>
                  <a:schemeClr val="bg1"/>
                </a:solidFill>
              </a:rPr>
              <a:t>input</a:t>
            </a:r>
            <a:r>
              <a:rPr lang="en-US" sz="2000" dirty="0">
                <a:solidFill>
                  <a:schemeClr val="bg1"/>
                </a:solidFill>
              </a:rPr>
              <a:t> (sensor) → </a:t>
            </a:r>
            <a:r>
              <a:rPr lang="en-US" sz="2000" b="1" dirty="0">
                <a:solidFill>
                  <a:schemeClr val="bg1"/>
                </a:solidFill>
              </a:rPr>
              <a:t>proses</a:t>
            </a:r>
            <a:r>
              <a:rPr lang="en-US" sz="2000" dirty="0">
                <a:solidFill>
                  <a:schemeClr val="bg1"/>
                </a:solidFill>
              </a:rPr>
              <a:t> (mikrokontroler) → </a:t>
            </a:r>
            <a:r>
              <a:rPr lang="en-US" sz="2000" b="1" dirty="0">
                <a:solidFill>
                  <a:schemeClr val="bg1"/>
                </a:solidFill>
              </a:rPr>
              <a:t>output</a:t>
            </a:r>
            <a:r>
              <a:rPr lang="en-US" sz="2000" dirty="0">
                <a:solidFill>
                  <a:schemeClr val="bg1"/>
                </a:solidFill>
              </a:rPr>
              <a:t> (aktuator)</a:t>
            </a:r>
            <a:endParaRPr lang="en-US" sz="2000" dirty="0"/>
          </a:p>
        </p:txBody>
      </p:sp>
      <p:sp>
        <p:nvSpPr>
          <p:cNvPr id="9" name="pad"/>
          <p:cNvSpPr/>
          <p:nvPr/>
        </p:nvSpPr>
        <p:spPr>
          <a:xfrm>
            <a:off x="548640" y="3474720"/>
            <a:ext cx="457200" cy="457200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0" name="ikon-check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3593592"/>
            <a:ext cx="219456" cy="21945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80160" y="324612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ESP32: 2 inti 240 MHz, 520 KB SRAM, Wi-Fi + Bluetooth, logika 3,3 V</a:t>
            </a:r>
            <a:endParaRPr lang="en-US" sz="2000" dirty="0"/>
          </a:p>
        </p:txBody>
      </p:sp>
      <p:sp>
        <p:nvSpPr>
          <p:cNvPr id="12" name="pad"/>
          <p:cNvSpPr/>
          <p:nvPr/>
        </p:nvSpPr>
        <p:spPr>
          <a:xfrm>
            <a:off x="548640" y="4389120"/>
            <a:ext cx="457200" cy="457200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3" name="ikon-check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4507992"/>
            <a:ext cx="219456" cy="219456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280160" y="416052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Alur kerja: tulis kode → Build → Upload → amati di Serial Monitor</a:t>
            </a:r>
            <a:endParaRPr lang="en-US" sz="2000" dirty="0"/>
          </a:p>
        </p:txBody>
      </p:sp>
      <p:sp>
        <p:nvSpPr>
          <p:cNvPr id="15" name="pad"/>
          <p:cNvSpPr/>
          <p:nvPr/>
        </p:nvSpPr>
        <p:spPr>
          <a:xfrm>
            <a:off x="548640" y="5303520"/>
            <a:ext cx="457200" cy="457200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6" name="ikon-check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" y="5422392"/>
            <a:ext cx="219456" cy="219456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280160" y="507492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2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setup()</a:t>
            </a:r>
            <a:r>
              <a:rPr lang="en-US" sz="2000" dirty="0">
                <a:solidFill>
                  <a:schemeClr val="bg1"/>
                </a:solidFill>
              </a:rPr>
              <a:t> sekali, </a:t>
            </a:r>
            <a:r>
              <a:rPr lang="en-US" sz="2000" dirty="0">
                <a:solidFill>
                  <a:srgbClr val="F2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loop()</a:t>
            </a:r>
            <a:r>
              <a:rPr lang="en-US" sz="2000" dirty="0">
                <a:solidFill>
                  <a:schemeClr val="bg1"/>
                </a:solidFill>
              </a:rPr>
              <a:t> berulang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F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Sebelum Pertemuan 2</a:t>
            </a:r>
            <a:endParaRPr lang="en-US" sz="3200" dirty="0"/>
          </a:p>
        </p:txBody>
      </p:sp>
      <p:sp>
        <p:nvSpPr>
          <p:cNvPr id="3" name="kartu"/>
          <p:cNvSpPr/>
          <p:nvPr/>
        </p:nvSpPr>
        <p:spPr>
          <a:xfrm>
            <a:off x="548640" y="1508760"/>
            <a:ext cx="3484778" cy="4389120"/>
          </a:xfrm>
          <a:prstGeom prst="roundRect">
            <a:avLst>
              <a:gd name="adj" fmla="val 3149"/>
            </a:avLst>
          </a:prstGeom>
          <a:solidFill>
            <a:srgbClr val="17503B"/>
          </a:solidFill>
          <a:ln w="12700">
            <a:solidFill>
              <a:srgbClr val="17503B"/>
            </a:solidFill>
            <a:prstDash val="solid"/>
          </a:ln>
        </p:spPr>
      </p:sp>
      <p:sp>
        <p:nvSpPr>
          <p:cNvPr id="4" name="pad"/>
          <p:cNvSpPr/>
          <p:nvPr/>
        </p:nvSpPr>
        <p:spPr>
          <a:xfrm>
            <a:off x="822960" y="1783080"/>
            <a:ext cx="640080" cy="64008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5" name="ikon-task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94310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560320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Tugas</a:t>
            </a:r>
            <a:endParaRPr lang="en-US" sz="2100" dirty="0"/>
          </a:p>
        </p:txBody>
      </p:sp>
      <p:sp>
        <p:nvSpPr>
          <p:cNvPr id="7" name="daftar-poin"/>
          <p:cNvSpPr txBox="1"/>
          <p:nvPr/>
        </p:nvSpPr>
        <p:spPr>
          <a:xfrm>
            <a:off x="822960" y="3063240"/>
            <a:ext cx="2936138" cy="26517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Kerjakan latihan detak jantung dan SOS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Isi tabel input–proses–output untuk 3 alat di rumah</a:t>
            </a:r>
            <a:endParaRPr lang="en-US" sz="1600" dirty="0"/>
          </a:p>
        </p:txBody>
      </p:sp>
      <p:sp>
        <p:nvSpPr>
          <p:cNvPr id="8" name="kartu"/>
          <p:cNvSpPr/>
          <p:nvPr/>
        </p:nvSpPr>
        <p:spPr>
          <a:xfrm>
            <a:off x="4353458" y="1508760"/>
            <a:ext cx="3484778" cy="4389120"/>
          </a:xfrm>
          <a:prstGeom prst="roundRect">
            <a:avLst>
              <a:gd name="adj" fmla="val 3149"/>
            </a:avLst>
          </a:prstGeom>
          <a:solidFill>
            <a:srgbClr val="17503B"/>
          </a:solidFill>
          <a:ln w="12700">
            <a:solidFill>
              <a:srgbClr val="17503B"/>
            </a:solidFill>
            <a:prstDash val="solid"/>
          </a:ln>
        </p:spPr>
      </p:sp>
      <p:sp>
        <p:nvSpPr>
          <p:cNvPr id="9" name="pad"/>
          <p:cNvSpPr/>
          <p:nvPr/>
        </p:nvSpPr>
        <p:spPr>
          <a:xfrm>
            <a:off x="4627778" y="1783080"/>
            <a:ext cx="640080" cy="64008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0" name="ikon-boo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7798" y="194310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27778" y="2560320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Persiapan</a:t>
            </a:r>
            <a:endParaRPr lang="en-US" sz="2100" dirty="0"/>
          </a:p>
        </p:txBody>
      </p:sp>
      <p:sp>
        <p:nvSpPr>
          <p:cNvPr id="12" name="daftar-poin"/>
          <p:cNvSpPr txBox="1"/>
          <p:nvPr/>
        </p:nvSpPr>
        <p:spPr>
          <a:xfrm>
            <a:off x="4627778" y="3063240"/>
            <a:ext cx="2936138" cy="26517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Pastikan instalasi PlatformIO tuntas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Baca modul Pertemuan 2: Dasar C/C++</a:t>
            </a:r>
            <a:endParaRPr lang="en-US" sz="1600" dirty="0"/>
          </a:p>
        </p:txBody>
      </p:sp>
      <p:sp>
        <p:nvSpPr>
          <p:cNvPr id="13" name="kartu"/>
          <p:cNvSpPr/>
          <p:nvPr/>
        </p:nvSpPr>
        <p:spPr>
          <a:xfrm>
            <a:off x="8158277" y="1508760"/>
            <a:ext cx="3484778" cy="4389120"/>
          </a:xfrm>
          <a:prstGeom prst="roundRect">
            <a:avLst>
              <a:gd name="adj" fmla="val 3149"/>
            </a:avLst>
          </a:prstGeom>
          <a:solidFill>
            <a:srgbClr val="17503B"/>
          </a:solidFill>
          <a:ln w="12700">
            <a:solidFill>
              <a:srgbClr val="17503B"/>
            </a:solidFill>
            <a:prstDash val="solid"/>
          </a:ln>
        </p:spPr>
      </p:sp>
      <p:sp>
        <p:nvSpPr>
          <p:cNvPr id="14" name="pad"/>
          <p:cNvSpPr/>
          <p:nvPr/>
        </p:nvSpPr>
        <p:spPr>
          <a:xfrm>
            <a:off x="8432597" y="1783080"/>
            <a:ext cx="640080" cy="64008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5" name="ikon-comments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2617" y="194310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32597" y="2560320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Butuh Bantuan?</a:t>
            </a:r>
            <a:endParaRPr lang="en-US" sz="2100" dirty="0"/>
          </a:p>
        </p:txBody>
      </p:sp>
      <p:sp>
        <p:nvSpPr>
          <p:cNvPr id="17" name="daftar-poin"/>
          <p:cNvSpPr txBox="1"/>
          <p:nvPr/>
        </p:nvSpPr>
        <p:spPr>
          <a:xfrm>
            <a:off x="8432597" y="3063240"/>
            <a:ext cx="2936138" cy="26517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Baca panduan/06-mengatasi-masalah.md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Tanyakan di forum kelas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F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stem Tertanam PCB">
  <a:themeElements>
    <a:clrScheme name="Sistem Tertanam PCB">
      <a:dk1>
        <a:srgbClr val="13261D"/>
      </a:dk1>
      <a:lt1>
        <a:srgbClr val="FFFFFF"/>
      </a:lt1>
      <a:dk2>
        <a:srgbClr val="0F3D2C"/>
      </a:dk2>
      <a:lt2>
        <a:srgbClr val="EEF5F1"/>
      </a:lt2>
      <a:accent1>
        <a:srgbClr val="1F6F50"/>
      </a:accent1>
      <a:accent2>
        <a:srgbClr val="C27C2C"/>
      </a:accent2>
      <a:accent3>
        <a:srgbClr val="1F6FD1"/>
      </a:accent3>
      <a:accent4>
        <a:srgbClr val="C0392B"/>
      </a:accent4>
      <a:accent5>
        <a:srgbClr val="5F6F67"/>
      </a:accent5>
      <a:accent6>
        <a:srgbClr val="D9A441"/>
      </a:accent6>
      <a:hlink>
        <a:srgbClr val="1F6FD1"/>
      </a:hlink>
      <a:folHlink>
        <a:srgbClr val="7B3FBF"/>
      </a:folHlink>
    </a:clrScheme>
    <a:fontScheme name="Sistem Tertanam PCB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Sistem Tertanam (Embedded Systems)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Pertemuan 1: Mengenal Sistem Tertanam, ESP32, dan Alat Kerja</dc:title>
  <dc:subject>Sistem Tertanam — Pertemuan 1</dc:subject>
  <dc:creator>Anton Prafanto</dc:creator>
  <cp:lastModifiedBy>Anton Prafanto</cp:lastModifiedBy>
  <cp:revision>1</cp:revision>
  <dcterms:created xsi:type="dcterms:W3CDTF">2026-10-16T01:23:22Z</dcterms:created>
  <dcterms:modified xsi:type="dcterms:W3CDTF">2026-10-16T01:23:22Z</dcterms:modified>
</cp:coreProperties>
</file>